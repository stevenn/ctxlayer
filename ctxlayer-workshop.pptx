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ctxlayer workshop. This presentation covers the main concepts of ctxlayer and how to use it as a practitioner or admin on the yukitools.dev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 has to configure MCP servers locally — claude_desktop_config.json, .mcp.json, managed-mcp.json. Credentials live in local files. No shared knowledge. No visibility into tool usage. Onboarding = 'copy my config and change the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pain points compound at scale. Token rotation becomes a fire drill. New services are adopted unevenly. The agent has no memory of your org's conventions.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instead of N users × M services connections, everyone connects to ctxlayer once. ctxlayer fans out to all upstream MCP servers, provides the shared doc library, and serves curated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pillars work together: docs give the agent background knowledge, upstreams give it tools, skills tell it how to use those tools, and governance gives admins control and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Context Docs — what the agent knows about your 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 come in two ways: authored in the collaborative editor (like Notion) or synced from git repos. Both end up in the same searchable library. Git sync supports GitHub, GitLab, and Azure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RAG pipeline: docs are chunked and embedded into Vectorize. When the agent calls search_docs, the query is embedded, matched against chunks, reranked by a cross-encoder, and snippets with matched spans are returned. The agent can then read the full doc.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IA philosophy is 'spread context, gate execution': docs are readable by everyone in the org. Tags (team, product, free-form) shape what search returns by default, but they don't gate read access. The gated surface is the upstream proxy (tools), not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Upstreams — the tool proxy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yukitools deployment: 4 upstream MCP servers providing 81 tools total. ADO and Driver each have 2 attached skills (procedural playbooks). All accessible through one MCP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prefix (up-ado__, up-notion__) tells the agent which upstream a tool belongs to. The agent discovers tools via list_upstreams → describe_upstream. You never need to remember the mangled names — the agent handles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practitioner onboarding: go to /app/upstreams, click Connect for each service. OAuth handles the flow; Driver uses a pasted token. After that, every Claude session — on any machine — has access. No local config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calls up-ado__wit_query → ctxlayer decrypts the user's sealed credentials → proxies the native wit_query call to ADO → ADO returns the result → ctxlayer logs usage (tool, tokens, latency) → returns the result to the agent. The agent never sees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Skills — curated procedural playbooks.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bridge the gap between what a tool CAN do (the API schema) and how your org WANTS it done (conventions, team IDs, preferred tools, order of operations). Without skills, the agent guesses; with skills, it follows your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4 curated skills currently published on yukitools.dev. Two are attached to ADO (bug hunting and build triage), two to Driver (planning and research). They're Markdown playbooks that the agent reads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agent's discovery protocol: list_upstreams shows attached skills, the agent reads the relevant one, then follows the recipe. Skills are advisory, not enforced — but the MCP server instructions (sent at session start) nudge the agent to check for attached skills before calling upstream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 are reference material that the agent searches semantically. Skills are procedural recipes attached to upstreams or specific tools. Docs are written by anyone; skills are curated by admins. Both are Markdown, but they serve different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slide: on every dimension, ctxlayer centralises what was previously fragmented. Credentials, knowledge, conventions, governance, visibility — all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message for practitioners: connect once, then every Claude session on every machine has full access to all tools, all docs, all skills. No local config files, no token rotation, no 'which MCP server was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getting-started steps for both roles. Practitioners: 4 steps, takes 5 minutes. Admins: 5 steps for the initial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and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1097280"/>
            <a:ext cx="7680960" cy="1097280"/>
          </a:xfrm>
          <a:prstGeom prst="rect">
            <a:avLst/>
          </a:prstGeom>
          <a:noFill/>
          <a:ln/>
        </p:spPr>
        <p:txBody>
          <a:bodyPr wrap="square" lIns="0" tIns="0" rIns="0" bIns="0" rtlCol="0" anchor="ctr"/>
          <a:lstStyle/>
          <a:p>
            <a:pPr indent="0" marL="0">
              <a:buNone/>
            </a:pPr>
            <a:r>
              <a:rPr lang="en-US" sz="5600" b="1" dirty="0">
                <a:solidFill>
                  <a:srgbClr val="F8FAFC"/>
                </a:solidFill>
                <a:latin typeface="Calibri" pitchFamily="34" charset="0"/>
                <a:ea typeface="Calibri" pitchFamily="34" charset="-122"/>
                <a:cs typeface="Calibri" pitchFamily="34" charset="-120"/>
              </a:rPr>
              <a:t>ctxlayer</a:t>
            </a:r>
            <a:endParaRPr lang="en-US" sz="5600" dirty="0"/>
          </a:p>
        </p:txBody>
      </p:sp>
      <p:sp>
        <p:nvSpPr>
          <p:cNvPr id="3" name="Text 1"/>
          <p:cNvSpPr/>
          <p:nvPr/>
        </p:nvSpPr>
        <p:spPr>
          <a:xfrm>
            <a:off x="731520" y="2103120"/>
            <a:ext cx="7680960" cy="548640"/>
          </a:xfrm>
          <a:prstGeom prst="rect">
            <a:avLst/>
          </a:prstGeom>
          <a:noFill/>
          <a:ln/>
        </p:spPr>
        <p:txBody>
          <a:bodyPr wrap="square" lIns="0" tIns="0" rIns="0" bIns="0" rtlCol="0" anchor="ctr"/>
          <a:lstStyle/>
          <a:p>
            <a:pPr indent="0" marL="0">
              <a:buNone/>
            </a:pPr>
            <a:r>
              <a:rPr lang="en-US" sz="2400" dirty="0">
                <a:solidFill>
                  <a:srgbClr val="F97316"/>
                </a:solidFill>
                <a:latin typeface="Calibri" pitchFamily="34" charset="0"/>
                <a:ea typeface="Calibri" pitchFamily="34" charset="-122"/>
                <a:cs typeface="Calibri" pitchFamily="34" charset="-120"/>
              </a:rPr>
              <a:t>Your team's shared context layer</a:t>
            </a:r>
            <a:endParaRPr lang="en-US" sz="2400" dirty="0"/>
          </a:p>
        </p:txBody>
      </p:sp>
      <p:sp>
        <p:nvSpPr>
          <p:cNvPr id="4" name="Text 2"/>
          <p:cNvSpPr/>
          <p:nvPr/>
        </p:nvSpPr>
        <p:spPr>
          <a:xfrm>
            <a:off x="731520" y="2926080"/>
            <a:ext cx="7680960" cy="45720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yukitools.dev  ·  Workshop</a:t>
            </a:r>
            <a:endParaRPr lang="en-US" sz="1600" dirty="0"/>
          </a:p>
        </p:txBody>
      </p:sp>
      <p:pic>
        <p:nvPicPr>
          <p:cNvPr id="5" name="Image 0" descr="preencoded.png">    </p:cNvPr>
          <p:cNvPicPr>
            <a:picLocks noChangeAspect="1"/>
          </p:cNvPicPr>
          <p:nvPr/>
        </p:nvPicPr>
        <p:blipFill>
          <a:blip r:embed="rId1"/>
          <a:stretch>
            <a:fillRect/>
          </a:stretch>
        </p:blipFill>
        <p:spPr>
          <a:xfrm>
            <a:off x="5943600" y="3840480"/>
            <a:ext cx="457200" cy="457200"/>
          </a:xfrm>
          <a:prstGeom prst="rect">
            <a:avLst/>
          </a:prstGeom>
        </p:spPr>
      </p:pic>
      <p:pic>
        <p:nvPicPr>
          <p:cNvPr id="6" name="Image 1" descr="preencoded.png">    </p:cNvPr>
          <p:cNvPicPr>
            <a:picLocks noChangeAspect="1"/>
          </p:cNvPicPr>
          <p:nvPr/>
        </p:nvPicPr>
        <p:blipFill>
          <a:blip r:embed="rId2"/>
          <a:stretch>
            <a:fillRect/>
          </a:stretch>
        </p:blipFill>
        <p:spPr>
          <a:xfrm>
            <a:off x="6583680" y="3840480"/>
            <a:ext cx="457200" cy="457200"/>
          </a:xfrm>
          <a:prstGeom prst="rect">
            <a:avLst/>
          </a:prstGeom>
        </p:spPr>
      </p:pic>
      <p:pic>
        <p:nvPicPr>
          <p:cNvPr id="7" name="Image 2" descr="preencoded.png">    </p:cNvPr>
          <p:cNvPicPr>
            <a:picLocks noChangeAspect="1"/>
          </p:cNvPicPr>
          <p:nvPr/>
        </p:nvPicPr>
        <p:blipFill>
          <a:blip r:embed="rId3"/>
          <a:stretch>
            <a:fillRect/>
          </a:stretch>
        </p:blipFill>
        <p:spPr>
          <a:xfrm>
            <a:off x="7223760" y="3840480"/>
            <a:ext cx="457200" cy="457200"/>
          </a:xfrm>
          <a:prstGeom prst="rect">
            <a:avLst/>
          </a:prstGeom>
        </p:spPr>
      </p:pic>
      <p:pic>
        <p:nvPicPr>
          <p:cNvPr id="8" name="Image 3" descr="preencoded.png">    </p:cNvPr>
          <p:cNvPicPr>
            <a:picLocks noChangeAspect="1"/>
          </p:cNvPicPr>
          <p:nvPr/>
        </p:nvPicPr>
        <p:blipFill>
          <a:blip r:embed="rId4"/>
          <a:stretch>
            <a:fillRect/>
          </a:stretch>
        </p:blipFill>
        <p:spPr>
          <a:xfrm>
            <a:off x="7863840" y="384048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The MCP landscape today</a:t>
            </a:r>
            <a:endParaRPr lang="en-US" sz="3600" dirty="0"/>
          </a:p>
        </p:txBody>
      </p:sp>
      <p:sp>
        <p:nvSpPr>
          <p:cNvPr id="3" name="Text 1"/>
          <p:cNvSpPr/>
          <p:nvPr/>
        </p:nvSpPr>
        <p:spPr>
          <a:xfrm>
            <a:off x="731520" y="868680"/>
            <a:ext cx="7680960" cy="365760"/>
          </a:xfrm>
          <a:prstGeom prst="rect">
            <a:avLst/>
          </a:prstGeom>
          <a:noFill/>
          <a:ln/>
        </p:spPr>
        <p:txBody>
          <a:bodyPr wrap="square" lIns="0" tIns="0" rIns="0" bIns="0" rtlCol="0" anchor="ctr"/>
          <a:lstStyle/>
          <a:p>
            <a:pPr indent="0" marL="0">
              <a:buNone/>
            </a:pPr>
            <a:r>
              <a:rPr lang="en-US" sz="1600" dirty="0">
                <a:solidFill>
                  <a:srgbClr val="F97316"/>
                </a:solidFill>
                <a:latin typeface="Calibri" pitchFamily="34" charset="0"/>
                <a:ea typeface="Calibri" pitchFamily="34" charset="-122"/>
                <a:cs typeface="Calibri" pitchFamily="34" charset="-120"/>
              </a:rPr>
              <a:t>Every developer manages their own connections</a:t>
            </a:r>
            <a:endParaRPr lang="en-US" sz="1600" dirty="0"/>
          </a:p>
        </p:txBody>
      </p:sp>
      <p:sp>
        <p:nvSpPr>
          <p:cNvPr id="4" name="Shape 2"/>
          <p:cNvSpPr/>
          <p:nvPr/>
        </p:nvSpPr>
        <p:spPr>
          <a:xfrm>
            <a:off x="914400" y="1554480"/>
            <a:ext cx="1371600" cy="502920"/>
          </a:xfrm>
          <a:prstGeom prst="roundRect">
            <a:avLst>
              <a:gd name="adj" fmla="val 14545"/>
            </a:avLst>
          </a:prstGeom>
          <a:solidFill>
            <a:srgbClr val="1E293B"/>
          </a:solidFill>
          <a:ln/>
          <a:effectLst>
            <a:outerShdw sx="100000" sy="100000" kx="0" ky="0" algn="bl" rotWithShape="0" blurRad="101600" dist="38100" dir="2700000">
              <a:srgbClr val="000000">
                <a:alpha val="25000"/>
              </a:srgbClr>
            </a:outerShdw>
          </a:effectLst>
        </p:spPr>
      </p:sp>
      <p:sp>
        <p:nvSpPr>
          <p:cNvPr id="5" name="Text 3"/>
          <p:cNvSpPr/>
          <p:nvPr/>
        </p:nvSpPr>
        <p:spPr>
          <a:xfrm>
            <a:off x="914400" y="1554480"/>
            <a:ext cx="1371600" cy="502920"/>
          </a:xfrm>
          <a:prstGeom prst="rect">
            <a:avLst/>
          </a:prstGeom>
          <a:noFill/>
          <a:ln/>
        </p:spPr>
        <p:txBody>
          <a:bodyPr wrap="square" lIns="0" tIns="0" rIns="0" bIns="0" rtlCol="0" anchor="ctr"/>
          <a:lstStyle/>
          <a:p>
            <a:pPr algn="ctr" indent="0" marL="0">
              <a:buNone/>
            </a:pPr>
            <a:r>
              <a:rPr lang="en-US" sz="1300" dirty="0">
                <a:solidFill>
                  <a:srgbClr val="F8FAFC"/>
                </a:solidFill>
                <a:latin typeface="Calibri" pitchFamily="34" charset="0"/>
                <a:ea typeface="Calibri" pitchFamily="34" charset="-122"/>
                <a:cs typeface="Calibri" pitchFamily="34" charset="-120"/>
              </a:rPr>
              <a:t>Alice</a:t>
            </a:r>
            <a:endParaRPr lang="en-US" sz="1300" dirty="0"/>
          </a:p>
        </p:txBody>
      </p:sp>
      <p:sp>
        <p:nvSpPr>
          <p:cNvPr id="6" name="Shape 4"/>
          <p:cNvSpPr/>
          <p:nvPr/>
        </p:nvSpPr>
        <p:spPr>
          <a:xfrm>
            <a:off x="914400" y="2331720"/>
            <a:ext cx="1371600" cy="502920"/>
          </a:xfrm>
          <a:prstGeom prst="roundRect">
            <a:avLst>
              <a:gd name="adj" fmla="val 14545"/>
            </a:avLst>
          </a:prstGeom>
          <a:solidFill>
            <a:srgbClr val="1E293B"/>
          </a:solidFill>
          <a:ln/>
          <a:effectLst>
            <a:outerShdw sx="100000" sy="100000" kx="0" ky="0" algn="bl" rotWithShape="0" blurRad="101600" dist="38100" dir="2700000">
              <a:srgbClr val="000000">
                <a:alpha val="25000"/>
              </a:srgbClr>
            </a:outerShdw>
          </a:effectLst>
        </p:spPr>
      </p:sp>
      <p:sp>
        <p:nvSpPr>
          <p:cNvPr id="7" name="Text 5"/>
          <p:cNvSpPr/>
          <p:nvPr/>
        </p:nvSpPr>
        <p:spPr>
          <a:xfrm>
            <a:off x="914400" y="2331720"/>
            <a:ext cx="1371600" cy="502920"/>
          </a:xfrm>
          <a:prstGeom prst="rect">
            <a:avLst/>
          </a:prstGeom>
          <a:noFill/>
          <a:ln/>
        </p:spPr>
        <p:txBody>
          <a:bodyPr wrap="square" lIns="0" tIns="0" rIns="0" bIns="0" rtlCol="0" anchor="ctr"/>
          <a:lstStyle/>
          <a:p>
            <a:pPr algn="ctr" indent="0" marL="0">
              <a:buNone/>
            </a:pPr>
            <a:r>
              <a:rPr lang="en-US" sz="1300" dirty="0">
                <a:solidFill>
                  <a:srgbClr val="F8FAFC"/>
                </a:solidFill>
                <a:latin typeface="Calibri" pitchFamily="34" charset="0"/>
                <a:ea typeface="Calibri" pitchFamily="34" charset="-122"/>
                <a:cs typeface="Calibri" pitchFamily="34" charset="-120"/>
              </a:rPr>
              <a:t>Bob</a:t>
            </a:r>
            <a:endParaRPr lang="en-US" sz="1300" dirty="0"/>
          </a:p>
        </p:txBody>
      </p:sp>
      <p:sp>
        <p:nvSpPr>
          <p:cNvPr id="8" name="Shape 6"/>
          <p:cNvSpPr/>
          <p:nvPr/>
        </p:nvSpPr>
        <p:spPr>
          <a:xfrm>
            <a:off x="914400" y="3108960"/>
            <a:ext cx="1371600" cy="502920"/>
          </a:xfrm>
          <a:prstGeom prst="roundRect">
            <a:avLst>
              <a:gd name="adj" fmla="val 14545"/>
            </a:avLst>
          </a:prstGeom>
          <a:solidFill>
            <a:srgbClr val="1E293B"/>
          </a:solidFill>
          <a:ln/>
          <a:effectLst>
            <a:outerShdw sx="100000" sy="100000" kx="0" ky="0" algn="bl" rotWithShape="0" blurRad="101600" dist="38100" dir="2700000">
              <a:srgbClr val="000000">
                <a:alpha val="25000"/>
              </a:srgbClr>
            </a:outerShdw>
          </a:effectLst>
        </p:spPr>
      </p:sp>
      <p:sp>
        <p:nvSpPr>
          <p:cNvPr id="9" name="Text 7"/>
          <p:cNvSpPr/>
          <p:nvPr/>
        </p:nvSpPr>
        <p:spPr>
          <a:xfrm>
            <a:off x="914400" y="3108960"/>
            <a:ext cx="1371600" cy="502920"/>
          </a:xfrm>
          <a:prstGeom prst="rect">
            <a:avLst/>
          </a:prstGeom>
          <a:noFill/>
          <a:ln/>
        </p:spPr>
        <p:txBody>
          <a:bodyPr wrap="square" lIns="0" tIns="0" rIns="0" bIns="0" rtlCol="0" anchor="ctr"/>
          <a:lstStyle/>
          <a:p>
            <a:pPr algn="ctr" indent="0" marL="0">
              <a:buNone/>
            </a:pPr>
            <a:r>
              <a:rPr lang="en-US" sz="1300" dirty="0">
                <a:solidFill>
                  <a:srgbClr val="F8FAFC"/>
                </a:solidFill>
                <a:latin typeface="Calibri" pitchFamily="34" charset="0"/>
                <a:ea typeface="Calibri" pitchFamily="34" charset="-122"/>
                <a:cs typeface="Calibri" pitchFamily="34" charset="-120"/>
              </a:rPr>
              <a:t>Carol</a:t>
            </a:r>
            <a:endParaRPr lang="en-US" sz="1300" dirty="0"/>
          </a:p>
        </p:txBody>
      </p:sp>
      <p:sp>
        <p:nvSpPr>
          <p:cNvPr id="10" name="Shape 8"/>
          <p:cNvSpPr/>
          <p:nvPr/>
        </p:nvSpPr>
        <p:spPr>
          <a:xfrm>
            <a:off x="914400" y="3886200"/>
            <a:ext cx="1371600" cy="502920"/>
          </a:xfrm>
          <a:prstGeom prst="roundRect">
            <a:avLst>
              <a:gd name="adj" fmla="val 14545"/>
            </a:avLst>
          </a:prstGeom>
          <a:solidFill>
            <a:srgbClr val="1E293B"/>
          </a:solidFill>
          <a:ln/>
          <a:effectLst>
            <a:outerShdw sx="100000" sy="100000" kx="0" ky="0" algn="bl" rotWithShape="0" blurRad="101600" dist="38100" dir="2700000">
              <a:srgbClr val="000000">
                <a:alpha val="25000"/>
              </a:srgbClr>
            </a:outerShdw>
          </a:effectLst>
        </p:spPr>
      </p:sp>
      <p:sp>
        <p:nvSpPr>
          <p:cNvPr id="11" name="Text 9"/>
          <p:cNvSpPr/>
          <p:nvPr/>
        </p:nvSpPr>
        <p:spPr>
          <a:xfrm>
            <a:off x="914400" y="3886200"/>
            <a:ext cx="1371600" cy="502920"/>
          </a:xfrm>
          <a:prstGeom prst="rect">
            <a:avLst/>
          </a:prstGeom>
          <a:noFill/>
          <a:ln/>
        </p:spPr>
        <p:txBody>
          <a:bodyPr wrap="square" lIns="0" tIns="0" rIns="0" bIns="0" rtlCol="0" anchor="ctr"/>
          <a:lstStyle/>
          <a:p>
            <a:pPr algn="ctr" indent="0" marL="0">
              <a:buNone/>
            </a:pPr>
            <a:r>
              <a:rPr lang="en-US" sz="1300" dirty="0">
                <a:solidFill>
                  <a:srgbClr val="F8FAFC"/>
                </a:solidFill>
                <a:latin typeface="Calibri" pitchFamily="34" charset="0"/>
                <a:ea typeface="Calibri" pitchFamily="34" charset="-122"/>
                <a:cs typeface="Calibri" pitchFamily="34" charset="-120"/>
              </a:rPr>
              <a:t>Dave</a:t>
            </a:r>
            <a:endParaRPr lang="en-US" sz="1300" dirty="0"/>
          </a:p>
        </p:txBody>
      </p:sp>
      <p:sp>
        <p:nvSpPr>
          <p:cNvPr id="12" name="Shape 10"/>
          <p:cNvSpPr/>
          <p:nvPr/>
        </p:nvSpPr>
        <p:spPr>
          <a:xfrm>
            <a:off x="6858000" y="1554480"/>
            <a:ext cx="1371600" cy="502920"/>
          </a:xfrm>
          <a:prstGeom prst="roundRect">
            <a:avLst>
              <a:gd name="adj" fmla="val 14545"/>
            </a:avLst>
          </a:prstGeom>
          <a:solidFill>
            <a:srgbClr val="1E293B"/>
          </a:solidFill>
          <a:ln/>
          <a:effectLst>
            <a:outerShdw sx="100000" sy="100000" kx="0" ky="0" algn="bl" rotWithShape="0" blurRad="101600" dist="38100" dir="2700000">
              <a:srgbClr val="000000">
                <a:alpha val="25000"/>
              </a:srgbClr>
            </a:outerShdw>
          </a:effectLst>
        </p:spPr>
      </p:sp>
      <p:sp>
        <p:nvSpPr>
          <p:cNvPr id="13" name="Text 11"/>
          <p:cNvSpPr/>
          <p:nvPr/>
        </p:nvSpPr>
        <p:spPr>
          <a:xfrm>
            <a:off x="6858000" y="1554480"/>
            <a:ext cx="1371600" cy="502920"/>
          </a:xfrm>
          <a:prstGeom prst="rect">
            <a:avLst/>
          </a:prstGeom>
          <a:noFill/>
          <a:ln/>
        </p:spPr>
        <p:txBody>
          <a:bodyPr wrap="square" lIns="0" tIns="0" rIns="0" bIns="0" rtlCol="0" anchor="ctr"/>
          <a:lstStyle/>
          <a:p>
            <a:pPr algn="ctr" indent="0" marL="0">
              <a:buNone/>
            </a:pPr>
            <a:r>
              <a:rPr lang="en-US" sz="1300" dirty="0">
                <a:solidFill>
                  <a:srgbClr val="F97316"/>
                </a:solidFill>
                <a:latin typeface="Calibri" pitchFamily="34" charset="0"/>
                <a:ea typeface="Calibri" pitchFamily="34" charset="-122"/>
                <a:cs typeface="Calibri" pitchFamily="34" charset="-120"/>
              </a:rPr>
              <a:t>ADO</a:t>
            </a:r>
            <a:endParaRPr lang="en-US" sz="1300" dirty="0"/>
          </a:p>
        </p:txBody>
      </p:sp>
      <p:sp>
        <p:nvSpPr>
          <p:cNvPr id="14" name="Shape 12"/>
          <p:cNvSpPr/>
          <p:nvPr/>
        </p:nvSpPr>
        <p:spPr>
          <a:xfrm>
            <a:off x="6858000" y="2331720"/>
            <a:ext cx="1371600" cy="502920"/>
          </a:xfrm>
          <a:prstGeom prst="roundRect">
            <a:avLst>
              <a:gd name="adj" fmla="val 14545"/>
            </a:avLst>
          </a:prstGeom>
          <a:solidFill>
            <a:srgbClr val="1E293B"/>
          </a:solidFill>
          <a:ln/>
          <a:effectLst>
            <a:outerShdw sx="100000" sy="100000" kx="0" ky="0" algn="bl" rotWithShape="0" blurRad="101600" dist="38100" dir="2700000">
              <a:srgbClr val="000000">
                <a:alpha val="25000"/>
              </a:srgbClr>
            </a:outerShdw>
          </a:effectLst>
        </p:spPr>
      </p:sp>
      <p:sp>
        <p:nvSpPr>
          <p:cNvPr id="15" name="Text 13"/>
          <p:cNvSpPr/>
          <p:nvPr/>
        </p:nvSpPr>
        <p:spPr>
          <a:xfrm>
            <a:off x="6858000" y="2331720"/>
            <a:ext cx="1371600" cy="502920"/>
          </a:xfrm>
          <a:prstGeom prst="rect">
            <a:avLst/>
          </a:prstGeom>
          <a:noFill/>
          <a:ln/>
        </p:spPr>
        <p:txBody>
          <a:bodyPr wrap="square" lIns="0" tIns="0" rIns="0" bIns="0" rtlCol="0" anchor="ctr"/>
          <a:lstStyle/>
          <a:p>
            <a:pPr algn="ctr" indent="0" marL="0">
              <a:buNone/>
            </a:pPr>
            <a:r>
              <a:rPr lang="en-US" sz="1300" dirty="0">
                <a:solidFill>
                  <a:srgbClr val="F97316"/>
                </a:solidFill>
                <a:latin typeface="Calibri" pitchFamily="34" charset="0"/>
                <a:ea typeface="Calibri" pitchFamily="34" charset="-122"/>
                <a:cs typeface="Calibri" pitchFamily="34" charset="-120"/>
              </a:rPr>
              <a:t>Notion</a:t>
            </a:r>
            <a:endParaRPr lang="en-US" sz="1300" dirty="0"/>
          </a:p>
        </p:txBody>
      </p:sp>
      <p:sp>
        <p:nvSpPr>
          <p:cNvPr id="16" name="Shape 14"/>
          <p:cNvSpPr/>
          <p:nvPr/>
        </p:nvSpPr>
        <p:spPr>
          <a:xfrm>
            <a:off x="6858000" y="3108960"/>
            <a:ext cx="1371600" cy="502920"/>
          </a:xfrm>
          <a:prstGeom prst="roundRect">
            <a:avLst>
              <a:gd name="adj" fmla="val 14545"/>
            </a:avLst>
          </a:prstGeom>
          <a:solidFill>
            <a:srgbClr val="1E293B"/>
          </a:solidFill>
          <a:ln/>
          <a:effectLst>
            <a:outerShdw sx="100000" sy="100000" kx="0" ky="0" algn="bl" rotWithShape="0" blurRad="101600" dist="38100" dir="2700000">
              <a:srgbClr val="000000">
                <a:alpha val="25000"/>
              </a:srgbClr>
            </a:outerShdw>
          </a:effectLst>
        </p:spPr>
      </p:sp>
      <p:sp>
        <p:nvSpPr>
          <p:cNvPr id="17" name="Text 15"/>
          <p:cNvSpPr/>
          <p:nvPr/>
        </p:nvSpPr>
        <p:spPr>
          <a:xfrm>
            <a:off x="6858000" y="3108960"/>
            <a:ext cx="1371600" cy="502920"/>
          </a:xfrm>
          <a:prstGeom prst="rect">
            <a:avLst/>
          </a:prstGeom>
          <a:noFill/>
          <a:ln/>
        </p:spPr>
        <p:txBody>
          <a:bodyPr wrap="square" lIns="0" tIns="0" rIns="0" bIns="0" rtlCol="0" anchor="ctr"/>
          <a:lstStyle/>
          <a:p>
            <a:pPr algn="ctr" indent="0" marL="0">
              <a:buNone/>
            </a:pPr>
            <a:r>
              <a:rPr lang="en-US" sz="1300" dirty="0">
                <a:solidFill>
                  <a:srgbClr val="F97316"/>
                </a:solidFill>
                <a:latin typeface="Calibri" pitchFamily="34" charset="0"/>
                <a:ea typeface="Calibri" pitchFamily="34" charset="-122"/>
                <a:cs typeface="Calibri" pitchFamily="34" charset="-120"/>
              </a:rPr>
              <a:t>Driver</a:t>
            </a:r>
            <a:endParaRPr lang="en-US" sz="1300" dirty="0"/>
          </a:p>
        </p:txBody>
      </p:sp>
      <p:sp>
        <p:nvSpPr>
          <p:cNvPr id="18" name="Shape 16"/>
          <p:cNvSpPr/>
          <p:nvPr/>
        </p:nvSpPr>
        <p:spPr>
          <a:xfrm>
            <a:off x="6858000" y="3886200"/>
            <a:ext cx="1371600" cy="502920"/>
          </a:xfrm>
          <a:prstGeom prst="roundRect">
            <a:avLst>
              <a:gd name="adj" fmla="val 14545"/>
            </a:avLst>
          </a:prstGeom>
          <a:solidFill>
            <a:srgbClr val="1E293B"/>
          </a:solidFill>
          <a:ln/>
          <a:effectLst>
            <a:outerShdw sx="100000" sy="100000" kx="0" ky="0" algn="bl" rotWithShape="0" blurRad="101600" dist="38100" dir="2700000">
              <a:srgbClr val="000000">
                <a:alpha val="25000"/>
              </a:srgbClr>
            </a:outerShdw>
          </a:effectLst>
        </p:spPr>
      </p:sp>
      <p:sp>
        <p:nvSpPr>
          <p:cNvPr id="19" name="Text 17"/>
          <p:cNvSpPr/>
          <p:nvPr/>
        </p:nvSpPr>
        <p:spPr>
          <a:xfrm>
            <a:off x="6858000" y="3886200"/>
            <a:ext cx="1371600" cy="502920"/>
          </a:xfrm>
          <a:prstGeom prst="rect">
            <a:avLst/>
          </a:prstGeom>
          <a:noFill/>
          <a:ln/>
        </p:spPr>
        <p:txBody>
          <a:bodyPr wrap="square" lIns="0" tIns="0" rIns="0" bIns="0" rtlCol="0" anchor="ctr"/>
          <a:lstStyle/>
          <a:p>
            <a:pPr algn="ctr" indent="0" marL="0">
              <a:buNone/>
            </a:pPr>
            <a:r>
              <a:rPr lang="en-US" sz="1300" dirty="0">
                <a:solidFill>
                  <a:srgbClr val="F97316"/>
                </a:solidFill>
                <a:latin typeface="Calibri" pitchFamily="34" charset="0"/>
                <a:ea typeface="Calibri" pitchFamily="34" charset="-122"/>
                <a:cs typeface="Calibri" pitchFamily="34" charset="-120"/>
              </a:rPr>
              <a:t>Yuki IA</a:t>
            </a:r>
            <a:endParaRPr lang="en-US" sz="1300" dirty="0"/>
          </a:p>
        </p:txBody>
      </p:sp>
      <p:sp>
        <p:nvSpPr>
          <p:cNvPr id="20" name="Shape 18"/>
          <p:cNvSpPr/>
          <p:nvPr/>
        </p:nvSpPr>
        <p:spPr>
          <a:xfrm>
            <a:off x="2286000" y="1805940"/>
            <a:ext cx="4572000" cy="0"/>
          </a:xfrm>
          <a:prstGeom prst="line">
            <a:avLst/>
          </a:prstGeom>
          <a:noFill/>
          <a:ln w="15240">
            <a:solidFill>
              <a:srgbClr val="EF4444"/>
            </a:solidFill>
            <a:prstDash val="dash"/>
          </a:ln>
        </p:spPr>
      </p:sp>
      <p:sp>
        <p:nvSpPr>
          <p:cNvPr id="21" name="Shape 19"/>
          <p:cNvSpPr/>
          <p:nvPr/>
        </p:nvSpPr>
        <p:spPr>
          <a:xfrm>
            <a:off x="2286000" y="1805940"/>
            <a:ext cx="4572000" cy="777240"/>
          </a:xfrm>
          <a:prstGeom prst="line">
            <a:avLst/>
          </a:prstGeom>
          <a:noFill/>
          <a:ln w="15240">
            <a:solidFill>
              <a:srgbClr val="F97316"/>
            </a:solidFill>
            <a:prstDash val="dash"/>
          </a:ln>
        </p:spPr>
      </p:sp>
      <p:sp>
        <p:nvSpPr>
          <p:cNvPr id="22" name="Shape 20"/>
          <p:cNvSpPr/>
          <p:nvPr/>
        </p:nvSpPr>
        <p:spPr>
          <a:xfrm>
            <a:off x="2286000" y="1805940"/>
            <a:ext cx="4572000" cy="1554480"/>
          </a:xfrm>
          <a:prstGeom prst="line">
            <a:avLst/>
          </a:prstGeom>
          <a:noFill/>
          <a:ln w="15240">
            <a:solidFill>
              <a:srgbClr val="06B6D4"/>
            </a:solidFill>
            <a:prstDash val="dash"/>
          </a:ln>
        </p:spPr>
      </p:sp>
      <p:sp>
        <p:nvSpPr>
          <p:cNvPr id="23" name="Shape 21"/>
          <p:cNvSpPr/>
          <p:nvPr/>
        </p:nvSpPr>
        <p:spPr>
          <a:xfrm>
            <a:off x="2286000" y="1805940"/>
            <a:ext cx="4572000" cy="2331720"/>
          </a:xfrm>
          <a:prstGeom prst="line">
            <a:avLst/>
          </a:prstGeom>
          <a:noFill/>
          <a:ln w="15240">
            <a:solidFill>
              <a:srgbClr val="8B5CF6"/>
            </a:solidFill>
            <a:prstDash val="dash"/>
          </a:ln>
        </p:spPr>
      </p:sp>
      <p:sp>
        <p:nvSpPr>
          <p:cNvPr id="24" name="Shape 22"/>
          <p:cNvSpPr/>
          <p:nvPr/>
        </p:nvSpPr>
        <p:spPr>
          <a:xfrm flipV="1">
            <a:off x="2286000" y="1805940"/>
            <a:ext cx="4572000" cy="777240"/>
          </a:xfrm>
          <a:prstGeom prst="line">
            <a:avLst/>
          </a:prstGeom>
          <a:noFill/>
          <a:ln w="15240">
            <a:solidFill>
              <a:srgbClr val="10B981"/>
            </a:solidFill>
            <a:prstDash val="dash"/>
          </a:ln>
        </p:spPr>
      </p:sp>
      <p:sp>
        <p:nvSpPr>
          <p:cNvPr id="25" name="Shape 23"/>
          <p:cNvSpPr/>
          <p:nvPr/>
        </p:nvSpPr>
        <p:spPr>
          <a:xfrm>
            <a:off x="2286000" y="2583180"/>
            <a:ext cx="4572000" cy="0"/>
          </a:xfrm>
          <a:prstGeom prst="line">
            <a:avLst/>
          </a:prstGeom>
          <a:noFill/>
          <a:ln w="15240">
            <a:solidFill>
              <a:srgbClr val="94A3B8"/>
            </a:solidFill>
            <a:prstDash val="dash"/>
          </a:ln>
        </p:spPr>
      </p:sp>
      <p:sp>
        <p:nvSpPr>
          <p:cNvPr id="26" name="Shape 24"/>
          <p:cNvSpPr/>
          <p:nvPr/>
        </p:nvSpPr>
        <p:spPr>
          <a:xfrm>
            <a:off x="2286000" y="2583180"/>
            <a:ext cx="4572000" cy="1554480"/>
          </a:xfrm>
          <a:prstGeom prst="line">
            <a:avLst/>
          </a:prstGeom>
          <a:noFill/>
          <a:ln w="15240">
            <a:solidFill>
              <a:srgbClr val="EF4444"/>
            </a:solidFill>
            <a:prstDash val="dash"/>
          </a:ln>
        </p:spPr>
      </p:sp>
      <p:sp>
        <p:nvSpPr>
          <p:cNvPr id="27" name="Shape 25"/>
          <p:cNvSpPr/>
          <p:nvPr/>
        </p:nvSpPr>
        <p:spPr>
          <a:xfrm flipV="1">
            <a:off x="2286000" y="1805940"/>
            <a:ext cx="4572000" cy="1554480"/>
          </a:xfrm>
          <a:prstGeom prst="line">
            <a:avLst/>
          </a:prstGeom>
          <a:noFill/>
          <a:ln w="15240">
            <a:solidFill>
              <a:srgbClr val="F97316"/>
            </a:solidFill>
            <a:prstDash val="dash"/>
          </a:ln>
        </p:spPr>
      </p:sp>
      <p:sp>
        <p:nvSpPr>
          <p:cNvPr id="28" name="Shape 26"/>
          <p:cNvSpPr/>
          <p:nvPr/>
        </p:nvSpPr>
        <p:spPr>
          <a:xfrm>
            <a:off x="2286000" y="3360420"/>
            <a:ext cx="4572000" cy="0"/>
          </a:xfrm>
          <a:prstGeom prst="line">
            <a:avLst/>
          </a:prstGeom>
          <a:noFill/>
          <a:ln w="15240">
            <a:solidFill>
              <a:srgbClr val="06B6D4"/>
            </a:solidFill>
            <a:prstDash val="dash"/>
          </a:ln>
        </p:spPr>
      </p:sp>
      <p:sp>
        <p:nvSpPr>
          <p:cNvPr id="29" name="Shape 27"/>
          <p:cNvSpPr/>
          <p:nvPr/>
        </p:nvSpPr>
        <p:spPr>
          <a:xfrm>
            <a:off x="2286000" y="3360420"/>
            <a:ext cx="4572000" cy="777240"/>
          </a:xfrm>
          <a:prstGeom prst="line">
            <a:avLst/>
          </a:prstGeom>
          <a:noFill/>
          <a:ln w="15240">
            <a:solidFill>
              <a:srgbClr val="8B5CF6"/>
            </a:solidFill>
            <a:prstDash val="dash"/>
          </a:ln>
        </p:spPr>
      </p:sp>
      <p:sp>
        <p:nvSpPr>
          <p:cNvPr id="30" name="Shape 28"/>
          <p:cNvSpPr/>
          <p:nvPr/>
        </p:nvSpPr>
        <p:spPr>
          <a:xfrm flipV="1">
            <a:off x="2286000" y="1805940"/>
            <a:ext cx="4572000" cy="2331720"/>
          </a:xfrm>
          <a:prstGeom prst="line">
            <a:avLst/>
          </a:prstGeom>
          <a:noFill/>
          <a:ln w="15240">
            <a:solidFill>
              <a:srgbClr val="10B981"/>
            </a:solidFill>
            <a:prstDash val="dash"/>
          </a:ln>
        </p:spPr>
      </p:sp>
      <p:sp>
        <p:nvSpPr>
          <p:cNvPr id="31" name="Shape 29"/>
          <p:cNvSpPr/>
          <p:nvPr/>
        </p:nvSpPr>
        <p:spPr>
          <a:xfrm flipV="1">
            <a:off x="2286000" y="2583180"/>
            <a:ext cx="4572000" cy="1554480"/>
          </a:xfrm>
          <a:prstGeom prst="line">
            <a:avLst/>
          </a:prstGeom>
          <a:noFill/>
          <a:ln w="15240">
            <a:solidFill>
              <a:srgbClr val="94A3B8"/>
            </a:solidFill>
            <a:prstDash val="dash"/>
          </a:ln>
        </p:spPr>
      </p:sp>
      <p:sp>
        <p:nvSpPr>
          <p:cNvPr id="32" name="Shape 30"/>
          <p:cNvSpPr/>
          <p:nvPr/>
        </p:nvSpPr>
        <p:spPr>
          <a:xfrm flipV="1">
            <a:off x="2286000" y="3360420"/>
            <a:ext cx="4572000" cy="777240"/>
          </a:xfrm>
          <a:prstGeom prst="line">
            <a:avLst/>
          </a:prstGeom>
          <a:noFill/>
          <a:ln w="15240">
            <a:solidFill>
              <a:srgbClr val="EF4444"/>
            </a:solidFill>
            <a:prstDash val="dash"/>
          </a:ln>
        </p:spPr>
      </p:sp>
      <p:sp>
        <p:nvSpPr>
          <p:cNvPr id="33" name="Text 31"/>
          <p:cNvSpPr/>
          <p:nvPr/>
        </p:nvSpPr>
        <p:spPr>
          <a:xfrm>
            <a:off x="2560320" y="4206240"/>
            <a:ext cx="4023360" cy="365760"/>
          </a:xfrm>
          <a:prstGeom prst="rect">
            <a:avLst/>
          </a:prstGeom>
          <a:noFill/>
          <a:ln/>
        </p:spPr>
        <p:txBody>
          <a:bodyPr wrap="square" lIns="0" tIns="0" rIns="0" bIns="0" rtlCol="0" anchor="ctr"/>
          <a:lstStyle/>
          <a:p>
            <a:pPr algn="ctr" indent="0" marL="0">
              <a:buNone/>
            </a:pPr>
            <a:r>
              <a:rPr lang="en-US" sz="1400" b="1" dirty="0">
                <a:solidFill>
                  <a:srgbClr val="EF4444"/>
                </a:solidFill>
                <a:latin typeface="Calibri" pitchFamily="34" charset="0"/>
                <a:ea typeface="Calibri" pitchFamily="34" charset="-122"/>
                <a:cs typeface="Calibri" pitchFamily="34" charset="-120"/>
              </a:rPr>
              <a:t>4 users × 4 services = 16 connections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What goes wrong</a:t>
            </a:r>
            <a:endParaRPr lang="en-US" sz="3600" dirty="0"/>
          </a:p>
        </p:txBody>
      </p:sp>
      <p:sp>
        <p:nvSpPr>
          <p:cNvPr id="3" name="Shape 1"/>
          <p:cNvSpPr/>
          <p:nvPr/>
        </p:nvSpPr>
        <p:spPr>
          <a:xfrm>
            <a:off x="914400" y="1188720"/>
            <a:ext cx="7315200" cy="594360"/>
          </a:xfrm>
          <a:prstGeom prst="roundRect">
            <a:avLst>
              <a:gd name="adj" fmla="val 12308"/>
            </a:avLst>
          </a:prstGeom>
          <a:solidFill>
            <a:srgbClr val="1E293B"/>
          </a:solidFill>
          <a:ln/>
        </p:spPr>
      </p:sp>
      <p:pic>
        <p:nvPicPr>
          <p:cNvPr id="4" name="Image 0" descr="preencoded.png">    </p:cNvPr>
          <p:cNvPicPr>
            <a:picLocks noChangeAspect="1"/>
          </p:cNvPicPr>
          <p:nvPr/>
        </p:nvPicPr>
        <p:blipFill>
          <a:blip r:embed="rId1"/>
          <a:stretch>
            <a:fillRect/>
          </a:stretch>
        </p:blipFill>
        <p:spPr>
          <a:xfrm>
            <a:off x="1097280" y="1280160"/>
            <a:ext cx="384048" cy="384048"/>
          </a:xfrm>
          <a:prstGeom prst="rect">
            <a:avLst/>
          </a:prstGeom>
        </p:spPr>
      </p:pic>
      <p:sp>
        <p:nvSpPr>
          <p:cNvPr id="5" name="Text 2"/>
          <p:cNvSpPr/>
          <p:nvPr/>
        </p:nvSpPr>
        <p:spPr>
          <a:xfrm>
            <a:off x="1645920" y="1188720"/>
            <a:ext cx="2011680" cy="594360"/>
          </a:xfrm>
          <a:prstGeom prst="rect">
            <a:avLst/>
          </a:prstGeom>
          <a:noFill/>
          <a:ln/>
        </p:spPr>
        <p:txBody>
          <a:bodyPr wrap="square" lIns="0" tIns="0" rIns="0" bIns="0" rtlCol="0" anchor="ctr"/>
          <a:lstStyle/>
          <a:p>
            <a:pPr indent="0" marL="0">
              <a:buNone/>
            </a:pPr>
            <a:r>
              <a:rPr lang="en-US" sz="1400" b="1" dirty="0">
                <a:solidFill>
                  <a:srgbClr val="F8FAFC"/>
                </a:solidFill>
                <a:latin typeface="Calibri" pitchFamily="34" charset="0"/>
                <a:ea typeface="Calibri" pitchFamily="34" charset="-122"/>
                <a:cs typeface="Calibri" pitchFamily="34" charset="-120"/>
              </a:rPr>
              <a:t>Token rotation</a:t>
            </a:r>
            <a:endParaRPr lang="en-US" sz="1400" dirty="0"/>
          </a:p>
        </p:txBody>
      </p:sp>
      <p:sp>
        <p:nvSpPr>
          <p:cNvPr id="6" name="Text 3"/>
          <p:cNvSpPr/>
          <p:nvPr/>
        </p:nvSpPr>
        <p:spPr>
          <a:xfrm>
            <a:off x="3657600" y="1188720"/>
            <a:ext cx="4389120" cy="5943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Everyone has to update their local config</a:t>
            </a:r>
            <a:endParaRPr lang="en-US" sz="1300" dirty="0"/>
          </a:p>
        </p:txBody>
      </p:sp>
      <p:sp>
        <p:nvSpPr>
          <p:cNvPr id="7" name="Shape 4"/>
          <p:cNvSpPr/>
          <p:nvPr/>
        </p:nvSpPr>
        <p:spPr>
          <a:xfrm>
            <a:off x="914400" y="1938528"/>
            <a:ext cx="7315200" cy="594360"/>
          </a:xfrm>
          <a:prstGeom prst="roundRect">
            <a:avLst>
              <a:gd name="adj" fmla="val 12308"/>
            </a:avLst>
          </a:prstGeom>
          <a:solidFill>
            <a:srgbClr val="1E293B"/>
          </a:solidFill>
          <a:ln/>
        </p:spPr>
      </p:sp>
      <p:pic>
        <p:nvPicPr>
          <p:cNvPr id="8" name="Image 1" descr="preencoded.png">    </p:cNvPr>
          <p:cNvPicPr>
            <a:picLocks noChangeAspect="1"/>
          </p:cNvPicPr>
          <p:nvPr/>
        </p:nvPicPr>
        <p:blipFill>
          <a:blip r:embed="rId2"/>
          <a:stretch>
            <a:fillRect/>
          </a:stretch>
        </p:blipFill>
        <p:spPr>
          <a:xfrm>
            <a:off x="1097280" y="2029968"/>
            <a:ext cx="384048" cy="384048"/>
          </a:xfrm>
          <a:prstGeom prst="rect">
            <a:avLst/>
          </a:prstGeom>
        </p:spPr>
      </p:pic>
      <p:sp>
        <p:nvSpPr>
          <p:cNvPr id="9" name="Text 5"/>
          <p:cNvSpPr/>
          <p:nvPr/>
        </p:nvSpPr>
        <p:spPr>
          <a:xfrm>
            <a:off x="1645920" y="1938528"/>
            <a:ext cx="2011680" cy="594360"/>
          </a:xfrm>
          <a:prstGeom prst="rect">
            <a:avLst/>
          </a:prstGeom>
          <a:noFill/>
          <a:ln/>
        </p:spPr>
        <p:txBody>
          <a:bodyPr wrap="square" lIns="0" tIns="0" rIns="0" bIns="0" rtlCol="0" anchor="ctr"/>
          <a:lstStyle/>
          <a:p>
            <a:pPr indent="0" marL="0">
              <a:buNone/>
            </a:pPr>
            <a:r>
              <a:rPr lang="en-US" sz="1400" b="1" dirty="0">
                <a:solidFill>
                  <a:srgbClr val="F8FAFC"/>
                </a:solidFill>
                <a:latin typeface="Calibri" pitchFamily="34" charset="0"/>
                <a:ea typeface="Calibri" pitchFamily="34" charset="-122"/>
                <a:cs typeface="Calibri" pitchFamily="34" charset="-120"/>
              </a:rPr>
              <a:t>New upstream</a:t>
            </a:r>
            <a:endParaRPr lang="en-US" sz="1400" dirty="0"/>
          </a:p>
        </p:txBody>
      </p:sp>
      <p:sp>
        <p:nvSpPr>
          <p:cNvPr id="10" name="Text 6"/>
          <p:cNvSpPr/>
          <p:nvPr/>
        </p:nvSpPr>
        <p:spPr>
          <a:xfrm>
            <a:off x="3657600" y="1938528"/>
            <a:ext cx="4389120" cy="5943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Someone Slacks the setup — half the team misses it</a:t>
            </a:r>
            <a:endParaRPr lang="en-US" sz="1300" dirty="0"/>
          </a:p>
        </p:txBody>
      </p:sp>
      <p:sp>
        <p:nvSpPr>
          <p:cNvPr id="11" name="Shape 7"/>
          <p:cNvSpPr/>
          <p:nvPr/>
        </p:nvSpPr>
        <p:spPr>
          <a:xfrm>
            <a:off x="914400" y="2688336"/>
            <a:ext cx="7315200" cy="594360"/>
          </a:xfrm>
          <a:prstGeom prst="roundRect">
            <a:avLst>
              <a:gd name="adj" fmla="val 12308"/>
            </a:avLst>
          </a:prstGeom>
          <a:solidFill>
            <a:srgbClr val="1E293B"/>
          </a:solidFill>
          <a:ln/>
        </p:spPr>
      </p:sp>
      <p:pic>
        <p:nvPicPr>
          <p:cNvPr id="12" name="Image 2" descr="preencoded.png">    </p:cNvPr>
          <p:cNvPicPr>
            <a:picLocks noChangeAspect="1"/>
          </p:cNvPicPr>
          <p:nvPr/>
        </p:nvPicPr>
        <p:blipFill>
          <a:blip r:embed="rId3"/>
          <a:stretch>
            <a:fillRect/>
          </a:stretch>
        </p:blipFill>
        <p:spPr>
          <a:xfrm>
            <a:off x="1097280" y="2779776"/>
            <a:ext cx="384048" cy="384048"/>
          </a:xfrm>
          <a:prstGeom prst="rect">
            <a:avLst/>
          </a:prstGeom>
        </p:spPr>
      </p:pic>
      <p:sp>
        <p:nvSpPr>
          <p:cNvPr id="13" name="Text 8"/>
          <p:cNvSpPr/>
          <p:nvPr/>
        </p:nvSpPr>
        <p:spPr>
          <a:xfrm>
            <a:off x="1645920" y="2688336"/>
            <a:ext cx="2011680" cy="594360"/>
          </a:xfrm>
          <a:prstGeom prst="rect">
            <a:avLst/>
          </a:prstGeom>
          <a:noFill/>
          <a:ln/>
        </p:spPr>
        <p:txBody>
          <a:bodyPr wrap="square" lIns="0" tIns="0" rIns="0" bIns="0" rtlCol="0" anchor="ctr"/>
          <a:lstStyle/>
          <a:p>
            <a:pPr indent="0" marL="0">
              <a:buNone/>
            </a:pPr>
            <a:r>
              <a:rPr lang="en-US" sz="1400" b="1" dirty="0">
                <a:solidFill>
                  <a:srgbClr val="F8FAFC"/>
                </a:solidFill>
                <a:latin typeface="Calibri" pitchFamily="34" charset="0"/>
                <a:ea typeface="Calibri" pitchFamily="34" charset="-122"/>
                <a:cs typeface="Calibri" pitchFamily="34" charset="-120"/>
              </a:rPr>
              <a:t>No org context</a:t>
            </a:r>
            <a:endParaRPr lang="en-US" sz="1400" dirty="0"/>
          </a:p>
        </p:txBody>
      </p:sp>
      <p:sp>
        <p:nvSpPr>
          <p:cNvPr id="14" name="Text 9"/>
          <p:cNvSpPr/>
          <p:nvPr/>
        </p:nvSpPr>
        <p:spPr>
          <a:xfrm>
            <a:off x="3657600" y="2688336"/>
            <a:ext cx="4389120" cy="5943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Agent asks 'which ADO project?' every single time</a:t>
            </a:r>
            <a:endParaRPr lang="en-US" sz="1300" dirty="0"/>
          </a:p>
        </p:txBody>
      </p:sp>
      <p:sp>
        <p:nvSpPr>
          <p:cNvPr id="15" name="Shape 10"/>
          <p:cNvSpPr/>
          <p:nvPr/>
        </p:nvSpPr>
        <p:spPr>
          <a:xfrm>
            <a:off x="914400" y="3438144"/>
            <a:ext cx="7315200" cy="594360"/>
          </a:xfrm>
          <a:prstGeom prst="roundRect">
            <a:avLst>
              <a:gd name="adj" fmla="val 12308"/>
            </a:avLst>
          </a:prstGeom>
          <a:solidFill>
            <a:srgbClr val="1E293B"/>
          </a:solidFill>
          <a:ln/>
        </p:spPr>
      </p:sp>
      <p:pic>
        <p:nvPicPr>
          <p:cNvPr id="16" name="Image 3" descr="preencoded.png">    </p:cNvPr>
          <p:cNvPicPr>
            <a:picLocks noChangeAspect="1"/>
          </p:cNvPicPr>
          <p:nvPr/>
        </p:nvPicPr>
        <p:blipFill>
          <a:blip r:embed="rId4"/>
          <a:stretch>
            <a:fillRect/>
          </a:stretch>
        </p:blipFill>
        <p:spPr>
          <a:xfrm>
            <a:off x="1097280" y="3529584"/>
            <a:ext cx="384048" cy="384048"/>
          </a:xfrm>
          <a:prstGeom prst="rect">
            <a:avLst/>
          </a:prstGeom>
        </p:spPr>
      </p:pic>
      <p:sp>
        <p:nvSpPr>
          <p:cNvPr id="17" name="Text 11"/>
          <p:cNvSpPr/>
          <p:nvPr/>
        </p:nvSpPr>
        <p:spPr>
          <a:xfrm>
            <a:off x="1645920" y="3438144"/>
            <a:ext cx="2011680" cy="594360"/>
          </a:xfrm>
          <a:prstGeom prst="rect">
            <a:avLst/>
          </a:prstGeom>
          <a:noFill/>
          <a:ln/>
        </p:spPr>
        <p:txBody>
          <a:bodyPr wrap="square" lIns="0" tIns="0" rIns="0" bIns="0" rtlCol="0" anchor="ctr"/>
          <a:lstStyle/>
          <a:p>
            <a:pPr indent="0" marL="0">
              <a:buNone/>
            </a:pPr>
            <a:r>
              <a:rPr lang="en-US" sz="1400" b="1" dirty="0">
                <a:solidFill>
                  <a:srgbClr val="F8FAFC"/>
                </a:solidFill>
                <a:latin typeface="Calibri" pitchFamily="34" charset="0"/>
                <a:ea typeface="Calibri" pitchFamily="34" charset="-122"/>
                <a:cs typeface="Calibri" pitchFamily="34" charset="-120"/>
              </a:rPr>
              <a:t>No guardrails</a:t>
            </a:r>
            <a:endParaRPr lang="en-US" sz="1400" dirty="0"/>
          </a:p>
        </p:txBody>
      </p:sp>
      <p:sp>
        <p:nvSpPr>
          <p:cNvPr id="18" name="Text 12"/>
          <p:cNvSpPr/>
          <p:nvPr/>
        </p:nvSpPr>
        <p:spPr>
          <a:xfrm>
            <a:off x="3657600" y="3438144"/>
            <a:ext cx="4389120" cy="5943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Any tool is callable, no conventions enforced</a:t>
            </a:r>
            <a:endParaRPr lang="en-US" sz="1300" dirty="0"/>
          </a:p>
        </p:txBody>
      </p:sp>
      <p:sp>
        <p:nvSpPr>
          <p:cNvPr id="19" name="Shape 13"/>
          <p:cNvSpPr/>
          <p:nvPr/>
        </p:nvSpPr>
        <p:spPr>
          <a:xfrm>
            <a:off x="914400" y="4187952"/>
            <a:ext cx="7315200" cy="594360"/>
          </a:xfrm>
          <a:prstGeom prst="roundRect">
            <a:avLst>
              <a:gd name="adj" fmla="val 12308"/>
            </a:avLst>
          </a:prstGeom>
          <a:solidFill>
            <a:srgbClr val="1E293B"/>
          </a:solidFill>
          <a:ln/>
        </p:spPr>
      </p:sp>
      <p:pic>
        <p:nvPicPr>
          <p:cNvPr id="20" name="Image 4" descr="preencoded.png">    </p:cNvPr>
          <p:cNvPicPr>
            <a:picLocks noChangeAspect="1"/>
          </p:cNvPicPr>
          <p:nvPr/>
        </p:nvPicPr>
        <p:blipFill>
          <a:blip r:embed="rId5"/>
          <a:stretch>
            <a:fillRect/>
          </a:stretch>
        </p:blipFill>
        <p:spPr>
          <a:xfrm>
            <a:off x="1097280" y="4279392"/>
            <a:ext cx="384048" cy="384048"/>
          </a:xfrm>
          <a:prstGeom prst="rect">
            <a:avLst/>
          </a:prstGeom>
        </p:spPr>
      </p:pic>
      <p:sp>
        <p:nvSpPr>
          <p:cNvPr id="21" name="Text 14"/>
          <p:cNvSpPr/>
          <p:nvPr/>
        </p:nvSpPr>
        <p:spPr>
          <a:xfrm>
            <a:off x="1645920" y="4187952"/>
            <a:ext cx="2011680" cy="594360"/>
          </a:xfrm>
          <a:prstGeom prst="rect">
            <a:avLst/>
          </a:prstGeom>
          <a:noFill/>
          <a:ln/>
        </p:spPr>
        <p:txBody>
          <a:bodyPr wrap="square" lIns="0" tIns="0" rIns="0" bIns="0" rtlCol="0" anchor="ctr"/>
          <a:lstStyle/>
          <a:p>
            <a:pPr indent="0" marL="0">
              <a:buNone/>
            </a:pPr>
            <a:r>
              <a:rPr lang="en-US" sz="1400" b="1" dirty="0">
                <a:solidFill>
                  <a:srgbClr val="F8FAFC"/>
                </a:solidFill>
                <a:latin typeface="Calibri" pitchFamily="34" charset="0"/>
                <a:ea typeface="Calibri" pitchFamily="34" charset="-122"/>
                <a:cs typeface="Calibri" pitchFamily="34" charset="-120"/>
              </a:rPr>
              <a:t>Zero visibility</a:t>
            </a:r>
            <a:endParaRPr lang="en-US" sz="1400" dirty="0"/>
          </a:p>
        </p:txBody>
      </p:sp>
      <p:sp>
        <p:nvSpPr>
          <p:cNvPr id="22" name="Text 15"/>
          <p:cNvSpPr/>
          <p:nvPr/>
        </p:nvSpPr>
        <p:spPr>
          <a:xfrm>
            <a:off x="3657600" y="4187952"/>
            <a:ext cx="4389120" cy="5943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Are people using the Notion integration? No idea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One connection, full context</a:t>
            </a:r>
            <a:endParaRPr lang="en-US" sz="3600" dirty="0"/>
          </a:p>
        </p:txBody>
      </p:sp>
      <p:sp>
        <p:nvSpPr>
          <p:cNvPr id="3" name="Shape 1"/>
          <p:cNvSpPr/>
          <p:nvPr/>
        </p:nvSpPr>
        <p:spPr>
          <a:xfrm>
            <a:off x="3474720" y="1920240"/>
            <a:ext cx="2194560" cy="1097280"/>
          </a:xfrm>
          <a:prstGeom prst="roundRect">
            <a:avLst>
              <a:gd name="adj" fmla="val 12500"/>
            </a:avLst>
          </a:prstGeom>
          <a:solidFill>
            <a:srgbClr val="F97316"/>
          </a:solidFill>
          <a:ln/>
          <a:effectLst>
            <a:outerShdw sx="100000" sy="100000" kx="0" ky="0" algn="bl" rotWithShape="0" blurRad="101600" dist="38100" dir="2700000">
              <a:srgbClr val="000000">
                <a:alpha val="25000"/>
              </a:srgbClr>
            </a:outerShdw>
          </a:effectLst>
        </p:spPr>
      </p:sp>
      <p:sp>
        <p:nvSpPr>
          <p:cNvPr id="4" name="Text 2"/>
          <p:cNvSpPr/>
          <p:nvPr/>
        </p:nvSpPr>
        <p:spPr>
          <a:xfrm>
            <a:off x="3474720" y="1920240"/>
            <a:ext cx="2194560" cy="603504"/>
          </a:xfrm>
          <a:prstGeom prst="rect">
            <a:avLst/>
          </a:prstGeom>
          <a:noFill/>
          <a:ln/>
        </p:spPr>
        <p:txBody>
          <a:bodyPr wrap="square" lIns="0" tIns="0" rIns="0" bIns="0" rtlCol="0" anchor="b"/>
          <a:lstStyle/>
          <a:p>
            <a:pPr algn="ctr" indent="0" marL="0">
              <a:buNone/>
            </a:pPr>
            <a:r>
              <a:rPr lang="en-US" sz="2200" b="1" dirty="0">
                <a:solidFill>
                  <a:srgbClr val="0F172A"/>
                </a:solidFill>
                <a:latin typeface="Calibri" pitchFamily="34" charset="0"/>
                <a:ea typeface="Calibri" pitchFamily="34" charset="-122"/>
                <a:cs typeface="Calibri" pitchFamily="34" charset="-120"/>
              </a:rPr>
              <a:t>ctxlayer</a:t>
            </a:r>
            <a:endParaRPr lang="en-US" sz="2200" dirty="0"/>
          </a:p>
        </p:txBody>
      </p:sp>
      <p:sp>
        <p:nvSpPr>
          <p:cNvPr id="5" name="Text 3"/>
          <p:cNvSpPr/>
          <p:nvPr/>
        </p:nvSpPr>
        <p:spPr>
          <a:xfrm>
            <a:off x="3474720" y="2468880"/>
            <a:ext cx="2194560" cy="548640"/>
          </a:xfrm>
          <a:prstGeom prst="rect">
            <a:avLst/>
          </a:prstGeom>
          <a:noFill/>
          <a:ln/>
        </p:spPr>
        <p:txBody>
          <a:bodyPr wrap="square" lIns="0" tIns="0" rIns="0" bIns="0" rtlCol="0" anchor="t"/>
          <a:lstStyle/>
          <a:p>
            <a:pPr algn="ctr" indent="0" marL="0">
              <a:buNone/>
            </a:pPr>
            <a:r>
              <a:rPr lang="en-US" sz="1100" dirty="0">
                <a:solidFill>
                  <a:srgbClr val="0F172A"/>
                </a:solidFill>
                <a:latin typeface="Calibri" pitchFamily="34" charset="0"/>
                <a:ea typeface="Calibri" pitchFamily="34" charset="-122"/>
                <a:cs typeface="Calibri" pitchFamily="34" charset="-120"/>
              </a:rPr>
              <a:t>yukitools.dev</a:t>
            </a:r>
            <a:endParaRPr lang="en-US" sz="1100" dirty="0"/>
          </a:p>
        </p:txBody>
      </p:sp>
      <p:sp>
        <p:nvSpPr>
          <p:cNvPr id="6" name="Shape 4"/>
          <p:cNvSpPr/>
          <p:nvPr/>
        </p:nvSpPr>
        <p:spPr>
          <a:xfrm>
            <a:off x="457200" y="1554480"/>
            <a:ext cx="1645920" cy="502920"/>
          </a:xfrm>
          <a:prstGeom prst="roundRect">
            <a:avLst>
              <a:gd name="adj" fmla="val 14545"/>
            </a:avLst>
          </a:prstGeom>
          <a:solidFill>
            <a:srgbClr val="1E293B"/>
          </a:solidFill>
          <a:ln/>
        </p:spPr>
      </p:sp>
      <p:sp>
        <p:nvSpPr>
          <p:cNvPr id="7" name="Text 5"/>
          <p:cNvSpPr/>
          <p:nvPr/>
        </p:nvSpPr>
        <p:spPr>
          <a:xfrm>
            <a:off x="457200" y="1554480"/>
            <a:ext cx="1645920" cy="502920"/>
          </a:xfrm>
          <a:prstGeom prst="rect">
            <a:avLst/>
          </a:prstGeom>
          <a:noFill/>
          <a:ln/>
        </p:spPr>
        <p:txBody>
          <a:bodyPr wrap="square" lIns="0" tIns="0" rIns="0" bIns="0" rtlCol="0" anchor="ctr"/>
          <a:lstStyle/>
          <a:p>
            <a:pPr algn="ctr" indent="0" marL="0">
              <a:buNone/>
            </a:pPr>
            <a:r>
              <a:rPr lang="en-US" sz="1200" dirty="0">
                <a:solidFill>
                  <a:srgbClr val="F8FAFC"/>
                </a:solidFill>
                <a:latin typeface="Calibri" pitchFamily="34" charset="0"/>
                <a:ea typeface="Calibri" pitchFamily="34" charset="-122"/>
                <a:cs typeface="Calibri" pitchFamily="34" charset="-120"/>
              </a:rPr>
              <a:t>Claude Code</a:t>
            </a:r>
            <a:endParaRPr lang="en-US" sz="1200" dirty="0"/>
          </a:p>
        </p:txBody>
      </p:sp>
      <p:sp>
        <p:nvSpPr>
          <p:cNvPr id="8" name="Shape 6"/>
          <p:cNvSpPr/>
          <p:nvPr/>
        </p:nvSpPr>
        <p:spPr>
          <a:xfrm>
            <a:off x="2103120" y="1805940"/>
            <a:ext cx="1371600" cy="0"/>
          </a:xfrm>
          <a:prstGeom prst="line">
            <a:avLst/>
          </a:prstGeom>
          <a:noFill/>
          <a:ln w="25400">
            <a:solidFill>
              <a:srgbClr val="10B981"/>
            </a:solidFill>
            <a:prstDash val="solid"/>
          </a:ln>
        </p:spPr>
      </p:sp>
      <p:sp>
        <p:nvSpPr>
          <p:cNvPr id="9" name="Shape 7"/>
          <p:cNvSpPr/>
          <p:nvPr/>
        </p:nvSpPr>
        <p:spPr>
          <a:xfrm>
            <a:off x="457200" y="2377440"/>
            <a:ext cx="1645920" cy="502920"/>
          </a:xfrm>
          <a:prstGeom prst="roundRect">
            <a:avLst>
              <a:gd name="adj" fmla="val 14545"/>
            </a:avLst>
          </a:prstGeom>
          <a:solidFill>
            <a:srgbClr val="1E293B"/>
          </a:solidFill>
          <a:ln/>
        </p:spPr>
      </p:sp>
      <p:sp>
        <p:nvSpPr>
          <p:cNvPr id="10" name="Text 8"/>
          <p:cNvSpPr/>
          <p:nvPr/>
        </p:nvSpPr>
        <p:spPr>
          <a:xfrm>
            <a:off x="457200" y="2377440"/>
            <a:ext cx="1645920" cy="502920"/>
          </a:xfrm>
          <a:prstGeom prst="rect">
            <a:avLst/>
          </a:prstGeom>
          <a:noFill/>
          <a:ln/>
        </p:spPr>
        <p:txBody>
          <a:bodyPr wrap="square" lIns="0" tIns="0" rIns="0" bIns="0" rtlCol="0" anchor="ctr"/>
          <a:lstStyle/>
          <a:p>
            <a:pPr algn="ctr" indent="0" marL="0">
              <a:buNone/>
            </a:pPr>
            <a:r>
              <a:rPr lang="en-US" sz="1200" dirty="0">
                <a:solidFill>
                  <a:srgbClr val="F8FAFC"/>
                </a:solidFill>
                <a:latin typeface="Calibri" pitchFamily="34" charset="0"/>
                <a:ea typeface="Calibri" pitchFamily="34" charset="-122"/>
                <a:cs typeface="Calibri" pitchFamily="34" charset="-120"/>
              </a:rPr>
              <a:t>Claude Desktop</a:t>
            </a:r>
            <a:endParaRPr lang="en-US" sz="1200" dirty="0"/>
          </a:p>
        </p:txBody>
      </p:sp>
      <p:sp>
        <p:nvSpPr>
          <p:cNvPr id="11" name="Shape 9"/>
          <p:cNvSpPr/>
          <p:nvPr/>
        </p:nvSpPr>
        <p:spPr>
          <a:xfrm>
            <a:off x="2103120" y="2628900"/>
            <a:ext cx="1371600" cy="0"/>
          </a:xfrm>
          <a:prstGeom prst="line">
            <a:avLst/>
          </a:prstGeom>
          <a:noFill/>
          <a:ln w="25400">
            <a:solidFill>
              <a:srgbClr val="10B981"/>
            </a:solidFill>
            <a:prstDash val="solid"/>
          </a:ln>
        </p:spPr>
      </p:sp>
      <p:sp>
        <p:nvSpPr>
          <p:cNvPr id="12" name="Shape 10"/>
          <p:cNvSpPr/>
          <p:nvPr/>
        </p:nvSpPr>
        <p:spPr>
          <a:xfrm>
            <a:off x="457200" y="3200400"/>
            <a:ext cx="1645920" cy="502920"/>
          </a:xfrm>
          <a:prstGeom prst="roundRect">
            <a:avLst>
              <a:gd name="adj" fmla="val 14545"/>
            </a:avLst>
          </a:prstGeom>
          <a:solidFill>
            <a:srgbClr val="1E293B"/>
          </a:solidFill>
          <a:ln/>
        </p:spPr>
      </p:sp>
      <p:sp>
        <p:nvSpPr>
          <p:cNvPr id="13" name="Text 11"/>
          <p:cNvSpPr/>
          <p:nvPr/>
        </p:nvSpPr>
        <p:spPr>
          <a:xfrm>
            <a:off x="457200" y="3200400"/>
            <a:ext cx="1645920" cy="502920"/>
          </a:xfrm>
          <a:prstGeom prst="rect">
            <a:avLst/>
          </a:prstGeom>
          <a:noFill/>
          <a:ln/>
        </p:spPr>
        <p:txBody>
          <a:bodyPr wrap="square" lIns="0" tIns="0" rIns="0" bIns="0" rtlCol="0" anchor="ctr"/>
          <a:lstStyle/>
          <a:p>
            <a:pPr algn="ctr" indent="0" marL="0">
              <a:buNone/>
            </a:pPr>
            <a:r>
              <a:rPr lang="en-US" sz="1200" dirty="0">
                <a:solidFill>
                  <a:srgbClr val="F8FAFC"/>
                </a:solidFill>
                <a:latin typeface="Calibri" pitchFamily="34" charset="0"/>
                <a:ea typeface="Calibri" pitchFamily="34" charset="-122"/>
                <a:cs typeface="Calibri" pitchFamily="34" charset="-120"/>
              </a:rPr>
              <a:t>Cursor</a:t>
            </a:r>
            <a:endParaRPr lang="en-US" sz="1200" dirty="0"/>
          </a:p>
        </p:txBody>
      </p:sp>
      <p:sp>
        <p:nvSpPr>
          <p:cNvPr id="14" name="Shape 12"/>
          <p:cNvSpPr/>
          <p:nvPr/>
        </p:nvSpPr>
        <p:spPr>
          <a:xfrm>
            <a:off x="2103120" y="3451860"/>
            <a:ext cx="1371600" cy="0"/>
          </a:xfrm>
          <a:prstGeom prst="line">
            <a:avLst/>
          </a:prstGeom>
          <a:noFill/>
          <a:ln w="25400">
            <a:solidFill>
              <a:srgbClr val="10B981"/>
            </a:solidFill>
            <a:prstDash val="solid"/>
          </a:ln>
        </p:spPr>
      </p:sp>
      <p:sp>
        <p:nvSpPr>
          <p:cNvPr id="15" name="Shape 13"/>
          <p:cNvSpPr/>
          <p:nvPr/>
        </p:nvSpPr>
        <p:spPr>
          <a:xfrm>
            <a:off x="6858000" y="1188720"/>
            <a:ext cx="1828800" cy="502920"/>
          </a:xfrm>
          <a:prstGeom prst="roundRect">
            <a:avLst>
              <a:gd name="adj" fmla="val 14545"/>
            </a:avLst>
          </a:prstGeom>
          <a:solidFill>
            <a:srgbClr val="1E293B"/>
          </a:solidFill>
          <a:ln/>
        </p:spPr>
      </p:sp>
      <p:sp>
        <p:nvSpPr>
          <p:cNvPr id="16" name="Text 14"/>
          <p:cNvSpPr/>
          <p:nvPr/>
        </p:nvSpPr>
        <p:spPr>
          <a:xfrm>
            <a:off x="6858000" y="1188720"/>
            <a:ext cx="1828800" cy="502920"/>
          </a:xfrm>
          <a:prstGeom prst="rect">
            <a:avLst/>
          </a:prstGeom>
          <a:noFill/>
          <a:ln/>
        </p:spPr>
        <p:txBody>
          <a:bodyPr wrap="square" lIns="0" tIns="0" rIns="0" bIns="0"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ADO</a:t>
            </a:r>
            <a:pPr algn="ctr" indent="0" marL="0">
              <a:buNone/>
            </a:pPr>
            <a:r>
              <a:rPr lang="en-US" sz="1000" dirty="0">
                <a:solidFill>
                  <a:srgbClr val="94A3B8"/>
                </a:solidFill>
                <a:latin typeface="Calibri" pitchFamily="34" charset="0"/>
                <a:ea typeface="Calibri" pitchFamily="34" charset="-122"/>
                <a:cs typeface="Calibri" pitchFamily="34" charset="-120"/>
              </a:rPr>
              <a:t>  37 tools</a:t>
            </a:r>
            <a:endParaRPr lang="en-US" sz="1200" dirty="0"/>
          </a:p>
        </p:txBody>
      </p:sp>
      <p:sp>
        <p:nvSpPr>
          <p:cNvPr id="17" name="Shape 15"/>
          <p:cNvSpPr/>
          <p:nvPr/>
        </p:nvSpPr>
        <p:spPr>
          <a:xfrm flipV="1">
            <a:off x="5669280" y="2468880"/>
            <a:ext cx="1188720" cy="-1028700"/>
          </a:xfrm>
          <a:prstGeom prst="line">
            <a:avLst/>
          </a:prstGeom>
          <a:noFill/>
          <a:ln w="25400">
            <a:solidFill>
              <a:srgbClr val="06B6D4"/>
            </a:solidFill>
            <a:prstDash val="solid"/>
          </a:ln>
        </p:spPr>
      </p:sp>
      <p:sp>
        <p:nvSpPr>
          <p:cNvPr id="18" name="Shape 16"/>
          <p:cNvSpPr/>
          <p:nvPr/>
        </p:nvSpPr>
        <p:spPr>
          <a:xfrm>
            <a:off x="6858000" y="1938528"/>
            <a:ext cx="1828800" cy="502920"/>
          </a:xfrm>
          <a:prstGeom prst="roundRect">
            <a:avLst>
              <a:gd name="adj" fmla="val 14545"/>
            </a:avLst>
          </a:prstGeom>
          <a:solidFill>
            <a:srgbClr val="1E293B"/>
          </a:solidFill>
          <a:ln/>
        </p:spPr>
      </p:sp>
      <p:sp>
        <p:nvSpPr>
          <p:cNvPr id="19" name="Text 17"/>
          <p:cNvSpPr/>
          <p:nvPr/>
        </p:nvSpPr>
        <p:spPr>
          <a:xfrm>
            <a:off x="6858000" y="1938528"/>
            <a:ext cx="1828800" cy="502920"/>
          </a:xfrm>
          <a:prstGeom prst="rect">
            <a:avLst/>
          </a:prstGeom>
          <a:noFill/>
          <a:ln/>
        </p:spPr>
        <p:txBody>
          <a:bodyPr wrap="square" lIns="0" tIns="0" rIns="0" bIns="0"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Notion</a:t>
            </a:r>
            <a:pPr algn="ctr" indent="0" marL="0">
              <a:buNone/>
            </a:pPr>
            <a:r>
              <a:rPr lang="en-US" sz="1000" dirty="0">
                <a:solidFill>
                  <a:srgbClr val="94A3B8"/>
                </a:solidFill>
                <a:latin typeface="Calibri" pitchFamily="34" charset="0"/>
                <a:ea typeface="Calibri" pitchFamily="34" charset="-122"/>
                <a:cs typeface="Calibri" pitchFamily="34" charset="-120"/>
              </a:rPr>
              <a:t>  18 tools</a:t>
            </a:r>
            <a:endParaRPr lang="en-US" sz="1200" dirty="0"/>
          </a:p>
        </p:txBody>
      </p:sp>
      <p:sp>
        <p:nvSpPr>
          <p:cNvPr id="20" name="Shape 18"/>
          <p:cNvSpPr/>
          <p:nvPr/>
        </p:nvSpPr>
        <p:spPr>
          <a:xfrm flipV="1">
            <a:off x="5669280" y="2468880"/>
            <a:ext cx="1188720" cy="-278892"/>
          </a:xfrm>
          <a:prstGeom prst="line">
            <a:avLst/>
          </a:prstGeom>
          <a:noFill/>
          <a:ln w="25400">
            <a:solidFill>
              <a:srgbClr val="06B6D4"/>
            </a:solidFill>
            <a:prstDash val="solid"/>
          </a:ln>
        </p:spPr>
      </p:sp>
      <p:sp>
        <p:nvSpPr>
          <p:cNvPr id="21" name="Shape 19"/>
          <p:cNvSpPr/>
          <p:nvPr/>
        </p:nvSpPr>
        <p:spPr>
          <a:xfrm>
            <a:off x="6858000" y="2688336"/>
            <a:ext cx="1828800" cy="502920"/>
          </a:xfrm>
          <a:prstGeom prst="roundRect">
            <a:avLst>
              <a:gd name="adj" fmla="val 14545"/>
            </a:avLst>
          </a:prstGeom>
          <a:solidFill>
            <a:srgbClr val="1E293B"/>
          </a:solidFill>
          <a:ln/>
        </p:spPr>
      </p:sp>
      <p:sp>
        <p:nvSpPr>
          <p:cNvPr id="22" name="Text 20"/>
          <p:cNvSpPr/>
          <p:nvPr/>
        </p:nvSpPr>
        <p:spPr>
          <a:xfrm>
            <a:off x="6858000" y="2688336"/>
            <a:ext cx="1828800" cy="502920"/>
          </a:xfrm>
          <a:prstGeom prst="rect">
            <a:avLst/>
          </a:prstGeom>
          <a:noFill/>
          <a:ln/>
        </p:spPr>
        <p:txBody>
          <a:bodyPr wrap="square" lIns="0" tIns="0" rIns="0" bIns="0"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Driver</a:t>
            </a:r>
            <a:pPr algn="ctr" indent="0" marL="0">
              <a:buNone/>
            </a:pPr>
            <a:r>
              <a:rPr lang="en-US" sz="1000" dirty="0">
                <a:solidFill>
                  <a:srgbClr val="94A3B8"/>
                </a:solidFill>
                <a:latin typeface="Calibri" pitchFamily="34" charset="0"/>
                <a:ea typeface="Calibri" pitchFamily="34" charset="-122"/>
                <a:cs typeface="Calibri" pitchFamily="34" charset="-120"/>
              </a:rPr>
              <a:t>  14 tools</a:t>
            </a:r>
            <a:endParaRPr lang="en-US" sz="1200" dirty="0"/>
          </a:p>
        </p:txBody>
      </p:sp>
      <p:sp>
        <p:nvSpPr>
          <p:cNvPr id="23" name="Shape 21"/>
          <p:cNvSpPr/>
          <p:nvPr/>
        </p:nvSpPr>
        <p:spPr>
          <a:xfrm>
            <a:off x="5669280" y="2468880"/>
            <a:ext cx="1188720" cy="470916"/>
          </a:xfrm>
          <a:prstGeom prst="line">
            <a:avLst/>
          </a:prstGeom>
          <a:noFill/>
          <a:ln w="25400">
            <a:solidFill>
              <a:srgbClr val="06B6D4"/>
            </a:solidFill>
            <a:prstDash val="solid"/>
          </a:ln>
        </p:spPr>
      </p:sp>
      <p:sp>
        <p:nvSpPr>
          <p:cNvPr id="24" name="Shape 22"/>
          <p:cNvSpPr/>
          <p:nvPr/>
        </p:nvSpPr>
        <p:spPr>
          <a:xfrm>
            <a:off x="6858000" y="3438144"/>
            <a:ext cx="1828800" cy="502920"/>
          </a:xfrm>
          <a:prstGeom prst="roundRect">
            <a:avLst>
              <a:gd name="adj" fmla="val 14545"/>
            </a:avLst>
          </a:prstGeom>
          <a:solidFill>
            <a:srgbClr val="1E293B"/>
          </a:solidFill>
          <a:ln/>
        </p:spPr>
      </p:sp>
      <p:sp>
        <p:nvSpPr>
          <p:cNvPr id="25" name="Text 23"/>
          <p:cNvSpPr/>
          <p:nvPr/>
        </p:nvSpPr>
        <p:spPr>
          <a:xfrm>
            <a:off x="6858000" y="3438144"/>
            <a:ext cx="1828800" cy="502920"/>
          </a:xfrm>
          <a:prstGeom prst="rect">
            <a:avLst/>
          </a:prstGeom>
          <a:noFill/>
          <a:ln/>
        </p:spPr>
        <p:txBody>
          <a:bodyPr wrap="square" lIns="0" tIns="0" rIns="0" bIns="0"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Yuki IA</a:t>
            </a:r>
            <a:pPr algn="ctr" indent="0" marL="0">
              <a:buNone/>
            </a:pPr>
            <a:r>
              <a:rPr lang="en-US" sz="1000" dirty="0">
                <a:solidFill>
                  <a:srgbClr val="94A3B8"/>
                </a:solidFill>
                <a:latin typeface="Calibri" pitchFamily="34" charset="0"/>
                <a:ea typeface="Calibri" pitchFamily="34" charset="-122"/>
                <a:cs typeface="Calibri" pitchFamily="34" charset="-120"/>
              </a:rPr>
              <a:t>  12 tools</a:t>
            </a:r>
            <a:endParaRPr lang="en-US" sz="1200" dirty="0"/>
          </a:p>
        </p:txBody>
      </p:sp>
      <p:sp>
        <p:nvSpPr>
          <p:cNvPr id="26" name="Shape 24"/>
          <p:cNvSpPr/>
          <p:nvPr/>
        </p:nvSpPr>
        <p:spPr>
          <a:xfrm>
            <a:off x="5669280" y="2468880"/>
            <a:ext cx="1188720" cy="1220724"/>
          </a:xfrm>
          <a:prstGeom prst="line">
            <a:avLst/>
          </a:prstGeom>
          <a:noFill/>
          <a:ln w="25400">
            <a:solidFill>
              <a:srgbClr val="06B6D4"/>
            </a:solidFill>
            <a:prstDash val="solid"/>
          </a:ln>
        </p:spPr>
      </p:sp>
      <p:sp>
        <p:nvSpPr>
          <p:cNvPr id="27" name="Shape 25"/>
          <p:cNvSpPr/>
          <p:nvPr/>
        </p:nvSpPr>
        <p:spPr>
          <a:xfrm>
            <a:off x="2560320" y="3474720"/>
            <a:ext cx="1645920" cy="502920"/>
          </a:xfrm>
          <a:prstGeom prst="roundRect">
            <a:avLst>
              <a:gd name="adj" fmla="val 14545"/>
            </a:avLst>
          </a:prstGeom>
          <a:solidFill>
            <a:srgbClr val="1E293B"/>
          </a:solidFill>
          <a:ln/>
        </p:spPr>
      </p:sp>
      <p:pic>
        <p:nvPicPr>
          <p:cNvPr id="28" name="Image 0" descr="preencoded.png">    </p:cNvPr>
          <p:cNvPicPr>
            <a:picLocks noChangeAspect="1"/>
          </p:cNvPicPr>
          <p:nvPr/>
        </p:nvPicPr>
        <p:blipFill>
          <a:blip r:embed="rId1"/>
          <a:stretch>
            <a:fillRect/>
          </a:stretch>
        </p:blipFill>
        <p:spPr>
          <a:xfrm>
            <a:off x="2697480" y="3547872"/>
            <a:ext cx="320040" cy="320040"/>
          </a:xfrm>
          <a:prstGeom prst="rect">
            <a:avLst/>
          </a:prstGeom>
        </p:spPr>
      </p:pic>
      <p:sp>
        <p:nvSpPr>
          <p:cNvPr id="29" name="Text 26"/>
          <p:cNvSpPr/>
          <p:nvPr/>
        </p:nvSpPr>
        <p:spPr>
          <a:xfrm>
            <a:off x="3063240" y="3474720"/>
            <a:ext cx="1097280" cy="502920"/>
          </a:xfrm>
          <a:prstGeom prst="rect">
            <a:avLst/>
          </a:prstGeom>
          <a:noFill/>
          <a:ln/>
        </p:spPr>
        <p:txBody>
          <a:bodyPr wrap="square" lIns="0" tIns="0" rIns="0" bIns="0" rtlCol="0" anchor="ctr"/>
          <a:lstStyle/>
          <a:p>
            <a:pPr indent="0" marL="0">
              <a:buNone/>
            </a:pPr>
            <a:r>
              <a:rPr lang="en-US" sz="1100" dirty="0">
                <a:solidFill>
                  <a:srgbClr val="06B6D4"/>
                </a:solidFill>
                <a:latin typeface="Calibri" pitchFamily="34" charset="0"/>
                <a:ea typeface="Calibri" pitchFamily="34" charset="-122"/>
                <a:cs typeface="Calibri" pitchFamily="34" charset="-120"/>
              </a:rPr>
              <a:t>Docs + RAG</a:t>
            </a:r>
            <a:endParaRPr lang="en-US" sz="1100" dirty="0"/>
          </a:p>
        </p:txBody>
      </p:sp>
      <p:sp>
        <p:nvSpPr>
          <p:cNvPr id="30" name="Shape 27"/>
          <p:cNvSpPr/>
          <p:nvPr/>
        </p:nvSpPr>
        <p:spPr>
          <a:xfrm>
            <a:off x="4754880" y="3474720"/>
            <a:ext cx="1645920" cy="502920"/>
          </a:xfrm>
          <a:prstGeom prst="roundRect">
            <a:avLst>
              <a:gd name="adj" fmla="val 14545"/>
            </a:avLst>
          </a:prstGeom>
          <a:solidFill>
            <a:srgbClr val="1E293B"/>
          </a:solidFill>
          <a:ln/>
        </p:spPr>
      </p:sp>
      <p:pic>
        <p:nvPicPr>
          <p:cNvPr id="31" name="Image 1" descr="preencoded.png">    </p:cNvPr>
          <p:cNvPicPr>
            <a:picLocks noChangeAspect="1"/>
          </p:cNvPicPr>
          <p:nvPr/>
        </p:nvPicPr>
        <p:blipFill>
          <a:blip r:embed="rId2"/>
          <a:stretch>
            <a:fillRect/>
          </a:stretch>
        </p:blipFill>
        <p:spPr>
          <a:xfrm>
            <a:off x="4892040" y="3547872"/>
            <a:ext cx="320040" cy="320040"/>
          </a:xfrm>
          <a:prstGeom prst="rect">
            <a:avLst/>
          </a:prstGeom>
        </p:spPr>
      </p:pic>
      <p:sp>
        <p:nvSpPr>
          <p:cNvPr id="32" name="Text 28"/>
          <p:cNvSpPr/>
          <p:nvPr/>
        </p:nvSpPr>
        <p:spPr>
          <a:xfrm>
            <a:off x="5257800" y="3474720"/>
            <a:ext cx="1097280" cy="502920"/>
          </a:xfrm>
          <a:prstGeom prst="rect">
            <a:avLst/>
          </a:prstGeom>
          <a:noFill/>
          <a:ln/>
        </p:spPr>
        <p:txBody>
          <a:bodyPr wrap="square" lIns="0" tIns="0" rIns="0" bIns="0" rtlCol="0" anchor="ctr"/>
          <a:lstStyle/>
          <a:p>
            <a:pPr indent="0" marL="0">
              <a:buNone/>
            </a:pPr>
            <a:r>
              <a:rPr lang="en-US" sz="1100" dirty="0">
                <a:solidFill>
                  <a:srgbClr val="8B5CF6"/>
                </a:solidFill>
                <a:latin typeface="Calibri" pitchFamily="34" charset="0"/>
                <a:ea typeface="Calibri" pitchFamily="34" charset="-122"/>
                <a:cs typeface="Calibri" pitchFamily="34" charset="-120"/>
              </a:rPr>
              <a:t>Skills</a:t>
            </a:r>
            <a:endParaRPr lang="en-US" sz="1100" dirty="0"/>
          </a:p>
        </p:txBody>
      </p:sp>
      <p:sp>
        <p:nvSpPr>
          <p:cNvPr id="33" name="Text 29"/>
          <p:cNvSpPr/>
          <p:nvPr/>
        </p:nvSpPr>
        <p:spPr>
          <a:xfrm>
            <a:off x="1371600" y="4297680"/>
            <a:ext cx="6400800" cy="457200"/>
          </a:xfrm>
          <a:prstGeom prst="rect">
            <a:avLst/>
          </a:prstGeom>
          <a:noFill/>
          <a:ln/>
        </p:spPr>
        <p:txBody>
          <a:bodyPr wrap="square" lIns="0" tIns="0" rIns="0" bIns="0" rtlCol="0" anchor="ctr"/>
          <a:lstStyle/>
          <a:p>
            <a:pPr algn="ctr" indent="0" marL="0">
              <a:buNone/>
            </a:pPr>
            <a:r>
              <a:rPr lang="en-US" sz="1600" b="1" dirty="0">
                <a:solidFill>
                  <a:srgbClr val="F97316"/>
                </a:solidFill>
                <a:latin typeface="Calibri" pitchFamily="34" charset="0"/>
                <a:ea typeface="Calibri" pitchFamily="34" charset="-122"/>
                <a:cs typeface="Calibri" pitchFamily="34" charset="-120"/>
              </a:rPr>
              <a:t>You configure ONE MCP connection. ctxlayer handles the rest.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What ctxlayer gives you</a:t>
            </a:r>
            <a:endParaRPr lang="en-US" sz="3600" dirty="0"/>
          </a:p>
        </p:txBody>
      </p:sp>
      <p:sp>
        <p:nvSpPr>
          <p:cNvPr id="3" name="Shape 1"/>
          <p:cNvSpPr/>
          <p:nvPr/>
        </p:nvSpPr>
        <p:spPr>
          <a:xfrm>
            <a:off x="457200" y="1188720"/>
            <a:ext cx="1965960" cy="3200400"/>
          </a:xfrm>
          <a:prstGeom prst="roundRect">
            <a:avLst>
              <a:gd name="adj" fmla="val 5581"/>
            </a:avLst>
          </a:prstGeom>
          <a:solidFill>
            <a:srgbClr val="1E293B"/>
          </a:solidFill>
          <a:ln/>
          <a:effectLst>
            <a:outerShdw sx="100000" sy="100000" kx="0" ky="0" algn="bl" rotWithShape="0" blurRad="101600" dist="38100" dir="2700000">
              <a:srgbClr val="000000">
                <a:alpha val="25000"/>
              </a:srgbClr>
            </a:outerShdw>
          </a:effectLst>
        </p:spPr>
      </p:sp>
      <p:sp>
        <p:nvSpPr>
          <p:cNvPr id="4" name="Shape 2"/>
          <p:cNvSpPr/>
          <p:nvPr/>
        </p:nvSpPr>
        <p:spPr>
          <a:xfrm>
            <a:off x="1120140" y="1417320"/>
            <a:ext cx="640080" cy="640080"/>
          </a:xfrm>
          <a:prstGeom prst="ellipse">
            <a:avLst/>
          </a:prstGeom>
          <a:solidFill>
            <a:srgbClr val="06B6D4">
              <a:alpha val="80000"/>
            </a:srgbClr>
          </a:solidFill>
          <a:ln/>
        </p:spPr>
      </p:sp>
      <p:pic>
        <p:nvPicPr>
          <p:cNvPr id="5" name="Image 0" descr="preencoded.png">    </p:cNvPr>
          <p:cNvPicPr>
            <a:picLocks noChangeAspect="1"/>
          </p:cNvPicPr>
          <p:nvPr/>
        </p:nvPicPr>
        <p:blipFill>
          <a:blip r:embed="rId1"/>
          <a:stretch>
            <a:fillRect/>
          </a:stretch>
        </p:blipFill>
        <p:spPr>
          <a:xfrm>
            <a:off x="1234440" y="1536192"/>
            <a:ext cx="411480" cy="411480"/>
          </a:xfrm>
          <a:prstGeom prst="rect">
            <a:avLst/>
          </a:prstGeom>
        </p:spPr>
      </p:pic>
      <p:sp>
        <p:nvSpPr>
          <p:cNvPr id="6" name="Text 3"/>
          <p:cNvSpPr/>
          <p:nvPr/>
        </p:nvSpPr>
        <p:spPr>
          <a:xfrm>
            <a:off x="457200" y="2240280"/>
            <a:ext cx="1965960" cy="457200"/>
          </a:xfrm>
          <a:prstGeom prst="rect">
            <a:avLst/>
          </a:prstGeom>
          <a:noFill/>
          <a:ln/>
        </p:spPr>
        <p:txBody>
          <a:bodyPr wrap="square" lIns="0" tIns="0" rIns="0" bIns="0" rtlCol="0" anchor="ctr"/>
          <a:lstStyle/>
          <a:p>
            <a:pPr algn="ctr" indent="0" marL="0">
              <a:buNone/>
            </a:pPr>
            <a:r>
              <a:rPr lang="en-US" sz="1600" b="1" dirty="0">
                <a:solidFill>
                  <a:srgbClr val="F8FAFC"/>
                </a:solidFill>
                <a:latin typeface="Calibri" pitchFamily="34" charset="0"/>
                <a:ea typeface="Calibri" pitchFamily="34" charset="-122"/>
                <a:cs typeface="Calibri" pitchFamily="34" charset="-120"/>
              </a:rPr>
              <a:t>Context Docs</a:t>
            </a:r>
            <a:endParaRPr lang="en-US" sz="1600" dirty="0"/>
          </a:p>
        </p:txBody>
      </p:sp>
      <p:sp>
        <p:nvSpPr>
          <p:cNvPr id="7" name="Text 4"/>
          <p:cNvSpPr/>
          <p:nvPr/>
        </p:nvSpPr>
        <p:spPr>
          <a:xfrm>
            <a:off x="548640" y="2743200"/>
            <a:ext cx="1783080" cy="64008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Shared org knowledge</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the agent can search</a:t>
            </a:r>
            <a:endParaRPr lang="en-US" sz="1200" dirty="0"/>
          </a:p>
        </p:txBody>
      </p:sp>
      <p:sp>
        <p:nvSpPr>
          <p:cNvPr id="8" name="Text 5"/>
          <p:cNvSpPr/>
          <p:nvPr/>
        </p:nvSpPr>
        <p:spPr>
          <a:xfrm>
            <a:off x="548640" y="3474720"/>
            <a:ext cx="1783080" cy="640080"/>
          </a:xfrm>
          <a:prstGeom prst="rect">
            <a:avLst/>
          </a:prstGeom>
          <a:noFill/>
          <a:ln/>
        </p:spPr>
        <p:txBody>
          <a:bodyPr wrap="square" lIns="0" tIns="0" rIns="0" bIns="0" rtlCol="0" anchor="ctr"/>
          <a:lstStyle/>
          <a:p>
            <a:pPr algn="ctr" indent="0" marL="0">
              <a:buNone/>
            </a:pPr>
            <a:r>
              <a:rPr lang="en-US" sz="1100" i="1" dirty="0">
                <a:solidFill>
                  <a:srgbClr val="06B6D4"/>
                </a:solidFill>
                <a:latin typeface="Calibri" pitchFamily="34" charset="0"/>
                <a:ea typeface="Calibri" pitchFamily="34" charset="-122"/>
                <a:cs typeface="Calibri" pitchFamily="34" charset="-120"/>
              </a:rPr>
              <a:t>"What's our Peppol spec?" → agent finds it</a:t>
            </a:r>
            <a:endParaRPr lang="en-US" sz="1100" dirty="0"/>
          </a:p>
        </p:txBody>
      </p:sp>
      <p:sp>
        <p:nvSpPr>
          <p:cNvPr id="9" name="Shape 6"/>
          <p:cNvSpPr/>
          <p:nvPr/>
        </p:nvSpPr>
        <p:spPr>
          <a:xfrm>
            <a:off x="2606040" y="1188720"/>
            <a:ext cx="1965960" cy="3200400"/>
          </a:xfrm>
          <a:prstGeom prst="roundRect">
            <a:avLst>
              <a:gd name="adj" fmla="val 5581"/>
            </a:avLst>
          </a:prstGeom>
          <a:solidFill>
            <a:srgbClr val="1E293B"/>
          </a:solidFill>
          <a:ln/>
          <a:effectLst>
            <a:outerShdw sx="100000" sy="100000" kx="0" ky="0" algn="bl" rotWithShape="0" blurRad="101600" dist="38100" dir="2700000">
              <a:srgbClr val="000000">
                <a:alpha val="25000"/>
              </a:srgbClr>
            </a:outerShdw>
          </a:effectLst>
        </p:spPr>
      </p:sp>
      <p:sp>
        <p:nvSpPr>
          <p:cNvPr id="10" name="Shape 7"/>
          <p:cNvSpPr/>
          <p:nvPr/>
        </p:nvSpPr>
        <p:spPr>
          <a:xfrm>
            <a:off x="3268980" y="1417320"/>
            <a:ext cx="640080" cy="640080"/>
          </a:xfrm>
          <a:prstGeom prst="ellipse">
            <a:avLst/>
          </a:prstGeom>
          <a:solidFill>
            <a:srgbClr val="F97316">
              <a:alpha val="80000"/>
            </a:srgbClr>
          </a:solidFill>
          <a:ln/>
        </p:spPr>
      </p:sp>
      <p:pic>
        <p:nvPicPr>
          <p:cNvPr id="11" name="Image 1" descr="preencoded.png">    </p:cNvPr>
          <p:cNvPicPr>
            <a:picLocks noChangeAspect="1"/>
          </p:cNvPicPr>
          <p:nvPr/>
        </p:nvPicPr>
        <p:blipFill>
          <a:blip r:embed="rId2"/>
          <a:stretch>
            <a:fillRect/>
          </a:stretch>
        </p:blipFill>
        <p:spPr>
          <a:xfrm>
            <a:off x="3383280" y="1536192"/>
            <a:ext cx="411480" cy="411480"/>
          </a:xfrm>
          <a:prstGeom prst="rect">
            <a:avLst/>
          </a:prstGeom>
        </p:spPr>
      </p:pic>
      <p:sp>
        <p:nvSpPr>
          <p:cNvPr id="12" name="Text 8"/>
          <p:cNvSpPr/>
          <p:nvPr/>
        </p:nvSpPr>
        <p:spPr>
          <a:xfrm>
            <a:off x="2606040" y="2240280"/>
            <a:ext cx="1965960" cy="457200"/>
          </a:xfrm>
          <a:prstGeom prst="rect">
            <a:avLst/>
          </a:prstGeom>
          <a:noFill/>
          <a:ln/>
        </p:spPr>
        <p:txBody>
          <a:bodyPr wrap="square" lIns="0" tIns="0" rIns="0" bIns="0" rtlCol="0" anchor="ctr"/>
          <a:lstStyle/>
          <a:p>
            <a:pPr algn="ctr" indent="0" marL="0">
              <a:buNone/>
            </a:pPr>
            <a:r>
              <a:rPr lang="en-US" sz="1600" b="1" dirty="0">
                <a:solidFill>
                  <a:srgbClr val="F8FAFC"/>
                </a:solidFill>
                <a:latin typeface="Calibri" pitchFamily="34" charset="0"/>
                <a:ea typeface="Calibri" pitchFamily="34" charset="-122"/>
                <a:cs typeface="Calibri" pitchFamily="34" charset="-120"/>
              </a:rPr>
              <a:t>Upstreams</a:t>
            </a:r>
            <a:endParaRPr lang="en-US" sz="1600" dirty="0"/>
          </a:p>
        </p:txBody>
      </p:sp>
      <p:sp>
        <p:nvSpPr>
          <p:cNvPr id="13" name="Text 9"/>
          <p:cNvSpPr/>
          <p:nvPr/>
        </p:nvSpPr>
        <p:spPr>
          <a:xfrm>
            <a:off x="2697480" y="2743200"/>
            <a:ext cx="1783080" cy="64008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Proxied MCP servers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centralised credentials</a:t>
            </a:r>
            <a:endParaRPr lang="en-US" sz="1200" dirty="0"/>
          </a:p>
        </p:txBody>
      </p:sp>
      <p:sp>
        <p:nvSpPr>
          <p:cNvPr id="14" name="Text 10"/>
          <p:cNvSpPr/>
          <p:nvPr/>
        </p:nvSpPr>
        <p:spPr>
          <a:xfrm>
            <a:off x="2697480" y="3474720"/>
            <a:ext cx="1783080" cy="640080"/>
          </a:xfrm>
          <a:prstGeom prst="rect">
            <a:avLst/>
          </a:prstGeom>
          <a:noFill/>
          <a:ln/>
        </p:spPr>
        <p:txBody>
          <a:bodyPr wrap="square" lIns="0" tIns="0" rIns="0" bIns="0" rtlCol="0" anchor="ctr"/>
          <a:lstStyle/>
          <a:p>
            <a:pPr algn="ctr" indent="0" marL="0">
              <a:buNone/>
            </a:pPr>
            <a:r>
              <a:rPr lang="en-US" sz="1100" i="1" dirty="0">
                <a:solidFill>
                  <a:srgbClr val="F97316"/>
                </a:solidFill>
                <a:latin typeface="Calibri" pitchFamily="34" charset="0"/>
                <a:ea typeface="Calibri" pitchFamily="34" charset="-122"/>
                <a:cs typeface="Calibri" pitchFamily="34" charset="-120"/>
              </a:rPr>
              <a:t>81 tools, 4 services, one connection</a:t>
            </a:r>
            <a:endParaRPr lang="en-US" sz="1100" dirty="0"/>
          </a:p>
        </p:txBody>
      </p:sp>
      <p:sp>
        <p:nvSpPr>
          <p:cNvPr id="15" name="Shape 11"/>
          <p:cNvSpPr/>
          <p:nvPr/>
        </p:nvSpPr>
        <p:spPr>
          <a:xfrm>
            <a:off x="4754880" y="1188720"/>
            <a:ext cx="1965960" cy="3200400"/>
          </a:xfrm>
          <a:prstGeom prst="roundRect">
            <a:avLst>
              <a:gd name="adj" fmla="val 5581"/>
            </a:avLst>
          </a:prstGeom>
          <a:solidFill>
            <a:srgbClr val="1E293B"/>
          </a:solidFill>
          <a:ln/>
          <a:effectLst>
            <a:outerShdw sx="100000" sy="100000" kx="0" ky="0" algn="bl" rotWithShape="0" blurRad="101600" dist="38100" dir="2700000">
              <a:srgbClr val="000000">
                <a:alpha val="25000"/>
              </a:srgbClr>
            </a:outerShdw>
          </a:effectLst>
        </p:spPr>
      </p:sp>
      <p:sp>
        <p:nvSpPr>
          <p:cNvPr id="16" name="Shape 12"/>
          <p:cNvSpPr/>
          <p:nvPr/>
        </p:nvSpPr>
        <p:spPr>
          <a:xfrm>
            <a:off x="5417820" y="1417320"/>
            <a:ext cx="640080" cy="640080"/>
          </a:xfrm>
          <a:prstGeom prst="ellipse">
            <a:avLst/>
          </a:prstGeom>
          <a:solidFill>
            <a:srgbClr val="8B5CF6">
              <a:alpha val="80000"/>
            </a:srgbClr>
          </a:solidFill>
          <a:ln/>
        </p:spPr>
      </p:sp>
      <p:pic>
        <p:nvPicPr>
          <p:cNvPr id="17" name="Image 2" descr="preencoded.png">    </p:cNvPr>
          <p:cNvPicPr>
            <a:picLocks noChangeAspect="1"/>
          </p:cNvPicPr>
          <p:nvPr/>
        </p:nvPicPr>
        <p:blipFill>
          <a:blip r:embed="rId3"/>
          <a:stretch>
            <a:fillRect/>
          </a:stretch>
        </p:blipFill>
        <p:spPr>
          <a:xfrm>
            <a:off x="5532120" y="1536192"/>
            <a:ext cx="411480" cy="411480"/>
          </a:xfrm>
          <a:prstGeom prst="rect">
            <a:avLst/>
          </a:prstGeom>
        </p:spPr>
      </p:pic>
      <p:sp>
        <p:nvSpPr>
          <p:cNvPr id="18" name="Text 13"/>
          <p:cNvSpPr/>
          <p:nvPr/>
        </p:nvSpPr>
        <p:spPr>
          <a:xfrm>
            <a:off x="4754880" y="2240280"/>
            <a:ext cx="1965960" cy="457200"/>
          </a:xfrm>
          <a:prstGeom prst="rect">
            <a:avLst/>
          </a:prstGeom>
          <a:noFill/>
          <a:ln/>
        </p:spPr>
        <p:txBody>
          <a:bodyPr wrap="square" lIns="0" tIns="0" rIns="0" bIns="0" rtlCol="0" anchor="ctr"/>
          <a:lstStyle/>
          <a:p>
            <a:pPr algn="ctr" indent="0" marL="0">
              <a:buNone/>
            </a:pPr>
            <a:r>
              <a:rPr lang="en-US" sz="1600" b="1" dirty="0">
                <a:solidFill>
                  <a:srgbClr val="F8FAFC"/>
                </a:solidFill>
                <a:latin typeface="Calibri" pitchFamily="34" charset="0"/>
                <a:ea typeface="Calibri" pitchFamily="34" charset="-122"/>
                <a:cs typeface="Calibri" pitchFamily="34" charset="-120"/>
              </a:rPr>
              <a:t>Skills</a:t>
            </a:r>
            <a:endParaRPr lang="en-US" sz="1600" dirty="0"/>
          </a:p>
        </p:txBody>
      </p:sp>
      <p:sp>
        <p:nvSpPr>
          <p:cNvPr id="19" name="Text 14"/>
          <p:cNvSpPr/>
          <p:nvPr/>
        </p:nvSpPr>
        <p:spPr>
          <a:xfrm>
            <a:off x="4846320" y="2743200"/>
            <a:ext cx="1783080" cy="64008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Procedural playbooks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for "how we do X"</a:t>
            </a:r>
            <a:endParaRPr lang="en-US" sz="1200" dirty="0"/>
          </a:p>
        </p:txBody>
      </p:sp>
      <p:sp>
        <p:nvSpPr>
          <p:cNvPr id="20" name="Text 15"/>
          <p:cNvSpPr/>
          <p:nvPr/>
        </p:nvSpPr>
        <p:spPr>
          <a:xfrm>
            <a:off x="4846320" y="3474720"/>
            <a:ext cx="1783080" cy="640080"/>
          </a:xfrm>
          <a:prstGeom prst="rect">
            <a:avLst/>
          </a:prstGeom>
          <a:noFill/>
          <a:ln/>
        </p:spPr>
        <p:txBody>
          <a:bodyPr wrap="square" lIns="0" tIns="0" rIns="0" bIns="0" rtlCol="0" anchor="ctr"/>
          <a:lstStyle/>
          <a:p>
            <a:pPr algn="ctr" indent="0" marL="0">
              <a:buNone/>
            </a:pPr>
            <a:r>
              <a:rPr lang="en-US" sz="1100" i="1" dirty="0">
                <a:solidFill>
                  <a:srgbClr val="8B5CF6"/>
                </a:solidFill>
                <a:latin typeface="Calibri" pitchFamily="34" charset="0"/>
                <a:ea typeface="Calibri" pitchFamily="34" charset="-122"/>
                <a:cs typeface="Calibri" pitchFamily="34" charset="-120"/>
              </a:rPr>
              <a:t>"Triage a failed build" → recipe</a:t>
            </a:r>
            <a:endParaRPr lang="en-US" sz="1100" dirty="0"/>
          </a:p>
        </p:txBody>
      </p:sp>
      <p:sp>
        <p:nvSpPr>
          <p:cNvPr id="21" name="Shape 16"/>
          <p:cNvSpPr/>
          <p:nvPr/>
        </p:nvSpPr>
        <p:spPr>
          <a:xfrm>
            <a:off x="6903720" y="1188720"/>
            <a:ext cx="1965960" cy="3200400"/>
          </a:xfrm>
          <a:prstGeom prst="roundRect">
            <a:avLst>
              <a:gd name="adj" fmla="val 5581"/>
            </a:avLst>
          </a:prstGeom>
          <a:solidFill>
            <a:srgbClr val="1E293B"/>
          </a:solidFill>
          <a:ln/>
          <a:effectLst>
            <a:outerShdw sx="100000" sy="100000" kx="0" ky="0" algn="bl" rotWithShape="0" blurRad="101600" dist="38100" dir="2700000">
              <a:srgbClr val="000000">
                <a:alpha val="25000"/>
              </a:srgbClr>
            </a:outerShdw>
          </a:effectLst>
        </p:spPr>
      </p:sp>
      <p:sp>
        <p:nvSpPr>
          <p:cNvPr id="22" name="Shape 17"/>
          <p:cNvSpPr/>
          <p:nvPr/>
        </p:nvSpPr>
        <p:spPr>
          <a:xfrm>
            <a:off x="7566660" y="1417320"/>
            <a:ext cx="640080" cy="640080"/>
          </a:xfrm>
          <a:prstGeom prst="ellipse">
            <a:avLst/>
          </a:prstGeom>
          <a:solidFill>
            <a:srgbClr val="10B981">
              <a:alpha val="80000"/>
            </a:srgbClr>
          </a:solidFill>
          <a:ln/>
        </p:spPr>
      </p:sp>
      <p:pic>
        <p:nvPicPr>
          <p:cNvPr id="23" name="Image 3" descr="preencoded.png">    </p:cNvPr>
          <p:cNvPicPr>
            <a:picLocks noChangeAspect="1"/>
          </p:cNvPicPr>
          <p:nvPr/>
        </p:nvPicPr>
        <p:blipFill>
          <a:blip r:embed="rId4"/>
          <a:stretch>
            <a:fillRect/>
          </a:stretch>
        </p:blipFill>
        <p:spPr>
          <a:xfrm>
            <a:off x="7680960" y="1536192"/>
            <a:ext cx="411480" cy="411480"/>
          </a:xfrm>
          <a:prstGeom prst="rect">
            <a:avLst/>
          </a:prstGeom>
        </p:spPr>
      </p:pic>
      <p:sp>
        <p:nvSpPr>
          <p:cNvPr id="24" name="Text 18"/>
          <p:cNvSpPr/>
          <p:nvPr/>
        </p:nvSpPr>
        <p:spPr>
          <a:xfrm>
            <a:off x="6903720" y="2240280"/>
            <a:ext cx="1965960" cy="457200"/>
          </a:xfrm>
          <a:prstGeom prst="rect">
            <a:avLst/>
          </a:prstGeom>
          <a:noFill/>
          <a:ln/>
        </p:spPr>
        <p:txBody>
          <a:bodyPr wrap="square" lIns="0" tIns="0" rIns="0" bIns="0" rtlCol="0" anchor="ctr"/>
          <a:lstStyle/>
          <a:p>
            <a:pPr algn="ctr" indent="0" marL="0">
              <a:buNone/>
            </a:pPr>
            <a:r>
              <a:rPr lang="en-US" sz="1600" b="1" dirty="0">
                <a:solidFill>
                  <a:srgbClr val="F8FAFC"/>
                </a:solidFill>
                <a:latin typeface="Calibri" pitchFamily="34" charset="0"/>
                <a:ea typeface="Calibri" pitchFamily="34" charset="-122"/>
                <a:cs typeface="Calibri" pitchFamily="34" charset="-120"/>
              </a:rPr>
              <a:t>Governance</a:t>
            </a:r>
            <a:endParaRPr lang="en-US" sz="1600" dirty="0"/>
          </a:p>
        </p:txBody>
      </p:sp>
      <p:sp>
        <p:nvSpPr>
          <p:cNvPr id="25" name="Text 19"/>
          <p:cNvSpPr/>
          <p:nvPr/>
        </p:nvSpPr>
        <p:spPr>
          <a:xfrm>
            <a:off x="6995160" y="2743200"/>
            <a:ext cx="1783080" cy="64008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Visibility, access control,</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usage analytics</a:t>
            </a:r>
            <a:endParaRPr lang="en-US" sz="1200" dirty="0"/>
          </a:p>
        </p:txBody>
      </p:sp>
      <p:sp>
        <p:nvSpPr>
          <p:cNvPr id="26" name="Text 20"/>
          <p:cNvSpPr/>
          <p:nvPr/>
        </p:nvSpPr>
        <p:spPr>
          <a:xfrm>
            <a:off x="6995160" y="3474720"/>
            <a:ext cx="1783080" cy="640080"/>
          </a:xfrm>
          <a:prstGeom prst="rect">
            <a:avLst/>
          </a:prstGeom>
          <a:noFill/>
          <a:ln/>
        </p:spPr>
        <p:txBody>
          <a:bodyPr wrap="square" lIns="0" tIns="0" rIns="0" bIns="0" rtlCol="0" anchor="ctr"/>
          <a:lstStyle/>
          <a:p>
            <a:pPr algn="ctr" indent="0" marL="0">
              <a:buNone/>
            </a:pPr>
            <a:r>
              <a:rPr lang="en-US" sz="1100" i="1" dirty="0">
                <a:solidFill>
                  <a:srgbClr val="10B981"/>
                </a:solidFill>
                <a:latin typeface="Calibri" pitchFamily="34" charset="0"/>
                <a:ea typeface="Calibri" pitchFamily="34" charset="-122"/>
                <a:cs typeface="Calibri" pitchFamily="34" charset="-120"/>
              </a:rPr>
              <a:t>Admin sees who calls what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931920" y="1371600"/>
            <a:ext cx="1280160" cy="1280160"/>
          </a:xfrm>
          <a:prstGeom prst="rect">
            <a:avLst/>
          </a:prstGeom>
        </p:spPr>
      </p:pic>
      <p:sp>
        <p:nvSpPr>
          <p:cNvPr id="3" name="Text 0"/>
          <p:cNvSpPr/>
          <p:nvPr/>
        </p:nvSpPr>
        <p:spPr>
          <a:xfrm>
            <a:off x="731520" y="2743200"/>
            <a:ext cx="7680960" cy="731520"/>
          </a:xfrm>
          <a:prstGeom prst="rect">
            <a:avLst/>
          </a:prstGeom>
          <a:noFill/>
          <a:ln/>
        </p:spPr>
        <p:txBody>
          <a:bodyPr wrap="square" lIns="0" tIns="0" rIns="0" bIns="0" rtlCol="0" anchor="ctr"/>
          <a:lstStyle/>
          <a:p>
            <a:pPr algn="ctr" indent="0" marL="0">
              <a:buNone/>
            </a:pPr>
            <a:r>
              <a:rPr lang="en-US" sz="4400" b="1" dirty="0">
                <a:solidFill>
                  <a:srgbClr val="F8FAFC"/>
                </a:solidFill>
                <a:latin typeface="Calibri" pitchFamily="34" charset="0"/>
                <a:ea typeface="Calibri" pitchFamily="34" charset="-122"/>
                <a:cs typeface="Calibri" pitchFamily="34" charset="-120"/>
              </a:rPr>
              <a:t>Context Docs</a:t>
            </a:r>
            <a:endParaRPr lang="en-US" sz="4400" dirty="0"/>
          </a:p>
        </p:txBody>
      </p:sp>
      <p:sp>
        <p:nvSpPr>
          <p:cNvPr id="4" name="Text 1"/>
          <p:cNvSpPr/>
          <p:nvPr/>
        </p:nvSpPr>
        <p:spPr>
          <a:xfrm>
            <a:off x="731520" y="3474720"/>
            <a:ext cx="7680960" cy="457200"/>
          </a:xfrm>
          <a:prstGeom prst="rect">
            <a:avLst/>
          </a:prstGeom>
          <a:noFill/>
          <a:ln/>
        </p:spPr>
        <p:txBody>
          <a:bodyPr wrap="square" lIns="0" tIns="0" rIns="0" bIns="0" rtlCol="0" anchor="ctr"/>
          <a:lstStyle/>
          <a:p>
            <a:pPr algn="ctr" indent="0" marL="0">
              <a:buNone/>
            </a:pPr>
            <a:r>
              <a:rPr lang="en-US" sz="1800" dirty="0">
                <a:solidFill>
                  <a:srgbClr val="06B6D4"/>
                </a:solidFill>
                <a:latin typeface="Calibri" pitchFamily="34" charset="0"/>
                <a:ea typeface="Calibri" pitchFamily="34" charset="-122"/>
                <a:cs typeface="Calibri" pitchFamily="34" charset="-120"/>
              </a:rPr>
              <a:t>The org's shared knowledge base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How docs get into ctxlayer</a:t>
            </a:r>
            <a:endParaRPr lang="en-US" sz="3600" dirty="0"/>
          </a:p>
        </p:txBody>
      </p:sp>
      <p:sp>
        <p:nvSpPr>
          <p:cNvPr id="3" name="Shape 1"/>
          <p:cNvSpPr/>
          <p:nvPr/>
        </p:nvSpPr>
        <p:spPr>
          <a:xfrm>
            <a:off x="457200" y="1188720"/>
            <a:ext cx="3931920" cy="3200400"/>
          </a:xfrm>
          <a:prstGeom prst="roundRect">
            <a:avLst>
              <a:gd name="adj" fmla="val 3429"/>
            </a:avLst>
          </a:prstGeom>
          <a:solidFill>
            <a:srgbClr val="1E293B"/>
          </a:solidFill>
          <a:ln/>
          <a:effectLst>
            <a:outerShdw sx="100000" sy="100000" kx="0" ky="0" algn="bl" rotWithShape="0" blurRad="101600" dist="38100" dir="2700000">
              <a:srgbClr val="000000">
                <a:alpha val="25000"/>
              </a:srgbClr>
            </a:outerShdw>
          </a:effectLst>
        </p:spPr>
      </p:sp>
      <p:pic>
        <p:nvPicPr>
          <p:cNvPr id="4" name="Image 0" descr="preencoded.png">    </p:cNvPr>
          <p:cNvPicPr>
            <a:picLocks noChangeAspect="1"/>
          </p:cNvPicPr>
          <p:nvPr/>
        </p:nvPicPr>
        <p:blipFill>
          <a:blip r:embed="rId1"/>
          <a:stretch>
            <a:fillRect/>
          </a:stretch>
        </p:blipFill>
        <p:spPr>
          <a:xfrm>
            <a:off x="731520" y="1417320"/>
            <a:ext cx="411480" cy="411480"/>
          </a:xfrm>
          <a:prstGeom prst="rect">
            <a:avLst/>
          </a:prstGeom>
        </p:spPr>
      </p:pic>
      <p:sp>
        <p:nvSpPr>
          <p:cNvPr id="5" name="Text 2"/>
          <p:cNvSpPr/>
          <p:nvPr/>
        </p:nvSpPr>
        <p:spPr>
          <a:xfrm>
            <a:off x="1280160" y="1417320"/>
            <a:ext cx="2926080" cy="411480"/>
          </a:xfrm>
          <a:prstGeom prst="rect">
            <a:avLst/>
          </a:prstGeom>
          <a:noFill/>
          <a:ln/>
        </p:spPr>
        <p:txBody>
          <a:bodyPr wrap="square" lIns="0" tIns="0" rIns="0" bIns="0" rtlCol="0" anchor="ctr"/>
          <a:lstStyle/>
          <a:p>
            <a:pPr indent="0" marL="0">
              <a:buNone/>
            </a:pPr>
            <a:r>
              <a:rPr lang="en-US" sz="1800" b="1" dirty="0">
                <a:solidFill>
                  <a:srgbClr val="06B6D4"/>
                </a:solidFill>
                <a:latin typeface="Calibri" pitchFamily="34" charset="0"/>
                <a:ea typeface="Calibri" pitchFamily="34" charset="-122"/>
                <a:cs typeface="Calibri" pitchFamily="34" charset="-120"/>
              </a:rPr>
              <a:t>Write in ctxlayer</a:t>
            </a:r>
            <a:endParaRPr lang="en-US" sz="1800" dirty="0"/>
          </a:p>
        </p:txBody>
      </p:sp>
      <p:sp>
        <p:nvSpPr>
          <p:cNvPr id="6" name="Text 3"/>
          <p:cNvSpPr/>
          <p:nvPr/>
        </p:nvSpPr>
        <p:spPr>
          <a:xfrm>
            <a:off x="731520" y="2011680"/>
            <a:ext cx="3474720" cy="2194560"/>
          </a:xfrm>
          <a:prstGeom prst="rect">
            <a:avLst/>
          </a:prstGeom>
          <a:noFill/>
          <a:ln/>
        </p:spPr>
        <p:txBody>
          <a:bodyPr wrap="square" lIns="0" tIns="0" rIns="0" bIns="0" rtlCol="0" anchor="ctr"/>
          <a:lstStyle/>
          <a:p>
            <a:pPr marL="342900" indent="-342900">
              <a:buSzPct val="100000"/>
              <a:buChar char="•"/>
            </a:pPr>
            <a:r>
              <a:rPr lang="en-US" sz="1300" dirty="0">
                <a:solidFill>
                  <a:srgbClr val="F8FAFC"/>
                </a:solidFill>
                <a:latin typeface="Calibri" pitchFamily="34" charset="0"/>
                <a:ea typeface="Calibri" pitchFamily="34" charset="-122"/>
                <a:cs typeface="Calibri" pitchFamily="34" charset="-120"/>
              </a:rPr>
              <a:t>Collaborative editor</a:t>
            </a:r>
            <a:endParaRPr lang="en-US" sz="1300" dirty="0"/>
          </a:p>
          <a:p>
            <a:pPr marL="342900" indent="-342900">
              <a:buSzPct val="100000"/>
              <a:buChar char="•"/>
            </a:pPr>
            <a:r>
              <a:rPr lang="en-US" sz="1300" dirty="0">
                <a:solidFill>
                  <a:srgbClr val="94A3B8"/>
                </a:solidFill>
                <a:latin typeface="Calibri" pitchFamily="34" charset="0"/>
                <a:ea typeface="Calibri" pitchFamily="34" charset="-122"/>
                <a:cs typeface="Calibri" pitchFamily="34" charset="-120"/>
              </a:rPr>
              <a:t>Notion-style block editing</a:t>
            </a:r>
            <a:endParaRPr lang="en-US" sz="1300" dirty="0"/>
          </a:p>
          <a:p>
            <a:pPr marL="342900" indent="-342900">
              <a:buSzPct val="100000"/>
              <a:buChar char="•"/>
            </a:pPr>
            <a:r>
              <a:rPr lang="en-US" sz="1300" dirty="0">
                <a:solidFill>
                  <a:srgbClr val="94A3B8"/>
                </a:solidFill>
                <a:latin typeface="Calibri" pitchFamily="34" charset="0"/>
                <a:ea typeface="Calibri" pitchFamily="34" charset="-122"/>
                <a:cs typeface="Calibri" pitchFamily="34" charset="-120"/>
              </a:rPr>
              <a:t>Real-time co-editing (Yjs)</a:t>
            </a:r>
            <a:endParaRPr lang="en-US" sz="1300" dirty="0"/>
          </a:p>
          <a:p>
            <a:pPr marL="342900" indent="-342900">
              <a:buSzPct val="100000"/>
              <a:buChar char="•"/>
            </a:pPr>
            <a:r>
              <a:rPr lang="en-US" sz="1300" dirty="0">
                <a:solidFill>
                  <a:srgbClr val="94A3B8"/>
                </a:solidFill>
                <a:latin typeface="Calibri" pitchFamily="34" charset="0"/>
                <a:ea typeface="Calibri" pitchFamily="34" charset="-122"/>
                <a:cs typeface="Calibri" pitchFamily="34" charset="-120"/>
              </a:rPr>
              <a:t>Auto-save + revision history</a:t>
            </a:r>
            <a:endParaRPr lang="en-US" sz="1300" dirty="0"/>
          </a:p>
          <a:p>
            <a:pPr marL="342900" indent="-342900">
              <a:buSzPct val="100000"/>
              <a:buChar char="•"/>
            </a:pPr>
            <a:r>
              <a:rPr lang="en-US" sz="1300" dirty="0">
                <a:solidFill>
                  <a:srgbClr val="94A3B8"/>
                </a:solidFill>
                <a:latin typeface="Calibri" pitchFamily="34" charset="0"/>
                <a:ea typeface="Calibri" pitchFamily="34" charset="-122"/>
                <a:cs typeface="Calibri" pitchFamily="34" charset="-120"/>
              </a:rPr>
              <a:t>Folders + tags for organisation</a:t>
            </a:r>
            <a:endParaRPr lang="en-US" sz="1300" dirty="0"/>
          </a:p>
        </p:txBody>
      </p:sp>
      <p:sp>
        <p:nvSpPr>
          <p:cNvPr id="7" name="Shape 4"/>
          <p:cNvSpPr/>
          <p:nvPr/>
        </p:nvSpPr>
        <p:spPr>
          <a:xfrm>
            <a:off x="4754880" y="1188720"/>
            <a:ext cx="3931920" cy="3200400"/>
          </a:xfrm>
          <a:prstGeom prst="roundRect">
            <a:avLst>
              <a:gd name="adj" fmla="val 3429"/>
            </a:avLst>
          </a:prstGeom>
          <a:solidFill>
            <a:srgbClr val="1E293B"/>
          </a:solidFill>
          <a:ln/>
          <a:effectLst>
            <a:outerShdw sx="100000" sy="100000" kx="0" ky="0" algn="bl" rotWithShape="0" blurRad="101600" dist="38100" dir="2700000">
              <a:srgbClr val="000000">
                <a:alpha val="25000"/>
              </a:srgbClr>
            </a:outerShdw>
          </a:effectLst>
        </p:spPr>
      </p:sp>
      <p:pic>
        <p:nvPicPr>
          <p:cNvPr id="8" name="Image 1" descr="preencoded.png">    </p:cNvPr>
          <p:cNvPicPr>
            <a:picLocks noChangeAspect="1"/>
          </p:cNvPicPr>
          <p:nvPr/>
        </p:nvPicPr>
        <p:blipFill>
          <a:blip r:embed="rId2"/>
          <a:stretch>
            <a:fillRect/>
          </a:stretch>
        </p:blipFill>
        <p:spPr>
          <a:xfrm>
            <a:off x="5029200" y="1417320"/>
            <a:ext cx="411480" cy="411480"/>
          </a:xfrm>
          <a:prstGeom prst="rect">
            <a:avLst/>
          </a:prstGeom>
        </p:spPr>
      </p:pic>
      <p:sp>
        <p:nvSpPr>
          <p:cNvPr id="9" name="Text 5"/>
          <p:cNvSpPr/>
          <p:nvPr/>
        </p:nvSpPr>
        <p:spPr>
          <a:xfrm>
            <a:off x="5577840" y="1417320"/>
            <a:ext cx="2926080" cy="411480"/>
          </a:xfrm>
          <a:prstGeom prst="rect">
            <a:avLst/>
          </a:prstGeom>
          <a:noFill/>
          <a:ln/>
        </p:spPr>
        <p:txBody>
          <a:bodyPr wrap="square" lIns="0" tIns="0" rIns="0" bIns="0" rtlCol="0" anchor="ctr"/>
          <a:lstStyle/>
          <a:p>
            <a:pPr indent="0" marL="0">
              <a:buNone/>
            </a:pPr>
            <a:r>
              <a:rPr lang="en-US" sz="1800" b="1" dirty="0">
                <a:solidFill>
                  <a:srgbClr val="F97316"/>
                </a:solidFill>
                <a:latin typeface="Calibri" pitchFamily="34" charset="0"/>
                <a:ea typeface="Calibri" pitchFamily="34" charset="-122"/>
                <a:cs typeface="Calibri" pitchFamily="34" charset="-120"/>
              </a:rPr>
              <a:t>Sync from Git</a:t>
            </a:r>
            <a:endParaRPr lang="en-US" sz="1800" dirty="0"/>
          </a:p>
        </p:txBody>
      </p:sp>
      <p:sp>
        <p:nvSpPr>
          <p:cNvPr id="10" name="Text 6"/>
          <p:cNvSpPr/>
          <p:nvPr/>
        </p:nvSpPr>
        <p:spPr>
          <a:xfrm>
            <a:off x="5029200" y="2011680"/>
            <a:ext cx="3474720" cy="2194560"/>
          </a:xfrm>
          <a:prstGeom prst="rect">
            <a:avLst/>
          </a:prstGeom>
          <a:noFill/>
          <a:ln/>
        </p:spPr>
        <p:txBody>
          <a:bodyPr wrap="square" lIns="0" tIns="0" rIns="0" bIns="0" rtlCol="0" anchor="ctr"/>
          <a:lstStyle/>
          <a:p>
            <a:pPr marL="342900" indent="-342900">
              <a:buSzPct val="100000"/>
              <a:buChar char="•"/>
            </a:pPr>
            <a:r>
              <a:rPr lang="en-US" sz="1300" dirty="0">
                <a:solidFill>
                  <a:srgbClr val="F8FAFC"/>
                </a:solidFill>
                <a:latin typeface="Calibri" pitchFamily="34" charset="0"/>
                <a:ea typeface="Calibri" pitchFamily="34" charset="-122"/>
                <a:cs typeface="Calibri" pitchFamily="34" charset="-120"/>
              </a:rPr>
              <a:t>Connect a repo (GitHub / GitLab / ADO)</a:t>
            </a:r>
            <a:endParaRPr lang="en-US" sz="1300" dirty="0"/>
          </a:p>
          <a:p>
            <a:pPr marL="342900" indent="-342900">
              <a:buSzPct val="100000"/>
              <a:buChar char="•"/>
            </a:pPr>
            <a:r>
              <a:rPr lang="en-US" sz="1300" dirty="0">
                <a:solidFill>
                  <a:srgbClr val="94A3B8"/>
                </a:solidFill>
                <a:latin typeface="Calibri" pitchFamily="34" charset="0"/>
                <a:ea typeface="Calibri" pitchFamily="34" charset="-122"/>
                <a:cs typeface="Calibri" pitchFamily="34" charset="-120"/>
              </a:rPr>
              <a:t>Set a path filter (docs/**/*.md)</a:t>
            </a:r>
            <a:endParaRPr lang="en-US" sz="1300" dirty="0"/>
          </a:p>
          <a:p>
            <a:pPr marL="342900" indent="-342900">
              <a:buSzPct val="100000"/>
              <a:buChar char="•"/>
            </a:pPr>
            <a:r>
              <a:rPr lang="en-US" sz="1300" dirty="0">
                <a:solidFill>
                  <a:srgbClr val="94A3B8"/>
                </a:solidFill>
                <a:latin typeface="Calibri" pitchFamily="34" charset="0"/>
                <a:ea typeface="Calibri" pitchFamily="34" charset="-122"/>
                <a:cs typeface="Calibri" pitchFamily="34" charset="-120"/>
              </a:rPr>
              <a:t>Scheduled cron sync</a:t>
            </a:r>
            <a:endParaRPr lang="en-US" sz="1300" dirty="0"/>
          </a:p>
          <a:p>
            <a:pPr marL="342900" indent="-342900">
              <a:buSzPct val="100000"/>
              <a:buChar char="•"/>
            </a:pPr>
            <a:r>
              <a:rPr lang="en-US" sz="1300" dirty="0">
                <a:solidFill>
                  <a:srgbClr val="94A3B8"/>
                </a:solidFill>
                <a:latin typeface="Calibri" pitchFamily="34" charset="0"/>
                <a:ea typeface="Calibri" pitchFamily="34" charset="-122"/>
                <a:cs typeface="Calibri" pitchFamily="34" charset="-120"/>
              </a:rPr>
              <a:t>Edits can be proposed back as PRs</a:t>
            </a:r>
            <a:endParaRPr lang="en-US" sz="1300" dirty="0"/>
          </a:p>
          <a:p>
            <a:pPr marL="342900" indent="-342900">
              <a:buSzPct val="100000"/>
              <a:buChar char="•"/>
            </a:pPr>
            <a:r>
              <a:rPr lang="en-US" sz="1300" dirty="0">
                <a:solidFill>
                  <a:srgbClr val="94A3B8"/>
                </a:solidFill>
                <a:latin typeface="Calibri" pitchFamily="34" charset="0"/>
                <a:ea typeface="Calibri" pitchFamily="34" charset="-122"/>
                <a:cs typeface="Calibri" pitchFamily="34" charset="-120"/>
              </a:rPr>
              <a:t>Conflict detection built in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How docs reach the agent</a:t>
            </a:r>
            <a:endParaRPr lang="en-US" sz="3600" dirty="0"/>
          </a:p>
        </p:txBody>
      </p:sp>
      <p:sp>
        <p:nvSpPr>
          <p:cNvPr id="3" name="Text 1"/>
          <p:cNvSpPr/>
          <p:nvPr/>
        </p:nvSpPr>
        <p:spPr>
          <a:xfrm>
            <a:off x="731520" y="868680"/>
            <a:ext cx="7680960" cy="365760"/>
          </a:xfrm>
          <a:prstGeom prst="rect">
            <a:avLst/>
          </a:prstGeom>
          <a:noFill/>
          <a:ln/>
        </p:spPr>
        <p:txBody>
          <a:bodyPr wrap="square" lIns="0" tIns="0" rIns="0" bIns="0" rtlCol="0" anchor="ctr"/>
          <a:lstStyle/>
          <a:p>
            <a:pPr indent="0" marL="0">
              <a:buNone/>
            </a:pPr>
            <a:r>
              <a:rPr lang="en-US" sz="1600" dirty="0">
                <a:solidFill>
                  <a:srgbClr val="06B6D4"/>
                </a:solidFill>
                <a:latin typeface="Calibri" pitchFamily="34" charset="0"/>
                <a:ea typeface="Calibri" pitchFamily="34" charset="-122"/>
                <a:cs typeface="Calibri" pitchFamily="34" charset="-120"/>
              </a:rPr>
              <a:t>RAG-powered semantic search</a:t>
            </a:r>
            <a:endParaRPr lang="en-US" sz="1600" dirty="0"/>
          </a:p>
        </p:txBody>
      </p:sp>
      <p:sp>
        <p:nvSpPr>
          <p:cNvPr id="4" name="Shape 2"/>
          <p:cNvSpPr/>
          <p:nvPr/>
        </p:nvSpPr>
        <p:spPr>
          <a:xfrm>
            <a:off x="548640" y="1554480"/>
            <a:ext cx="1828800" cy="1645920"/>
          </a:xfrm>
          <a:prstGeom prst="roundRect">
            <a:avLst>
              <a:gd name="adj" fmla="val 5556"/>
            </a:avLst>
          </a:prstGeom>
          <a:solidFill>
            <a:srgbClr val="1E293B"/>
          </a:solidFill>
          <a:ln/>
          <a:effectLst>
            <a:outerShdw sx="100000" sy="100000" kx="0" ky="0" algn="bl" rotWithShape="0" blurRad="101600" dist="38100" dir="2700000">
              <a:srgbClr val="000000">
                <a:alpha val="25000"/>
              </a:srgbClr>
            </a:outerShdw>
          </a:effectLst>
        </p:spPr>
      </p:sp>
      <p:sp>
        <p:nvSpPr>
          <p:cNvPr id="5" name="Shape 3"/>
          <p:cNvSpPr/>
          <p:nvPr/>
        </p:nvSpPr>
        <p:spPr>
          <a:xfrm>
            <a:off x="1234440" y="1691640"/>
            <a:ext cx="457200" cy="457200"/>
          </a:xfrm>
          <a:prstGeom prst="ellipse">
            <a:avLst/>
          </a:prstGeom>
          <a:solidFill>
            <a:srgbClr val="06B6D4"/>
          </a:solidFill>
          <a:ln/>
        </p:spPr>
      </p:sp>
      <p:sp>
        <p:nvSpPr>
          <p:cNvPr id="6" name="Text 4"/>
          <p:cNvSpPr/>
          <p:nvPr/>
        </p:nvSpPr>
        <p:spPr>
          <a:xfrm>
            <a:off x="1234440" y="1691640"/>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640080" y="2240280"/>
            <a:ext cx="1645920" cy="365760"/>
          </a:xfrm>
          <a:prstGeom prst="rect">
            <a:avLst/>
          </a:prstGeom>
          <a:noFill/>
          <a:ln/>
        </p:spPr>
        <p:txBody>
          <a:bodyPr wrap="square" lIns="0" tIns="0" rIns="0" bIns="0" rtlCol="0" anchor="ctr"/>
          <a:lstStyle/>
          <a:p>
            <a:pPr algn="ctr" indent="0" marL="0">
              <a:buNone/>
            </a:pPr>
            <a:r>
              <a:rPr lang="en-US" sz="1300" b="1" dirty="0">
                <a:solidFill>
                  <a:srgbClr val="F8FAFC"/>
                </a:solidFill>
                <a:latin typeface="Calibri" pitchFamily="34" charset="0"/>
                <a:ea typeface="Calibri" pitchFamily="34" charset="-122"/>
                <a:cs typeface="Calibri" pitchFamily="34" charset="-120"/>
              </a:rPr>
              <a:t>Doc saved</a:t>
            </a:r>
            <a:endParaRPr lang="en-US" sz="1300" dirty="0"/>
          </a:p>
        </p:txBody>
      </p:sp>
      <p:sp>
        <p:nvSpPr>
          <p:cNvPr id="8" name="Text 6"/>
          <p:cNvSpPr/>
          <p:nvPr/>
        </p:nvSpPr>
        <p:spPr>
          <a:xfrm>
            <a:off x="640080" y="2560320"/>
            <a:ext cx="1645920" cy="5029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chunked +</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embedded</a:t>
            </a:r>
            <a:endParaRPr lang="en-US" sz="1100" dirty="0"/>
          </a:p>
        </p:txBody>
      </p:sp>
      <p:pic>
        <p:nvPicPr>
          <p:cNvPr id="9" name="Image 0" descr="preencoded.png">    </p:cNvPr>
          <p:cNvPicPr>
            <a:picLocks noChangeAspect="1"/>
          </p:cNvPicPr>
          <p:nvPr/>
        </p:nvPicPr>
        <p:blipFill>
          <a:blip r:embed="rId1"/>
          <a:stretch>
            <a:fillRect/>
          </a:stretch>
        </p:blipFill>
        <p:spPr>
          <a:xfrm>
            <a:off x="2377440" y="2194560"/>
            <a:ext cx="320040" cy="320040"/>
          </a:xfrm>
          <a:prstGeom prst="rect">
            <a:avLst/>
          </a:prstGeom>
        </p:spPr>
      </p:pic>
      <p:sp>
        <p:nvSpPr>
          <p:cNvPr id="10" name="Shape 7"/>
          <p:cNvSpPr/>
          <p:nvPr/>
        </p:nvSpPr>
        <p:spPr>
          <a:xfrm>
            <a:off x="2743200" y="1554480"/>
            <a:ext cx="1828800" cy="1645920"/>
          </a:xfrm>
          <a:prstGeom prst="roundRect">
            <a:avLst>
              <a:gd name="adj" fmla="val 5556"/>
            </a:avLst>
          </a:prstGeom>
          <a:solidFill>
            <a:srgbClr val="1E293B"/>
          </a:solidFill>
          <a:ln/>
          <a:effectLst>
            <a:outerShdw sx="100000" sy="100000" kx="0" ky="0" algn="bl" rotWithShape="0" blurRad="101600" dist="38100" dir="2700000">
              <a:srgbClr val="000000">
                <a:alpha val="25000"/>
              </a:srgbClr>
            </a:outerShdw>
          </a:effectLst>
        </p:spPr>
      </p:sp>
      <p:sp>
        <p:nvSpPr>
          <p:cNvPr id="11" name="Shape 8"/>
          <p:cNvSpPr/>
          <p:nvPr/>
        </p:nvSpPr>
        <p:spPr>
          <a:xfrm>
            <a:off x="3429000" y="1691640"/>
            <a:ext cx="457200" cy="457200"/>
          </a:xfrm>
          <a:prstGeom prst="ellipse">
            <a:avLst/>
          </a:prstGeom>
          <a:solidFill>
            <a:srgbClr val="F97316"/>
          </a:solidFill>
          <a:ln/>
        </p:spPr>
      </p:sp>
      <p:sp>
        <p:nvSpPr>
          <p:cNvPr id="12" name="Text 9"/>
          <p:cNvSpPr/>
          <p:nvPr/>
        </p:nvSpPr>
        <p:spPr>
          <a:xfrm>
            <a:off x="3429000" y="1691640"/>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2</a:t>
            </a:r>
            <a:endParaRPr lang="en-US" sz="1800" dirty="0"/>
          </a:p>
        </p:txBody>
      </p:sp>
      <p:sp>
        <p:nvSpPr>
          <p:cNvPr id="13" name="Text 10"/>
          <p:cNvSpPr/>
          <p:nvPr/>
        </p:nvSpPr>
        <p:spPr>
          <a:xfrm>
            <a:off x="2834640" y="2240280"/>
            <a:ext cx="1645920" cy="365760"/>
          </a:xfrm>
          <a:prstGeom prst="rect">
            <a:avLst/>
          </a:prstGeom>
          <a:noFill/>
          <a:ln/>
        </p:spPr>
        <p:txBody>
          <a:bodyPr wrap="square" lIns="0" tIns="0" rIns="0" bIns="0" rtlCol="0" anchor="ctr"/>
          <a:lstStyle/>
          <a:p>
            <a:pPr algn="ctr" indent="0" marL="0">
              <a:buNone/>
            </a:pPr>
            <a:r>
              <a:rPr lang="en-US" sz="1300" b="1" dirty="0">
                <a:solidFill>
                  <a:srgbClr val="F8FAFC"/>
                </a:solidFill>
                <a:latin typeface="Calibri" pitchFamily="34" charset="0"/>
                <a:ea typeface="Calibri" pitchFamily="34" charset="-122"/>
                <a:cs typeface="Calibri" pitchFamily="34" charset="-120"/>
              </a:rPr>
              <a:t>search_docs()</a:t>
            </a:r>
            <a:endParaRPr lang="en-US" sz="1300" dirty="0"/>
          </a:p>
        </p:txBody>
      </p:sp>
      <p:sp>
        <p:nvSpPr>
          <p:cNvPr id="14" name="Text 11"/>
          <p:cNvSpPr/>
          <p:nvPr/>
        </p:nvSpPr>
        <p:spPr>
          <a:xfrm>
            <a:off x="2834640" y="2560320"/>
            <a:ext cx="1645920" cy="5029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"Peppol</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e-invoicing"</a:t>
            </a:r>
            <a:endParaRPr lang="en-US" sz="1100" dirty="0"/>
          </a:p>
        </p:txBody>
      </p:sp>
      <p:pic>
        <p:nvPicPr>
          <p:cNvPr id="15" name="Image 1" descr="preencoded.png">    </p:cNvPr>
          <p:cNvPicPr>
            <a:picLocks noChangeAspect="1"/>
          </p:cNvPicPr>
          <p:nvPr/>
        </p:nvPicPr>
        <p:blipFill>
          <a:blip r:embed="rId2"/>
          <a:stretch>
            <a:fillRect/>
          </a:stretch>
        </p:blipFill>
        <p:spPr>
          <a:xfrm>
            <a:off x="4572000" y="2194560"/>
            <a:ext cx="320040" cy="320040"/>
          </a:xfrm>
          <a:prstGeom prst="rect">
            <a:avLst/>
          </a:prstGeom>
        </p:spPr>
      </p:pic>
      <p:sp>
        <p:nvSpPr>
          <p:cNvPr id="16" name="Shape 12"/>
          <p:cNvSpPr/>
          <p:nvPr/>
        </p:nvSpPr>
        <p:spPr>
          <a:xfrm>
            <a:off x="4937760" y="1554480"/>
            <a:ext cx="1828800" cy="1645920"/>
          </a:xfrm>
          <a:prstGeom prst="roundRect">
            <a:avLst>
              <a:gd name="adj" fmla="val 5556"/>
            </a:avLst>
          </a:prstGeom>
          <a:solidFill>
            <a:srgbClr val="1E293B"/>
          </a:solidFill>
          <a:ln/>
          <a:effectLst>
            <a:outerShdw sx="100000" sy="100000" kx="0" ky="0" algn="bl" rotWithShape="0" blurRad="101600" dist="38100" dir="2700000">
              <a:srgbClr val="000000">
                <a:alpha val="25000"/>
              </a:srgbClr>
            </a:outerShdw>
          </a:effectLst>
        </p:spPr>
      </p:sp>
      <p:sp>
        <p:nvSpPr>
          <p:cNvPr id="17" name="Shape 13"/>
          <p:cNvSpPr/>
          <p:nvPr/>
        </p:nvSpPr>
        <p:spPr>
          <a:xfrm>
            <a:off x="5623560" y="1691640"/>
            <a:ext cx="457200" cy="457200"/>
          </a:xfrm>
          <a:prstGeom prst="ellipse">
            <a:avLst/>
          </a:prstGeom>
          <a:solidFill>
            <a:srgbClr val="8B5CF6"/>
          </a:solidFill>
          <a:ln/>
        </p:spPr>
      </p:sp>
      <p:sp>
        <p:nvSpPr>
          <p:cNvPr id="18" name="Text 14"/>
          <p:cNvSpPr/>
          <p:nvPr/>
        </p:nvSpPr>
        <p:spPr>
          <a:xfrm>
            <a:off x="5623560" y="1691640"/>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3</a:t>
            </a:r>
            <a:endParaRPr lang="en-US" sz="1800" dirty="0"/>
          </a:p>
        </p:txBody>
      </p:sp>
      <p:sp>
        <p:nvSpPr>
          <p:cNvPr id="19" name="Text 15"/>
          <p:cNvSpPr/>
          <p:nvPr/>
        </p:nvSpPr>
        <p:spPr>
          <a:xfrm>
            <a:off x="5029200" y="2240280"/>
            <a:ext cx="1645920" cy="365760"/>
          </a:xfrm>
          <a:prstGeom prst="rect">
            <a:avLst/>
          </a:prstGeom>
          <a:noFill/>
          <a:ln/>
        </p:spPr>
        <p:txBody>
          <a:bodyPr wrap="square" lIns="0" tIns="0" rIns="0" bIns="0" rtlCol="0" anchor="ctr"/>
          <a:lstStyle/>
          <a:p>
            <a:pPr algn="ctr" indent="0" marL="0">
              <a:buNone/>
            </a:pPr>
            <a:r>
              <a:rPr lang="en-US" sz="1300" b="1" dirty="0">
                <a:solidFill>
                  <a:srgbClr val="F8FAFC"/>
                </a:solidFill>
                <a:latin typeface="Calibri" pitchFamily="34" charset="0"/>
                <a:ea typeface="Calibri" pitchFamily="34" charset="-122"/>
                <a:cs typeface="Calibri" pitchFamily="34" charset="-120"/>
              </a:rPr>
              <a:t>Vectorize</a:t>
            </a:r>
            <a:endParaRPr lang="en-US" sz="1300" dirty="0"/>
          </a:p>
        </p:txBody>
      </p:sp>
      <p:sp>
        <p:nvSpPr>
          <p:cNvPr id="20" name="Text 16"/>
          <p:cNvSpPr/>
          <p:nvPr/>
        </p:nvSpPr>
        <p:spPr>
          <a:xfrm>
            <a:off x="5029200" y="2560320"/>
            <a:ext cx="1645920" cy="5029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rerank +</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snippets</a:t>
            </a:r>
            <a:endParaRPr lang="en-US" sz="1100" dirty="0"/>
          </a:p>
        </p:txBody>
      </p:sp>
      <p:pic>
        <p:nvPicPr>
          <p:cNvPr id="21" name="Image 2" descr="preencoded.png">    </p:cNvPr>
          <p:cNvPicPr>
            <a:picLocks noChangeAspect="1"/>
          </p:cNvPicPr>
          <p:nvPr/>
        </p:nvPicPr>
        <p:blipFill>
          <a:blip r:embed="rId3"/>
          <a:stretch>
            <a:fillRect/>
          </a:stretch>
        </p:blipFill>
        <p:spPr>
          <a:xfrm>
            <a:off x="6766560" y="2194560"/>
            <a:ext cx="320040" cy="320040"/>
          </a:xfrm>
          <a:prstGeom prst="rect">
            <a:avLst/>
          </a:prstGeom>
        </p:spPr>
      </p:pic>
      <p:sp>
        <p:nvSpPr>
          <p:cNvPr id="22" name="Shape 17"/>
          <p:cNvSpPr/>
          <p:nvPr/>
        </p:nvSpPr>
        <p:spPr>
          <a:xfrm>
            <a:off x="7132320" y="1554480"/>
            <a:ext cx="1828800" cy="1645920"/>
          </a:xfrm>
          <a:prstGeom prst="roundRect">
            <a:avLst>
              <a:gd name="adj" fmla="val 5556"/>
            </a:avLst>
          </a:prstGeom>
          <a:solidFill>
            <a:srgbClr val="1E293B"/>
          </a:solidFill>
          <a:ln/>
          <a:effectLst>
            <a:outerShdw sx="100000" sy="100000" kx="0" ky="0" algn="bl" rotWithShape="0" blurRad="101600" dist="38100" dir="2700000">
              <a:srgbClr val="000000">
                <a:alpha val="25000"/>
              </a:srgbClr>
            </a:outerShdw>
          </a:effectLst>
        </p:spPr>
      </p:sp>
      <p:sp>
        <p:nvSpPr>
          <p:cNvPr id="23" name="Shape 18"/>
          <p:cNvSpPr/>
          <p:nvPr/>
        </p:nvSpPr>
        <p:spPr>
          <a:xfrm>
            <a:off x="7818120" y="1691640"/>
            <a:ext cx="457200" cy="457200"/>
          </a:xfrm>
          <a:prstGeom prst="ellipse">
            <a:avLst/>
          </a:prstGeom>
          <a:solidFill>
            <a:srgbClr val="10B981"/>
          </a:solidFill>
          <a:ln/>
        </p:spPr>
      </p:sp>
      <p:sp>
        <p:nvSpPr>
          <p:cNvPr id="24" name="Text 19"/>
          <p:cNvSpPr/>
          <p:nvPr/>
        </p:nvSpPr>
        <p:spPr>
          <a:xfrm>
            <a:off x="7818120" y="1691640"/>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4</a:t>
            </a:r>
            <a:endParaRPr lang="en-US" sz="1800" dirty="0"/>
          </a:p>
        </p:txBody>
      </p:sp>
      <p:sp>
        <p:nvSpPr>
          <p:cNvPr id="25" name="Text 20"/>
          <p:cNvSpPr/>
          <p:nvPr/>
        </p:nvSpPr>
        <p:spPr>
          <a:xfrm>
            <a:off x="7223760" y="2240280"/>
            <a:ext cx="1645920" cy="365760"/>
          </a:xfrm>
          <a:prstGeom prst="rect">
            <a:avLst/>
          </a:prstGeom>
          <a:noFill/>
          <a:ln/>
        </p:spPr>
        <p:txBody>
          <a:bodyPr wrap="square" lIns="0" tIns="0" rIns="0" bIns="0" rtlCol="0" anchor="ctr"/>
          <a:lstStyle/>
          <a:p>
            <a:pPr algn="ctr" indent="0" marL="0">
              <a:buNone/>
            </a:pPr>
            <a:r>
              <a:rPr lang="en-US" sz="1300" b="1" dirty="0">
                <a:solidFill>
                  <a:srgbClr val="F8FAFC"/>
                </a:solidFill>
                <a:latin typeface="Calibri" pitchFamily="34" charset="0"/>
                <a:ea typeface="Calibri" pitchFamily="34" charset="-122"/>
                <a:cs typeface="Calibri" pitchFamily="34" charset="-120"/>
              </a:rPr>
              <a:t>get_doc(id)</a:t>
            </a:r>
            <a:endParaRPr lang="en-US" sz="1300" dirty="0"/>
          </a:p>
        </p:txBody>
      </p:sp>
      <p:sp>
        <p:nvSpPr>
          <p:cNvPr id="26" name="Text 21"/>
          <p:cNvSpPr/>
          <p:nvPr/>
        </p:nvSpPr>
        <p:spPr>
          <a:xfrm>
            <a:off x="7223760" y="2560320"/>
            <a:ext cx="1645920" cy="5029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full doc</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returned</a:t>
            </a:r>
            <a:endParaRPr lang="en-US" sz="1100" dirty="0"/>
          </a:p>
        </p:txBody>
      </p:sp>
      <p:sp>
        <p:nvSpPr>
          <p:cNvPr id="27" name="Shape 22"/>
          <p:cNvSpPr/>
          <p:nvPr/>
        </p:nvSpPr>
        <p:spPr>
          <a:xfrm>
            <a:off x="1371600" y="3657600"/>
            <a:ext cx="6400800" cy="640080"/>
          </a:xfrm>
          <a:prstGeom prst="roundRect">
            <a:avLst>
              <a:gd name="adj" fmla="val 11429"/>
            </a:avLst>
          </a:prstGeom>
          <a:solidFill>
            <a:srgbClr val="1E293B"/>
          </a:solidFill>
          <a:ln/>
        </p:spPr>
      </p:sp>
      <p:sp>
        <p:nvSpPr>
          <p:cNvPr id="28" name="Text 23"/>
          <p:cNvSpPr/>
          <p:nvPr/>
        </p:nvSpPr>
        <p:spPr>
          <a:xfrm>
            <a:off x="1371600" y="3657600"/>
            <a:ext cx="6400800" cy="640080"/>
          </a:xfrm>
          <a:prstGeom prst="rect">
            <a:avLst/>
          </a:prstGeom>
          <a:noFill/>
          <a:ln/>
        </p:spPr>
        <p:txBody>
          <a:bodyPr wrap="square" lIns="0" tIns="0" rIns="0" bIns="0" rtlCol="0" anchor="ctr"/>
          <a:lstStyle/>
          <a:p>
            <a:pPr algn="ctr" indent="0" marL="0">
              <a:buNone/>
            </a:pPr>
            <a:r>
              <a:rPr lang="en-US" sz="1400" i="1" dirty="0">
                <a:solidFill>
                  <a:srgbClr val="06B6D4"/>
                </a:solidFill>
                <a:latin typeface="Calibri" pitchFamily="34" charset="0"/>
                <a:ea typeface="Calibri" pitchFamily="34" charset="-122"/>
                <a:cs typeface="Calibri" pitchFamily="34" charset="-120"/>
              </a:rPr>
              <a:t>The agent doesn't need to know the doc exists — it searches by meaning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Organising docs</a:t>
            </a:r>
            <a:endParaRPr lang="en-US" sz="3600" dirty="0"/>
          </a:p>
        </p:txBody>
      </p:sp>
      <p:sp>
        <p:nvSpPr>
          <p:cNvPr id="3" name="Shape 1"/>
          <p:cNvSpPr/>
          <p:nvPr/>
        </p:nvSpPr>
        <p:spPr>
          <a:xfrm>
            <a:off x="457200" y="1188720"/>
            <a:ext cx="1965960" cy="2286000"/>
          </a:xfrm>
          <a:prstGeom prst="roundRect">
            <a:avLst>
              <a:gd name="adj" fmla="val 4651"/>
            </a:avLst>
          </a:prstGeom>
          <a:solidFill>
            <a:srgbClr val="1E293B"/>
          </a:solidFill>
          <a:ln/>
          <a:effectLst>
            <a:outerShdw sx="100000" sy="100000" kx="0" ky="0" algn="bl" rotWithShape="0" blurRad="101600" dist="38100" dir="2700000">
              <a:srgbClr val="000000">
                <a:alpha val="25000"/>
              </a:srgbClr>
            </a:outerShdw>
          </a:effectLst>
        </p:spPr>
      </p:sp>
      <p:pic>
        <p:nvPicPr>
          <p:cNvPr id="4" name="Image 0" descr="preencoded.png">    </p:cNvPr>
          <p:cNvPicPr>
            <a:picLocks noChangeAspect="1"/>
          </p:cNvPicPr>
          <p:nvPr/>
        </p:nvPicPr>
        <p:blipFill>
          <a:blip r:embed="rId1"/>
          <a:stretch>
            <a:fillRect/>
          </a:stretch>
        </p:blipFill>
        <p:spPr>
          <a:xfrm>
            <a:off x="1188720" y="1417320"/>
            <a:ext cx="457200" cy="457200"/>
          </a:xfrm>
          <a:prstGeom prst="rect">
            <a:avLst/>
          </a:prstGeom>
        </p:spPr>
      </p:pic>
      <p:sp>
        <p:nvSpPr>
          <p:cNvPr id="5" name="Text 2"/>
          <p:cNvSpPr/>
          <p:nvPr/>
        </p:nvSpPr>
        <p:spPr>
          <a:xfrm>
            <a:off x="457200" y="2011680"/>
            <a:ext cx="1965960" cy="365760"/>
          </a:xfrm>
          <a:prstGeom prst="rect">
            <a:avLst/>
          </a:prstGeom>
          <a:noFill/>
          <a:ln/>
        </p:spPr>
        <p:txBody>
          <a:bodyPr wrap="square" lIns="0" tIns="0" rIns="0" bIns="0" rtlCol="0" anchor="ctr"/>
          <a:lstStyle/>
          <a:p>
            <a:pPr algn="ctr" indent="0" marL="0">
              <a:buNone/>
            </a:pPr>
            <a:r>
              <a:rPr lang="en-US" sz="1600" b="1" dirty="0">
                <a:solidFill>
                  <a:srgbClr val="F97316"/>
                </a:solidFill>
                <a:latin typeface="Calibri" pitchFamily="34" charset="0"/>
                <a:ea typeface="Calibri" pitchFamily="34" charset="-122"/>
                <a:cs typeface="Calibri" pitchFamily="34" charset="-120"/>
              </a:rPr>
              <a:t>Folders</a:t>
            </a:r>
            <a:endParaRPr lang="en-US" sz="1600" dirty="0"/>
          </a:p>
        </p:txBody>
      </p:sp>
      <p:sp>
        <p:nvSpPr>
          <p:cNvPr id="6" name="Text 3"/>
          <p:cNvSpPr/>
          <p:nvPr/>
        </p:nvSpPr>
        <p:spPr>
          <a:xfrm>
            <a:off x="548640" y="2423160"/>
            <a:ext cx="1783080" cy="8229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Hierarchical organisation</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Drag &amp; drop</a:t>
            </a:r>
            <a:endParaRPr lang="en-US" sz="1200" dirty="0"/>
          </a:p>
        </p:txBody>
      </p:sp>
      <p:sp>
        <p:nvSpPr>
          <p:cNvPr id="7" name="Shape 4"/>
          <p:cNvSpPr/>
          <p:nvPr/>
        </p:nvSpPr>
        <p:spPr>
          <a:xfrm>
            <a:off x="2606040" y="1188720"/>
            <a:ext cx="1965960" cy="2286000"/>
          </a:xfrm>
          <a:prstGeom prst="roundRect">
            <a:avLst>
              <a:gd name="adj" fmla="val 4651"/>
            </a:avLst>
          </a:prstGeom>
          <a:solidFill>
            <a:srgbClr val="1E293B"/>
          </a:solidFill>
          <a:ln/>
          <a:effectLst>
            <a:outerShdw sx="100000" sy="100000" kx="0" ky="0" algn="bl" rotWithShape="0" blurRad="101600" dist="38100" dir="2700000">
              <a:srgbClr val="000000">
                <a:alpha val="25000"/>
              </a:srgbClr>
            </a:outerShdw>
          </a:effectLst>
        </p:spPr>
      </p:sp>
      <p:pic>
        <p:nvPicPr>
          <p:cNvPr id="8" name="Image 1" descr="preencoded.png">    </p:cNvPr>
          <p:cNvPicPr>
            <a:picLocks noChangeAspect="1"/>
          </p:cNvPicPr>
          <p:nvPr/>
        </p:nvPicPr>
        <p:blipFill>
          <a:blip r:embed="rId2"/>
          <a:stretch>
            <a:fillRect/>
          </a:stretch>
        </p:blipFill>
        <p:spPr>
          <a:xfrm>
            <a:off x="3337560" y="1417320"/>
            <a:ext cx="457200" cy="457200"/>
          </a:xfrm>
          <a:prstGeom prst="rect">
            <a:avLst/>
          </a:prstGeom>
        </p:spPr>
      </p:pic>
      <p:sp>
        <p:nvSpPr>
          <p:cNvPr id="9" name="Text 5"/>
          <p:cNvSpPr/>
          <p:nvPr/>
        </p:nvSpPr>
        <p:spPr>
          <a:xfrm>
            <a:off x="2606040" y="2011680"/>
            <a:ext cx="1965960" cy="365760"/>
          </a:xfrm>
          <a:prstGeom prst="rect">
            <a:avLst/>
          </a:prstGeom>
          <a:noFill/>
          <a:ln/>
        </p:spPr>
        <p:txBody>
          <a:bodyPr wrap="square" lIns="0" tIns="0" rIns="0" bIns="0" rtlCol="0" anchor="ctr"/>
          <a:lstStyle/>
          <a:p>
            <a:pPr algn="ctr" indent="0" marL="0">
              <a:buNone/>
            </a:pPr>
            <a:r>
              <a:rPr lang="en-US" sz="1600" b="1" dirty="0">
                <a:solidFill>
                  <a:srgbClr val="8B5CF6"/>
                </a:solidFill>
                <a:latin typeface="Calibri" pitchFamily="34" charset="0"/>
                <a:ea typeface="Calibri" pitchFamily="34" charset="-122"/>
                <a:cs typeface="Calibri" pitchFamily="34" charset="-120"/>
              </a:rPr>
              <a:t>Tags</a:t>
            </a:r>
            <a:endParaRPr lang="en-US" sz="1600" dirty="0"/>
          </a:p>
        </p:txBody>
      </p:sp>
      <p:sp>
        <p:nvSpPr>
          <p:cNvPr id="10" name="Text 6"/>
          <p:cNvSpPr/>
          <p:nvPr/>
        </p:nvSpPr>
        <p:spPr>
          <a:xfrm>
            <a:off x="2697480" y="2423160"/>
            <a:ext cx="1783080" cy="8229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Free-form labels</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"BigQuery", "Peppol", "onboarding"</a:t>
            </a:r>
            <a:endParaRPr lang="en-US" sz="1200" dirty="0"/>
          </a:p>
        </p:txBody>
      </p:sp>
      <p:sp>
        <p:nvSpPr>
          <p:cNvPr id="11" name="Shape 7"/>
          <p:cNvSpPr/>
          <p:nvPr/>
        </p:nvSpPr>
        <p:spPr>
          <a:xfrm>
            <a:off x="4754880" y="1188720"/>
            <a:ext cx="1965960" cy="2286000"/>
          </a:xfrm>
          <a:prstGeom prst="roundRect">
            <a:avLst>
              <a:gd name="adj" fmla="val 4651"/>
            </a:avLst>
          </a:prstGeom>
          <a:solidFill>
            <a:srgbClr val="1E293B"/>
          </a:solidFill>
          <a:ln/>
          <a:effectLst>
            <a:outerShdw sx="100000" sy="100000" kx="0" ky="0" algn="bl" rotWithShape="0" blurRad="101600" dist="38100" dir="2700000">
              <a:srgbClr val="000000">
                <a:alpha val="25000"/>
              </a:srgbClr>
            </a:outerShdw>
          </a:effectLst>
        </p:spPr>
      </p:sp>
      <p:pic>
        <p:nvPicPr>
          <p:cNvPr id="12" name="Image 2" descr="preencoded.png">    </p:cNvPr>
          <p:cNvPicPr>
            <a:picLocks noChangeAspect="1"/>
          </p:cNvPicPr>
          <p:nvPr/>
        </p:nvPicPr>
        <p:blipFill>
          <a:blip r:embed="rId3"/>
          <a:stretch>
            <a:fillRect/>
          </a:stretch>
        </p:blipFill>
        <p:spPr>
          <a:xfrm>
            <a:off x="5486400" y="1417320"/>
            <a:ext cx="457200" cy="457200"/>
          </a:xfrm>
          <a:prstGeom prst="rect">
            <a:avLst/>
          </a:prstGeom>
        </p:spPr>
      </p:pic>
      <p:sp>
        <p:nvSpPr>
          <p:cNvPr id="13" name="Text 8"/>
          <p:cNvSpPr/>
          <p:nvPr/>
        </p:nvSpPr>
        <p:spPr>
          <a:xfrm>
            <a:off x="4754880" y="2011680"/>
            <a:ext cx="1965960" cy="365760"/>
          </a:xfrm>
          <a:prstGeom prst="rect">
            <a:avLst/>
          </a:prstGeom>
          <a:noFill/>
          <a:ln/>
        </p:spPr>
        <p:txBody>
          <a:bodyPr wrap="square" lIns="0" tIns="0" rIns="0" bIns="0" rtlCol="0" anchor="ctr"/>
          <a:lstStyle/>
          <a:p>
            <a:pPr algn="ctr" indent="0" marL="0">
              <a:buNone/>
            </a:pPr>
            <a:r>
              <a:rPr lang="en-US" sz="1600" b="1" dirty="0">
                <a:solidFill>
                  <a:srgbClr val="06B6D4"/>
                </a:solidFill>
                <a:latin typeface="Calibri" pitchFamily="34" charset="0"/>
                <a:ea typeface="Calibri" pitchFamily="34" charset="-122"/>
                <a:cs typeface="Calibri" pitchFamily="34" charset="-120"/>
              </a:rPr>
              <a:t>Team / Product</a:t>
            </a:r>
            <a:endParaRPr lang="en-US" sz="1600" dirty="0"/>
          </a:p>
        </p:txBody>
      </p:sp>
      <p:sp>
        <p:nvSpPr>
          <p:cNvPr id="14" name="Text 9"/>
          <p:cNvSpPr/>
          <p:nvPr/>
        </p:nvSpPr>
        <p:spPr>
          <a:xfrm>
            <a:off x="4846320" y="2423160"/>
            <a:ext cx="1783080" cy="8229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Narrow search scope</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Open-read by default</a:t>
            </a:r>
            <a:endParaRPr lang="en-US" sz="1200" dirty="0"/>
          </a:p>
        </p:txBody>
      </p:sp>
      <p:sp>
        <p:nvSpPr>
          <p:cNvPr id="15" name="Shape 10"/>
          <p:cNvSpPr/>
          <p:nvPr/>
        </p:nvSpPr>
        <p:spPr>
          <a:xfrm>
            <a:off x="6903720" y="1188720"/>
            <a:ext cx="1965960" cy="2286000"/>
          </a:xfrm>
          <a:prstGeom prst="roundRect">
            <a:avLst>
              <a:gd name="adj" fmla="val 4651"/>
            </a:avLst>
          </a:prstGeom>
          <a:solidFill>
            <a:srgbClr val="1E293B"/>
          </a:solidFill>
          <a:ln/>
          <a:effectLst>
            <a:outerShdw sx="100000" sy="100000" kx="0" ky="0" algn="bl" rotWithShape="0" blurRad="101600" dist="38100" dir="2700000">
              <a:srgbClr val="000000">
                <a:alpha val="25000"/>
              </a:srgbClr>
            </a:outerShdw>
          </a:effectLst>
        </p:spPr>
      </p:sp>
      <p:pic>
        <p:nvPicPr>
          <p:cNvPr id="16" name="Image 3" descr="preencoded.png">    </p:cNvPr>
          <p:cNvPicPr>
            <a:picLocks noChangeAspect="1"/>
          </p:cNvPicPr>
          <p:nvPr/>
        </p:nvPicPr>
        <p:blipFill>
          <a:blip r:embed="rId4"/>
          <a:stretch>
            <a:fillRect/>
          </a:stretch>
        </p:blipFill>
        <p:spPr>
          <a:xfrm>
            <a:off x="7635240" y="1417320"/>
            <a:ext cx="457200" cy="457200"/>
          </a:xfrm>
          <a:prstGeom prst="rect">
            <a:avLst/>
          </a:prstGeom>
        </p:spPr>
      </p:pic>
      <p:sp>
        <p:nvSpPr>
          <p:cNvPr id="17" name="Text 11"/>
          <p:cNvSpPr/>
          <p:nvPr/>
        </p:nvSpPr>
        <p:spPr>
          <a:xfrm>
            <a:off x="6903720" y="2011680"/>
            <a:ext cx="1965960" cy="36576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Type</a:t>
            </a:r>
            <a:endParaRPr lang="en-US" sz="1600" dirty="0"/>
          </a:p>
        </p:txBody>
      </p:sp>
      <p:sp>
        <p:nvSpPr>
          <p:cNvPr id="18" name="Text 12"/>
          <p:cNvSpPr/>
          <p:nvPr/>
        </p:nvSpPr>
        <p:spPr>
          <a:xfrm>
            <a:off x="6995160" y="2423160"/>
            <a:ext cx="1783080" cy="8229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Spec, guide, runbook,</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reference...</a:t>
            </a:r>
            <a:endParaRPr lang="en-US" sz="1200" dirty="0"/>
          </a:p>
        </p:txBody>
      </p:sp>
      <p:sp>
        <p:nvSpPr>
          <p:cNvPr id="19" name="Shape 13"/>
          <p:cNvSpPr/>
          <p:nvPr/>
        </p:nvSpPr>
        <p:spPr>
          <a:xfrm>
            <a:off x="914400" y="3840480"/>
            <a:ext cx="7315200" cy="640080"/>
          </a:xfrm>
          <a:prstGeom prst="roundRect">
            <a:avLst>
              <a:gd name="adj" fmla="val 11429"/>
            </a:avLst>
          </a:prstGeom>
          <a:solidFill>
            <a:srgbClr val="1E293B"/>
          </a:solidFill>
          <a:ln/>
        </p:spPr>
      </p:sp>
      <p:sp>
        <p:nvSpPr>
          <p:cNvPr id="20" name="Text 14"/>
          <p:cNvSpPr/>
          <p:nvPr/>
        </p:nvSpPr>
        <p:spPr>
          <a:xfrm>
            <a:off x="1097280" y="3840480"/>
            <a:ext cx="6949440" cy="640080"/>
          </a:xfrm>
          <a:prstGeom prst="rect">
            <a:avLst/>
          </a:prstGeom>
          <a:noFill/>
          <a:ln/>
        </p:spPr>
        <p:txBody>
          <a:bodyPr wrap="square" lIns="0" tIns="0" rIns="0" bIns="0" rtlCol="0" anchor="ctr"/>
          <a:lstStyle/>
          <a:p>
            <a:pPr indent="0" marL="0">
              <a:buNone/>
            </a:pPr>
            <a:r>
              <a:rPr lang="en-US" sz="1300" i="1" dirty="0">
                <a:solidFill>
                  <a:srgbClr val="06B6D4"/>
                </a:solidFill>
                <a:latin typeface="Calibri" pitchFamily="34" charset="0"/>
                <a:ea typeface="Calibri" pitchFamily="34" charset="-122"/>
                <a:cs typeface="Calibri" pitchFamily="34" charset="-120"/>
              </a:rPr>
              <a:t>"Spread context, gate execution" — docs are readable by everyone; tags shape search, they don't gate access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931920" y="1371600"/>
            <a:ext cx="1280160" cy="1280160"/>
          </a:xfrm>
          <a:prstGeom prst="rect">
            <a:avLst/>
          </a:prstGeom>
        </p:spPr>
      </p:pic>
      <p:sp>
        <p:nvSpPr>
          <p:cNvPr id="3" name="Text 0"/>
          <p:cNvSpPr/>
          <p:nvPr/>
        </p:nvSpPr>
        <p:spPr>
          <a:xfrm>
            <a:off x="731520" y="2743200"/>
            <a:ext cx="7680960" cy="731520"/>
          </a:xfrm>
          <a:prstGeom prst="rect">
            <a:avLst/>
          </a:prstGeom>
          <a:noFill/>
          <a:ln/>
        </p:spPr>
        <p:txBody>
          <a:bodyPr wrap="square" lIns="0" tIns="0" rIns="0" bIns="0" rtlCol="0" anchor="ctr"/>
          <a:lstStyle/>
          <a:p>
            <a:pPr algn="ctr" indent="0" marL="0">
              <a:buNone/>
            </a:pPr>
            <a:r>
              <a:rPr lang="en-US" sz="4400" b="1" dirty="0">
                <a:solidFill>
                  <a:srgbClr val="F8FAFC"/>
                </a:solidFill>
                <a:latin typeface="Calibri" pitchFamily="34" charset="0"/>
                <a:ea typeface="Calibri" pitchFamily="34" charset="-122"/>
                <a:cs typeface="Calibri" pitchFamily="34" charset="-120"/>
              </a:rPr>
              <a:t>Upstreams</a:t>
            </a:r>
            <a:endParaRPr lang="en-US" sz="4400" dirty="0"/>
          </a:p>
        </p:txBody>
      </p:sp>
      <p:sp>
        <p:nvSpPr>
          <p:cNvPr id="4" name="Text 1"/>
          <p:cNvSpPr/>
          <p:nvPr/>
        </p:nvSpPr>
        <p:spPr>
          <a:xfrm>
            <a:off x="731520" y="3474720"/>
            <a:ext cx="7680960" cy="457200"/>
          </a:xfrm>
          <a:prstGeom prst="rect">
            <a:avLst/>
          </a:prstGeom>
          <a:noFill/>
          <a:ln/>
        </p:spPr>
        <p:txBody>
          <a:bodyPr wrap="square" lIns="0" tIns="0" rIns="0" bIns="0" rtlCol="0" anchor="ctr"/>
          <a:lstStyle/>
          <a:p>
            <a:pPr algn="ctr" indent="0" marL="0">
              <a:buNone/>
            </a:pPr>
            <a:r>
              <a:rPr lang="en-US" sz="1800" dirty="0">
                <a:solidFill>
                  <a:srgbClr val="F97316"/>
                </a:solidFill>
                <a:latin typeface="Calibri" pitchFamily="34" charset="0"/>
                <a:ea typeface="Calibri" pitchFamily="34" charset="-122"/>
                <a:cs typeface="Calibri" pitchFamily="34" charset="-120"/>
              </a:rPr>
              <a:t>Proxied MCP servers with centralised credentials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The yukitools tool catalogue</a:t>
            </a:r>
            <a:endParaRPr lang="en-US" sz="3600" dirty="0"/>
          </a:p>
        </p:txBody>
      </p:sp>
      <p:sp>
        <p:nvSpPr>
          <p:cNvPr id="3" name="Shape 1"/>
          <p:cNvSpPr/>
          <p:nvPr/>
        </p:nvSpPr>
        <p:spPr>
          <a:xfrm>
            <a:off x="457200" y="1097280"/>
            <a:ext cx="8229600" cy="731520"/>
          </a:xfrm>
          <a:prstGeom prst="roundRect">
            <a:avLst>
              <a:gd name="adj" fmla="val 10000"/>
            </a:avLst>
          </a:prstGeom>
          <a:solidFill>
            <a:srgbClr val="1E293B"/>
          </a:solidFill>
          <a:ln/>
          <a:effectLst>
            <a:outerShdw sx="100000" sy="100000" kx="0" ky="0" algn="bl" rotWithShape="0" blurRad="101600" dist="38100" dir="2700000">
              <a:srgbClr val="000000">
                <a:alpha val="25000"/>
              </a:srgbClr>
            </a:outerShdw>
          </a:effectLst>
        </p:spPr>
      </p:sp>
      <p:sp>
        <p:nvSpPr>
          <p:cNvPr id="4" name="Text 2"/>
          <p:cNvSpPr/>
          <p:nvPr/>
        </p:nvSpPr>
        <p:spPr>
          <a:xfrm>
            <a:off x="731520" y="1097280"/>
            <a:ext cx="1371600" cy="731520"/>
          </a:xfrm>
          <a:prstGeom prst="rect">
            <a:avLst/>
          </a:prstGeom>
          <a:noFill/>
          <a:ln/>
        </p:spPr>
        <p:txBody>
          <a:bodyPr wrap="square" lIns="0" tIns="0" rIns="0" bIns="0" rtlCol="0" anchor="ctr"/>
          <a:lstStyle/>
          <a:p>
            <a:pPr indent="0" marL="0">
              <a:buNone/>
            </a:pPr>
            <a:r>
              <a:rPr lang="en-US" sz="1800" b="1" dirty="0">
                <a:solidFill>
                  <a:srgbClr val="06B6D4"/>
                </a:solidFill>
                <a:latin typeface="Calibri" pitchFamily="34" charset="0"/>
                <a:ea typeface="Calibri" pitchFamily="34" charset="-122"/>
                <a:cs typeface="Calibri" pitchFamily="34" charset="-120"/>
              </a:rPr>
              <a:t>ADO</a:t>
            </a:r>
            <a:endParaRPr lang="en-US" sz="1800" dirty="0"/>
          </a:p>
        </p:txBody>
      </p:sp>
      <p:sp>
        <p:nvSpPr>
          <p:cNvPr id="5" name="Text 3"/>
          <p:cNvSpPr/>
          <p:nvPr/>
        </p:nvSpPr>
        <p:spPr>
          <a:xfrm>
            <a:off x="2103120" y="1097280"/>
            <a:ext cx="731520" cy="731520"/>
          </a:xfrm>
          <a:prstGeom prst="rect">
            <a:avLst/>
          </a:prstGeom>
          <a:noFill/>
          <a:ln/>
        </p:spPr>
        <p:txBody>
          <a:bodyPr wrap="square" lIns="0" tIns="0" rIns="0" bIns="0" rtlCol="0" anchor="ctr"/>
          <a:lstStyle/>
          <a:p>
            <a:pPr algn="ctr" indent="0" marL="0">
              <a:buNone/>
            </a:pPr>
            <a:r>
              <a:rPr lang="en-US" sz="2800" b="1" dirty="0">
                <a:solidFill>
                  <a:srgbClr val="F8FAFC"/>
                </a:solidFill>
                <a:latin typeface="Calibri" pitchFamily="34" charset="0"/>
                <a:ea typeface="Calibri" pitchFamily="34" charset="-122"/>
                <a:cs typeface="Calibri" pitchFamily="34" charset="-120"/>
              </a:rPr>
              <a:t>37</a:t>
            </a:r>
            <a:endParaRPr lang="en-US" sz="2800" dirty="0"/>
          </a:p>
        </p:txBody>
      </p:sp>
      <p:sp>
        <p:nvSpPr>
          <p:cNvPr id="6" name="Text 4"/>
          <p:cNvSpPr/>
          <p:nvPr/>
        </p:nvSpPr>
        <p:spPr>
          <a:xfrm>
            <a:off x="2743200" y="1097280"/>
            <a:ext cx="640080" cy="7315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tools</a:t>
            </a:r>
            <a:endParaRPr lang="en-US" sz="1100" dirty="0"/>
          </a:p>
        </p:txBody>
      </p:sp>
      <p:sp>
        <p:nvSpPr>
          <p:cNvPr id="7" name="Text 5"/>
          <p:cNvSpPr/>
          <p:nvPr/>
        </p:nvSpPr>
        <p:spPr>
          <a:xfrm>
            <a:off x="3474720" y="1097280"/>
            <a:ext cx="3840480" cy="7315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Work items, repos, pipelines, test plans, wiki</a:t>
            </a:r>
            <a:endParaRPr lang="en-US" sz="1200" dirty="0"/>
          </a:p>
        </p:txBody>
      </p:sp>
      <p:sp>
        <p:nvSpPr>
          <p:cNvPr id="8" name="Shape 6"/>
          <p:cNvSpPr/>
          <p:nvPr/>
        </p:nvSpPr>
        <p:spPr>
          <a:xfrm>
            <a:off x="7498080" y="1280160"/>
            <a:ext cx="1005840" cy="365760"/>
          </a:xfrm>
          <a:prstGeom prst="roundRect">
            <a:avLst>
              <a:gd name="adj" fmla="val 15000"/>
            </a:avLst>
          </a:prstGeom>
          <a:solidFill>
            <a:srgbClr val="8B5CF6">
              <a:alpha val="70000"/>
            </a:srgbClr>
          </a:solidFill>
          <a:ln/>
        </p:spPr>
      </p:sp>
      <p:sp>
        <p:nvSpPr>
          <p:cNvPr id="9" name="Text 7"/>
          <p:cNvSpPr/>
          <p:nvPr/>
        </p:nvSpPr>
        <p:spPr>
          <a:xfrm>
            <a:off x="7498080" y="1280160"/>
            <a:ext cx="1005840" cy="365760"/>
          </a:xfrm>
          <a:prstGeom prst="rect">
            <a:avLst/>
          </a:prstGeom>
          <a:noFill/>
          <a:ln/>
        </p:spPr>
        <p:txBody>
          <a:bodyPr wrap="square" lIns="0" tIns="0" rIns="0" bIns="0" rtlCol="0" anchor="ctr"/>
          <a:lstStyle/>
          <a:p>
            <a:pPr algn="ctr" indent="0" marL="0">
              <a:buNone/>
            </a:pPr>
            <a:r>
              <a:rPr lang="en-US" sz="1000" dirty="0">
                <a:solidFill>
                  <a:srgbClr val="8B5CF6"/>
                </a:solidFill>
                <a:latin typeface="Calibri" pitchFamily="34" charset="0"/>
                <a:ea typeface="Calibri" pitchFamily="34" charset="-122"/>
                <a:cs typeface="Calibri" pitchFamily="34" charset="-120"/>
              </a:rPr>
              <a:t>2 skills</a:t>
            </a:r>
            <a:endParaRPr lang="en-US" sz="1000" dirty="0"/>
          </a:p>
        </p:txBody>
      </p:sp>
      <p:sp>
        <p:nvSpPr>
          <p:cNvPr id="10" name="Shape 8"/>
          <p:cNvSpPr/>
          <p:nvPr/>
        </p:nvSpPr>
        <p:spPr>
          <a:xfrm>
            <a:off x="457200" y="2011680"/>
            <a:ext cx="8229600" cy="731520"/>
          </a:xfrm>
          <a:prstGeom prst="roundRect">
            <a:avLst>
              <a:gd name="adj" fmla="val 10000"/>
            </a:avLst>
          </a:prstGeom>
          <a:solidFill>
            <a:srgbClr val="1E293B"/>
          </a:solidFill>
          <a:ln/>
          <a:effectLst>
            <a:outerShdw sx="100000" sy="100000" kx="0" ky="0" algn="bl" rotWithShape="0" blurRad="101600" dist="38100" dir="2700000">
              <a:srgbClr val="000000">
                <a:alpha val="25000"/>
              </a:srgbClr>
            </a:outerShdw>
          </a:effectLst>
        </p:spPr>
      </p:sp>
      <p:sp>
        <p:nvSpPr>
          <p:cNvPr id="11" name="Text 9"/>
          <p:cNvSpPr/>
          <p:nvPr/>
        </p:nvSpPr>
        <p:spPr>
          <a:xfrm>
            <a:off x="731520" y="2011680"/>
            <a:ext cx="1371600" cy="731520"/>
          </a:xfrm>
          <a:prstGeom prst="rect">
            <a:avLst/>
          </a:prstGeom>
          <a:noFill/>
          <a:ln/>
        </p:spPr>
        <p:txBody>
          <a:bodyPr wrap="square" lIns="0" tIns="0" rIns="0" bIns="0" rtlCol="0" anchor="ctr"/>
          <a:lstStyle/>
          <a:p>
            <a:pPr indent="0" marL="0">
              <a:buNone/>
            </a:pPr>
            <a:r>
              <a:rPr lang="en-US" sz="1800" b="1" dirty="0">
                <a:solidFill>
                  <a:srgbClr val="F97316"/>
                </a:solidFill>
                <a:latin typeface="Calibri" pitchFamily="34" charset="0"/>
                <a:ea typeface="Calibri" pitchFamily="34" charset="-122"/>
                <a:cs typeface="Calibri" pitchFamily="34" charset="-120"/>
              </a:rPr>
              <a:t>Notion</a:t>
            </a:r>
            <a:endParaRPr lang="en-US" sz="1800" dirty="0"/>
          </a:p>
        </p:txBody>
      </p:sp>
      <p:sp>
        <p:nvSpPr>
          <p:cNvPr id="12" name="Text 10"/>
          <p:cNvSpPr/>
          <p:nvPr/>
        </p:nvSpPr>
        <p:spPr>
          <a:xfrm>
            <a:off x="2103120" y="2011680"/>
            <a:ext cx="731520" cy="731520"/>
          </a:xfrm>
          <a:prstGeom prst="rect">
            <a:avLst/>
          </a:prstGeom>
          <a:noFill/>
          <a:ln/>
        </p:spPr>
        <p:txBody>
          <a:bodyPr wrap="square" lIns="0" tIns="0" rIns="0" bIns="0" rtlCol="0" anchor="ctr"/>
          <a:lstStyle/>
          <a:p>
            <a:pPr algn="ctr" indent="0" marL="0">
              <a:buNone/>
            </a:pPr>
            <a:r>
              <a:rPr lang="en-US" sz="2800" b="1" dirty="0">
                <a:solidFill>
                  <a:srgbClr val="F8FAFC"/>
                </a:solidFill>
                <a:latin typeface="Calibri" pitchFamily="34" charset="0"/>
                <a:ea typeface="Calibri" pitchFamily="34" charset="-122"/>
                <a:cs typeface="Calibri" pitchFamily="34" charset="-120"/>
              </a:rPr>
              <a:t>18</a:t>
            </a:r>
            <a:endParaRPr lang="en-US" sz="2800" dirty="0"/>
          </a:p>
        </p:txBody>
      </p:sp>
      <p:sp>
        <p:nvSpPr>
          <p:cNvPr id="13" name="Text 11"/>
          <p:cNvSpPr/>
          <p:nvPr/>
        </p:nvSpPr>
        <p:spPr>
          <a:xfrm>
            <a:off x="2743200" y="2011680"/>
            <a:ext cx="640080" cy="7315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tools</a:t>
            </a:r>
            <a:endParaRPr lang="en-US" sz="1100" dirty="0"/>
          </a:p>
        </p:txBody>
      </p:sp>
      <p:sp>
        <p:nvSpPr>
          <p:cNvPr id="14" name="Text 12"/>
          <p:cNvSpPr/>
          <p:nvPr/>
        </p:nvSpPr>
        <p:spPr>
          <a:xfrm>
            <a:off x="3474720" y="2011680"/>
            <a:ext cx="3840480" cy="7315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Pages, databases, views, comments</a:t>
            </a:r>
            <a:endParaRPr lang="en-US" sz="1200" dirty="0"/>
          </a:p>
        </p:txBody>
      </p:sp>
      <p:sp>
        <p:nvSpPr>
          <p:cNvPr id="15" name="Shape 13"/>
          <p:cNvSpPr/>
          <p:nvPr/>
        </p:nvSpPr>
        <p:spPr>
          <a:xfrm>
            <a:off x="457200" y="2926080"/>
            <a:ext cx="8229600" cy="731520"/>
          </a:xfrm>
          <a:prstGeom prst="roundRect">
            <a:avLst>
              <a:gd name="adj" fmla="val 10000"/>
            </a:avLst>
          </a:prstGeom>
          <a:solidFill>
            <a:srgbClr val="1E293B"/>
          </a:solidFill>
          <a:ln/>
          <a:effectLst>
            <a:outerShdw sx="100000" sy="100000" kx="0" ky="0" algn="bl" rotWithShape="0" blurRad="101600" dist="38100" dir="2700000">
              <a:srgbClr val="000000">
                <a:alpha val="25000"/>
              </a:srgbClr>
            </a:outerShdw>
          </a:effectLst>
        </p:spPr>
      </p:sp>
      <p:sp>
        <p:nvSpPr>
          <p:cNvPr id="16" name="Text 14"/>
          <p:cNvSpPr/>
          <p:nvPr/>
        </p:nvSpPr>
        <p:spPr>
          <a:xfrm>
            <a:off x="731520" y="2926080"/>
            <a:ext cx="1371600" cy="731520"/>
          </a:xfrm>
          <a:prstGeom prst="rect">
            <a:avLst/>
          </a:prstGeom>
          <a:noFill/>
          <a:ln/>
        </p:spPr>
        <p:txBody>
          <a:bodyPr wrap="square" lIns="0" tIns="0" rIns="0" bIns="0" rtlCol="0" anchor="ctr"/>
          <a:lstStyle/>
          <a:p>
            <a:pPr indent="0" marL="0">
              <a:buNone/>
            </a:pPr>
            <a:r>
              <a:rPr lang="en-US" sz="1800" b="1" dirty="0">
                <a:solidFill>
                  <a:srgbClr val="8B5CF6"/>
                </a:solidFill>
                <a:latin typeface="Calibri" pitchFamily="34" charset="0"/>
                <a:ea typeface="Calibri" pitchFamily="34" charset="-122"/>
                <a:cs typeface="Calibri" pitchFamily="34" charset="-120"/>
              </a:rPr>
              <a:t>Driver</a:t>
            </a:r>
            <a:endParaRPr lang="en-US" sz="1800" dirty="0"/>
          </a:p>
        </p:txBody>
      </p:sp>
      <p:sp>
        <p:nvSpPr>
          <p:cNvPr id="17" name="Text 15"/>
          <p:cNvSpPr/>
          <p:nvPr/>
        </p:nvSpPr>
        <p:spPr>
          <a:xfrm>
            <a:off x="2103120" y="2926080"/>
            <a:ext cx="731520" cy="731520"/>
          </a:xfrm>
          <a:prstGeom prst="rect">
            <a:avLst/>
          </a:prstGeom>
          <a:noFill/>
          <a:ln/>
        </p:spPr>
        <p:txBody>
          <a:bodyPr wrap="square" lIns="0" tIns="0" rIns="0" bIns="0" rtlCol="0" anchor="ctr"/>
          <a:lstStyle/>
          <a:p>
            <a:pPr algn="ctr" indent="0" marL="0">
              <a:buNone/>
            </a:pPr>
            <a:r>
              <a:rPr lang="en-US" sz="2800" b="1" dirty="0">
                <a:solidFill>
                  <a:srgbClr val="F8FAFC"/>
                </a:solidFill>
                <a:latin typeface="Calibri" pitchFamily="34" charset="0"/>
                <a:ea typeface="Calibri" pitchFamily="34" charset="-122"/>
                <a:cs typeface="Calibri" pitchFamily="34" charset="-120"/>
              </a:rPr>
              <a:t>14</a:t>
            </a:r>
            <a:endParaRPr lang="en-US" sz="2800" dirty="0"/>
          </a:p>
        </p:txBody>
      </p:sp>
      <p:sp>
        <p:nvSpPr>
          <p:cNvPr id="18" name="Text 16"/>
          <p:cNvSpPr/>
          <p:nvPr/>
        </p:nvSpPr>
        <p:spPr>
          <a:xfrm>
            <a:off x="2743200" y="2926080"/>
            <a:ext cx="640080" cy="7315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tools</a:t>
            </a:r>
            <a:endParaRPr lang="en-US" sz="1100" dirty="0"/>
          </a:p>
        </p:txBody>
      </p:sp>
      <p:sp>
        <p:nvSpPr>
          <p:cNvPr id="19" name="Text 17"/>
          <p:cNvSpPr/>
          <p:nvPr/>
        </p:nvSpPr>
        <p:spPr>
          <a:xfrm>
            <a:off x="3474720" y="2926080"/>
            <a:ext cx="3840480" cy="7315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Code maps, changelogs, architecture, file docs</a:t>
            </a:r>
            <a:endParaRPr lang="en-US" sz="1200" dirty="0"/>
          </a:p>
        </p:txBody>
      </p:sp>
      <p:sp>
        <p:nvSpPr>
          <p:cNvPr id="20" name="Shape 18"/>
          <p:cNvSpPr/>
          <p:nvPr/>
        </p:nvSpPr>
        <p:spPr>
          <a:xfrm>
            <a:off x="7498080" y="3108960"/>
            <a:ext cx="1005840" cy="365760"/>
          </a:xfrm>
          <a:prstGeom prst="roundRect">
            <a:avLst>
              <a:gd name="adj" fmla="val 15000"/>
            </a:avLst>
          </a:prstGeom>
          <a:solidFill>
            <a:srgbClr val="8B5CF6">
              <a:alpha val="70000"/>
            </a:srgbClr>
          </a:solidFill>
          <a:ln/>
        </p:spPr>
      </p:sp>
      <p:sp>
        <p:nvSpPr>
          <p:cNvPr id="21" name="Text 19"/>
          <p:cNvSpPr/>
          <p:nvPr/>
        </p:nvSpPr>
        <p:spPr>
          <a:xfrm>
            <a:off x="7498080" y="3108960"/>
            <a:ext cx="1005840" cy="365760"/>
          </a:xfrm>
          <a:prstGeom prst="rect">
            <a:avLst/>
          </a:prstGeom>
          <a:noFill/>
          <a:ln/>
        </p:spPr>
        <p:txBody>
          <a:bodyPr wrap="square" lIns="0" tIns="0" rIns="0" bIns="0" rtlCol="0" anchor="ctr"/>
          <a:lstStyle/>
          <a:p>
            <a:pPr algn="ctr" indent="0" marL="0">
              <a:buNone/>
            </a:pPr>
            <a:r>
              <a:rPr lang="en-US" sz="1000" dirty="0">
                <a:solidFill>
                  <a:srgbClr val="8B5CF6"/>
                </a:solidFill>
                <a:latin typeface="Calibri" pitchFamily="34" charset="0"/>
                <a:ea typeface="Calibri" pitchFamily="34" charset="-122"/>
                <a:cs typeface="Calibri" pitchFamily="34" charset="-120"/>
              </a:rPr>
              <a:t>2 skills</a:t>
            </a:r>
            <a:endParaRPr lang="en-US" sz="1000" dirty="0"/>
          </a:p>
        </p:txBody>
      </p:sp>
      <p:sp>
        <p:nvSpPr>
          <p:cNvPr id="22" name="Shape 20"/>
          <p:cNvSpPr/>
          <p:nvPr/>
        </p:nvSpPr>
        <p:spPr>
          <a:xfrm>
            <a:off x="457200" y="3840480"/>
            <a:ext cx="8229600" cy="731520"/>
          </a:xfrm>
          <a:prstGeom prst="roundRect">
            <a:avLst>
              <a:gd name="adj" fmla="val 10000"/>
            </a:avLst>
          </a:prstGeom>
          <a:solidFill>
            <a:srgbClr val="1E293B"/>
          </a:solidFill>
          <a:ln/>
          <a:effectLst>
            <a:outerShdw sx="100000" sy="100000" kx="0" ky="0" algn="bl" rotWithShape="0" blurRad="101600" dist="38100" dir="2700000">
              <a:srgbClr val="000000">
                <a:alpha val="25000"/>
              </a:srgbClr>
            </a:outerShdw>
          </a:effectLst>
        </p:spPr>
      </p:sp>
      <p:sp>
        <p:nvSpPr>
          <p:cNvPr id="23" name="Text 21"/>
          <p:cNvSpPr/>
          <p:nvPr/>
        </p:nvSpPr>
        <p:spPr>
          <a:xfrm>
            <a:off x="731520" y="3840480"/>
            <a:ext cx="1371600" cy="731520"/>
          </a:xfrm>
          <a:prstGeom prst="rect">
            <a:avLst/>
          </a:prstGeom>
          <a:noFill/>
          <a:ln/>
        </p:spPr>
        <p:txBody>
          <a:bodyPr wrap="square" lIns="0" tIns="0" rIns="0" bIns="0" rtlCol="0" anchor="ctr"/>
          <a:lstStyle/>
          <a:p>
            <a:pPr indent="0" marL="0">
              <a:buNone/>
            </a:pPr>
            <a:r>
              <a:rPr lang="en-US" sz="1800" b="1" dirty="0">
                <a:solidFill>
                  <a:srgbClr val="10B981"/>
                </a:solidFill>
                <a:latin typeface="Calibri" pitchFamily="34" charset="0"/>
                <a:ea typeface="Calibri" pitchFamily="34" charset="-122"/>
                <a:cs typeface="Calibri" pitchFamily="34" charset="-120"/>
              </a:rPr>
              <a:t>Yuki IA</a:t>
            </a:r>
            <a:endParaRPr lang="en-US" sz="1800" dirty="0"/>
          </a:p>
        </p:txBody>
      </p:sp>
      <p:sp>
        <p:nvSpPr>
          <p:cNvPr id="24" name="Text 22"/>
          <p:cNvSpPr/>
          <p:nvPr/>
        </p:nvSpPr>
        <p:spPr>
          <a:xfrm>
            <a:off x="2103120" y="3840480"/>
            <a:ext cx="731520" cy="731520"/>
          </a:xfrm>
          <a:prstGeom prst="rect">
            <a:avLst/>
          </a:prstGeom>
          <a:noFill/>
          <a:ln/>
        </p:spPr>
        <p:txBody>
          <a:bodyPr wrap="square" lIns="0" tIns="0" rIns="0" bIns="0" rtlCol="0" anchor="ctr"/>
          <a:lstStyle/>
          <a:p>
            <a:pPr algn="ctr" indent="0" marL="0">
              <a:buNone/>
            </a:pPr>
            <a:r>
              <a:rPr lang="en-US" sz="2800" b="1" dirty="0">
                <a:solidFill>
                  <a:srgbClr val="F8FAFC"/>
                </a:solidFill>
                <a:latin typeface="Calibri" pitchFamily="34" charset="0"/>
                <a:ea typeface="Calibri" pitchFamily="34" charset="-122"/>
                <a:cs typeface="Calibri" pitchFamily="34" charset="-120"/>
              </a:rPr>
              <a:t>12</a:t>
            </a:r>
            <a:endParaRPr lang="en-US" sz="2800" dirty="0"/>
          </a:p>
        </p:txBody>
      </p:sp>
      <p:sp>
        <p:nvSpPr>
          <p:cNvPr id="25" name="Text 23"/>
          <p:cNvSpPr/>
          <p:nvPr/>
        </p:nvSpPr>
        <p:spPr>
          <a:xfrm>
            <a:off x="2743200" y="3840480"/>
            <a:ext cx="640080" cy="7315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tools</a:t>
            </a:r>
            <a:endParaRPr lang="en-US" sz="1100" dirty="0"/>
          </a:p>
        </p:txBody>
      </p:sp>
      <p:sp>
        <p:nvSpPr>
          <p:cNvPr id="26" name="Text 24"/>
          <p:cNvSpPr/>
          <p:nvPr/>
        </p:nvSpPr>
        <p:spPr>
          <a:xfrm>
            <a:off x="3474720" y="3840480"/>
            <a:ext cx="3840480" cy="7315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Information architecture: nodes, components, projects</a:t>
            </a:r>
            <a:endParaRPr lang="en-US" sz="1200" dirty="0"/>
          </a:p>
        </p:txBody>
      </p:sp>
      <p:sp>
        <p:nvSpPr>
          <p:cNvPr id="27" name="Text 25"/>
          <p:cNvSpPr/>
          <p:nvPr/>
        </p:nvSpPr>
        <p:spPr>
          <a:xfrm>
            <a:off x="914400" y="4297680"/>
            <a:ext cx="7315200" cy="365760"/>
          </a:xfrm>
          <a:prstGeom prst="rect">
            <a:avLst/>
          </a:prstGeom>
          <a:noFill/>
          <a:ln/>
        </p:spPr>
        <p:txBody>
          <a:bodyPr wrap="square" lIns="0" tIns="0" rIns="0" bIns="0" rtlCol="0" anchor="ctr"/>
          <a:lstStyle/>
          <a:p>
            <a:pPr algn="ctr" indent="0" marL="0">
              <a:buNone/>
            </a:pPr>
            <a:r>
              <a:rPr lang="en-US" sz="1500" b="1" dirty="0">
                <a:solidFill>
                  <a:srgbClr val="F97316"/>
                </a:solidFill>
                <a:latin typeface="Calibri" pitchFamily="34" charset="0"/>
                <a:ea typeface="Calibri" pitchFamily="34" charset="-122"/>
                <a:cs typeface="Calibri" pitchFamily="34" charset="-120"/>
              </a:rPr>
              <a:t>81 tools across 4 upstreams — all through one MCP connection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Tool naming</a:t>
            </a:r>
            <a:endParaRPr lang="en-US" sz="3600" dirty="0"/>
          </a:p>
        </p:txBody>
      </p:sp>
      <p:sp>
        <p:nvSpPr>
          <p:cNvPr id="3" name="Text 1"/>
          <p:cNvSpPr/>
          <p:nvPr/>
        </p:nvSpPr>
        <p:spPr>
          <a:xfrm>
            <a:off x="731520" y="868680"/>
            <a:ext cx="7680960" cy="365760"/>
          </a:xfrm>
          <a:prstGeom prst="rect">
            <a:avLst/>
          </a:prstGeom>
          <a:noFill/>
          <a:ln/>
        </p:spPr>
        <p:txBody>
          <a:bodyPr wrap="square" lIns="0" tIns="0" rIns="0" bIns="0" rtlCol="0" anchor="ctr"/>
          <a:lstStyle/>
          <a:p>
            <a:pPr indent="0" marL="0">
              <a:buNone/>
            </a:pPr>
            <a:r>
              <a:rPr lang="en-US" sz="1600" dirty="0">
                <a:solidFill>
                  <a:srgbClr val="F97316"/>
                </a:solidFill>
                <a:latin typeface="Calibri" pitchFamily="34" charset="0"/>
                <a:ea typeface="Calibri" pitchFamily="34" charset="-122"/>
                <a:cs typeface="Calibri" pitchFamily="34" charset="-120"/>
              </a:rPr>
              <a:t>Every tool gets a namespaced prefix</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7680960" cy="1828800"/>
        </p:xfrm>
        <a:graphic>
          <a:graphicData uri="http://schemas.openxmlformats.org/drawingml/2006/table">
            <a:tbl>
              <a:tblPr/>
              <a:tblGrid>
                <a:gridCol w="1371600"/>
                <a:gridCol w="2560320"/>
                <a:gridCol w="3749040"/>
              </a:tblGrid>
              <a:tr h="411480">
                <a:tc>
                  <a:txBody>
                    <a:bodyPr/>
                    <a:lstStyle/>
                    <a:p>
                      <a:pPr algn="ctr" indent="0" marL="0">
                        <a:buNone/>
                      </a:pPr>
                      <a:r>
                        <a:rPr lang="en-US" sz="1300" b="1" dirty="0">
                          <a:solidFill>
                            <a:srgbClr val="0F172A"/>
                          </a:solidFill>
                          <a:latin typeface="Calibri" pitchFamily="34" charset="0"/>
                          <a:ea typeface="Calibri" pitchFamily="34" charset="-122"/>
                          <a:cs typeface="Calibri" pitchFamily="34" charset="-120"/>
                        </a:rPr>
                        <a:t>Upstream</a:t>
                      </a:r>
                      <a:endParaRPr lang="en-US" sz="13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F97316"/>
                    </a:solidFill>
                  </a:tcPr>
                </a:tc>
                <a:tc>
                  <a:txBody>
                    <a:bodyPr/>
                    <a:lstStyle/>
                    <a:p>
                      <a:pPr algn="ctr" indent="0" marL="0">
                        <a:buNone/>
                      </a:pPr>
                      <a:r>
                        <a:rPr lang="en-US" sz="1300" b="1" dirty="0">
                          <a:solidFill>
                            <a:srgbClr val="0F172A"/>
                          </a:solidFill>
                          <a:latin typeface="Calibri" pitchFamily="34" charset="0"/>
                          <a:ea typeface="Calibri" pitchFamily="34" charset="-122"/>
                          <a:cs typeface="Calibri" pitchFamily="34" charset="-120"/>
                        </a:rPr>
                        <a:t>Native tool name</a:t>
                      </a:r>
                      <a:endParaRPr lang="en-US" sz="13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F97316"/>
                    </a:solidFill>
                  </a:tcPr>
                </a:tc>
                <a:tc>
                  <a:txBody>
                    <a:bodyPr/>
                    <a:lstStyle/>
                    <a:p>
                      <a:pPr algn="ctr" indent="0" marL="0">
                        <a:buNone/>
                      </a:pPr>
                      <a:r>
                        <a:rPr lang="en-US" sz="1300" b="1" dirty="0">
                          <a:solidFill>
                            <a:srgbClr val="0F172A"/>
                          </a:solidFill>
                          <a:latin typeface="Calibri" pitchFamily="34" charset="0"/>
                          <a:ea typeface="Calibri" pitchFamily="34" charset="-122"/>
                          <a:cs typeface="Calibri" pitchFamily="34" charset="-120"/>
                        </a:rPr>
                        <a:t>What you call in Claude</a:t>
                      </a:r>
                      <a:endParaRPr lang="en-US" sz="13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F97316"/>
                    </a:solidFill>
                  </a:tcPr>
                </a:tc>
              </a:tr>
              <a:tr h="411480">
                <a:tc>
                  <a:txBody>
                    <a:bodyPr/>
                    <a:lstStyle/>
                    <a:p>
                      <a:pPr indent="0" marL="0">
                        <a:buNone/>
                      </a:pPr>
                      <a:r>
                        <a:rPr lang="en-US" sz="1200" b="1" dirty="0">
                          <a:solidFill>
                            <a:srgbClr val="F8FAFC"/>
                          </a:solidFill>
                          <a:latin typeface="Calibri" pitchFamily="34" charset="0"/>
                          <a:ea typeface="Calibri" pitchFamily="34" charset="-122"/>
                          <a:cs typeface="Calibri" pitchFamily="34" charset="-120"/>
                        </a:rPr>
                        <a:t>ADO</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wit_work_item</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up-ado__wit_work_item</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411480">
                <a:tc>
                  <a:txBody>
                    <a:bodyPr/>
                    <a:lstStyle/>
                    <a:p>
                      <a:pPr indent="0" marL="0">
                        <a:buNone/>
                      </a:pPr>
                      <a:r>
                        <a:rPr lang="en-US" sz="1200" b="1" dirty="0">
                          <a:solidFill>
                            <a:srgbClr val="F8FAFC"/>
                          </a:solidFill>
                          <a:latin typeface="Calibri" pitchFamily="34" charset="0"/>
                          <a:ea typeface="Calibri" pitchFamily="34" charset="-122"/>
                          <a:cs typeface="Calibri" pitchFamily="34" charset="-120"/>
                        </a:rPr>
                        <a:t>Notion</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notion-search</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up-notion__notion-search</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r>
              <a:tr h="411480">
                <a:tc>
                  <a:txBody>
                    <a:bodyPr/>
                    <a:lstStyle/>
                    <a:p>
                      <a:pPr indent="0" marL="0">
                        <a:buNone/>
                      </a:pPr>
                      <a:r>
                        <a:rPr lang="en-US" sz="1200" b="1" dirty="0">
                          <a:solidFill>
                            <a:srgbClr val="F8FAFC"/>
                          </a:solidFill>
                          <a:latin typeface="Calibri" pitchFamily="34" charset="0"/>
                          <a:ea typeface="Calibri" pitchFamily="34" charset="-122"/>
                          <a:cs typeface="Calibri" pitchFamily="34" charset="-120"/>
                        </a:rPr>
                        <a:t>Driver</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get_code_map</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up-driver__get_code_map</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bl>
          </a:graphicData>
        </a:graphic>
      </p:graphicFrame>
      <p:sp>
        <p:nvSpPr>
          <p:cNvPr id="5" name="Text 2"/>
          <p:cNvSpPr/>
          <p:nvPr/>
        </p:nvSpPr>
        <p:spPr>
          <a:xfrm>
            <a:off x="731520" y="3566160"/>
            <a:ext cx="1828800" cy="365760"/>
          </a:xfrm>
          <a:prstGeom prst="rect">
            <a:avLst/>
          </a:prstGeom>
          <a:noFill/>
          <a:ln/>
        </p:spPr>
        <p:txBody>
          <a:bodyPr wrap="square" lIns="0" tIns="0" rIns="0" bIns="0" rtlCol="0" anchor="ctr"/>
          <a:lstStyle/>
          <a:p>
            <a:pPr indent="0" marL="0">
              <a:buNone/>
            </a:pPr>
            <a:r>
              <a:rPr lang="en-US" sz="1400" b="1" dirty="0">
                <a:solidFill>
                  <a:srgbClr val="F8FAFC"/>
                </a:solidFill>
                <a:latin typeface="Calibri" pitchFamily="34" charset="0"/>
                <a:ea typeface="Calibri" pitchFamily="34" charset="-122"/>
                <a:cs typeface="Calibri" pitchFamily="34" charset="-120"/>
              </a:rPr>
              <a:t>Agent discovery:</a:t>
            </a:r>
            <a:endParaRPr lang="en-US" sz="1400" dirty="0"/>
          </a:p>
        </p:txBody>
      </p:sp>
      <p:sp>
        <p:nvSpPr>
          <p:cNvPr id="6" name="Shape 3"/>
          <p:cNvSpPr/>
          <p:nvPr/>
        </p:nvSpPr>
        <p:spPr>
          <a:xfrm>
            <a:off x="731520" y="3977640"/>
            <a:ext cx="2377440" cy="457200"/>
          </a:xfrm>
          <a:prstGeom prst="roundRect">
            <a:avLst>
              <a:gd name="adj" fmla="val 12000"/>
            </a:avLst>
          </a:prstGeom>
          <a:solidFill>
            <a:srgbClr val="1E293B"/>
          </a:solidFill>
          <a:ln/>
        </p:spPr>
      </p:sp>
      <p:sp>
        <p:nvSpPr>
          <p:cNvPr id="7" name="Text 4"/>
          <p:cNvSpPr/>
          <p:nvPr/>
        </p:nvSpPr>
        <p:spPr>
          <a:xfrm>
            <a:off x="731520" y="3977640"/>
            <a:ext cx="2377440" cy="457200"/>
          </a:xfrm>
          <a:prstGeom prst="rect">
            <a:avLst/>
          </a:prstGeom>
          <a:noFill/>
          <a:ln/>
        </p:spPr>
        <p:txBody>
          <a:bodyPr wrap="square" lIns="0" tIns="0" rIns="0" bIns="0" rtlCol="0" anchor="ctr"/>
          <a:lstStyle/>
          <a:p>
            <a:pPr algn="ctr" indent="0" marL="0">
              <a:buNone/>
            </a:pPr>
            <a:r>
              <a:rPr lang="en-US" sz="1200" dirty="0">
                <a:solidFill>
                  <a:srgbClr val="06B6D4"/>
                </a:solidFill>
                <a:latin typeface="Courier New" pitchFamily="34" charset="0"/>
                <a:ea typeface="Courier New" pitchFamily="34" charset="-122"/>
                <a:cs typeface="Courier New" pitchFamily="34" charset="-120"/>
              </a:rPr>
              <a:t>list_upstreams</a:t>
            </a:r>
            <a:endParaRPr lang="en-US" sz="1200" dirty="0"/>
          </a:p>
        </p:txBody>
      </p:sp>
      <p:pic>
        <p:nvPicPr>
          <p:cNvPr id="8" name="Image 0" descr="preencoded.png">    </p:cNvPr>
          <p:cNvPicPr>
            <a:picLocks noChangeAspect="1"/>
          </p:cNvPicPr>
          <p:nvPr/>
        </p:nvPicPr>
        <p:blipFill>
          <a:blip r:embed="rId1"/>
          <a:stretch>
            <a:fillRect/>
          </a:stretch>
        </p:blipFill>
        <p:spPr>
          <a:xfrm>
            <a:off x="3108960" y="4041648"/>
            <a:ext cx="320040" cy="320040"/>
          </a:xfrm>
          <a:prstGeom prst="rect">
            <a:avLst/>
          </a:prstGeom>
        </p:spPr>
      </p:pic>
      <p:sp>
        <p:nvSpPr>
          <p:cNvPr id="9" name="Shape 5"/>
          <p:cNvSpPr/>
          <p:nvPr/>
        </p:nvSpPr>
        <p:spPr>
          <a:xfrm>
            <a:off x="3566160" y="3977640"/>
            <a:ext cx="2377440" cy="457200"/>
          </a:xfrm>
          <a:prstGeom prst="roundRect">
            <a:avLst>
              <a:gd name="adj" fmla="val 12000"/>
            </a:avLst>
          </a:prstGeom>
          <a:solidFill>
            <a:srgbClr val="1E293B"/>
          </a:solidFill>
          <a:ln/>
        </p:spPr>
      </p:sp>
      <p:sp>
        <p:nvSpPr>
          <p:cNvPr id="10" name="Text 6"/>
          <p:cNvSpPr/>
          <p:nvPr/>
        </p:nvSpPr>
        <p:spPr>
          <a:xfrm>
            <a:off x="3566160" y="3977640"/>
            <a:ext cx="2377440" cy="457200"/>
          </a:xfrm>
          <a:prstGeom prst="rect">
            <a:avLst/>
          </a:prstGeom>
          <a:noFill/>
          <a:ln/>
        </p:spPr>
        <p:txBody>
          <a:bodyPr wrap="square" lIns="0" tIns="0" rIns="0" bIns="0" rtlCol="0" anchor="ctr"/>
          <a:lstStyle/>
          <a:p>
            <a:pPr algn="ctr" indent="0" marL="0">
              <a:buNone/>
            </a:pPr>
            <a:r>
              <a:rPr lang="en-US" sz="1200" dirty="0">
                <a:solidFill>
                  <a:srgbClr val="06B6D4"/>
                </a:solidFill>
                <a:latin typeface="Courier New" pitchFamily="34" charset="0"/>
                <a:ea typeface="Courier New" pitchFamily="34" charset="-122"/>
                <a:cs typeface="Courier New" pitchFamily="34" charset="-120"/>
              </a:rPr>
              <a:t>describe_upstream("up-ado")</a:t>
            </a:r>
            <a:endParaRPr lang="en-US" sz="1200" dirty="0"/>
          </a:p>
        </p:txBody>
      </p:sp>
      <p:pic>
        <p:nvPicPr>
          <p:cNvPr id="11" name="Image 1" descr="preencoded.png">    </p:cNvPr>
          <p:cNvPicPr>
            <a:picLocks noChangeAspect="1"/>
          </p:cNvPicPr>
          <p:nvPr/>
        </p:nvPicPr>
        <p:blipFill>
          <a:blip r:embed="rId2"/>
          <a:stretch>
            <a:fillRect/>
          </a:stretch>
        </p:blipFill>
        <p:spPr>
          <a:xfrm>
            <a:off x="5943600" y="4041648"/>
            <a:ext cx="320040" cy="320040"/>
          </a:xfrm>
          <a:prstGeom prst="rect">
            <a:avLst/>
          </a:prstGeom>
        </p:spPr>
      </p:pic>
      <p:sp>
        <p:nvSpPr>
          <p:cNvPr id="12" name="Shape 7"/>
          <p:cNvSpPr/>
          <p:nvPr/>
        </p:nvSpPr>
        <p:spPr>
          <a:xfrm>
            <a:off x="6400800" y="3977640"/>
            <a:ext cx="2377440" cy="457200"/>
          </a:xfrm>
          <a:prstGeom prst="roundRect">
            <a:avLst>
              <a:gd name="adj" fmla="val 12000"/>
            </a:avLst>
          </a:prstGeom>
          <a:solidFill>
            <a:srgbClr val="1E293B"/>
          </a:solidFill>
          <a:ln/>
        </p:spPr>
      </p:sp>
      <p:sp>
        <p:nvSpPr>
          <p:cNvPr id="13" name="Text 8"/>
          <p:cNvSpPr/>
          <p:nvPr/>
        </p:nvSpPr>
        <p:spPr>
          <a:xfrm>
            <a:off x="6400800" y="3977640"/>
            <a:ext cx="2377440" cy="457200"/>
          </a:xfrm>
          <a:prstGeom prst="rect">
            <a:avLst/>
          </a:prstGeom>
          <a:noFill/>
          <a:ln/>
        </p:spPr>
        <p:txBody>
          <a:bodyPr wrap="square" lIns="0" tIns="0" rIns="0" bIns="0" rtlCol="0" anchor="ctr"/>
          <a:lstStyle/>
          <a:p>
            <a:pPr algn="ctr" indent="0" marL="0">
              <a:buNone/>
            </a:pPr>
            <a:r>
              <a:rPr lang="en-US" sz="1200" dirty="0">
                <a:solidFill>
                  <a:srgbClr val="06B6D4"/>
                </a:solidFill>
                <a:latin typeface="Courier New" pitchFamily="34" charset="0"/>
                <a:ea typeface="Courier New" pitchFamily="34" charset="-122"/>
                <a:cs typeface="Courier New" pitchFamily="34" charset="-120"/>
              </a:rPr>
              <a:t>call tool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Connecting as a practitioner</a:t>
            </a:r>
            <a:endParaRPr lang="en-US" sz="3600" dirty="0"/>
          </a:p>
        </p:txBody>
      </p:sp>
      <p:sp>
        <p:nvSpPr>
          <p:cNvPr id="3" name="Text 1"/>
          <p:cNvSpPr/>
          <p:nvPr/>
        </p:nvSpPr>
        <p:spPr>
          <a:xfrm>
            <a:off x="731520" y="868680"/>
            <a:ext cx="7680960" cy="365760"/>
          </a:xfrm>
          <a:prstGeom prst="rect">
            <a:avLst/>
          </a:prstGeom>
          <a:noFill/>
          <a:ln/>
        </p:spPr>
        <p:txBody>
          <a:bodyPr wrap="square" lIns="0" tIns="0" rIns="0" bIns="0" rtlCol="0" anchor="ctr"/>
          <a:lstStyle/>
          <a:p>
            <a:pPr indent="0" marL="0">
              <a:buNone/>
            </a:pPr>
            <a:r>
              <a:rPr lang="en-US" sz="1600" dirty="0">
                <a:solidFill>
                  <a:srgbClr val="F97316"/>
                </a:solidFill>
                <a:latin typeface="Calibri" pitchFamily="34" charset="0"/>
                <a:ea typeface="Calibri" pitchFamily="34" charset="-122"/>
                <a:cs typeface="Calibri" pitchFamily="34" charset="-120"/>
              </a:rPr>
              <a:t>One-time setup on /app/upstreams</a:t>
            </a:r>
            <a:endParaRPr lang="en-US" sz="1600" dirty="0"/>
          </a:p>
        </p:txBody>
      </p:sp>
      <p:sp>
        <p:nvSpPr>
          <p:cNvPr id="4" name="Shape 2"/>
          <p:cNvSpPr/>
          <p:nvPr/>
        </p:nvSpPr>
        <p:spPr>
          <a:xfrm>
            <a:off x="457200" y="1463040"/>
            <a:ext cx="3931920" cy="2377440"/>
          </a:xfrm>
          <a:prstGeom prst="roundRect">
            <a:avLst>
              <a:gd name="adj" fmla="val 4615"/>
            </a:avLst>
          </a:prstGeom>
          <a:solidFill>
            <a:srgbClr val="1E293B"/>
          </a:solidFill>
          <a:ln/>
          <a:effectLst>
            <a:outerShdw sx="100000" sy="100000" kx="0" ky="0" algn="bl" rotWithShape="0" blurRad="101600" dist="38100" dir="2700000">
              <a:srgbClr val="000000">
                <a:alpha val="25000"/>
              </a:srgbClr>
            </a:outerShdw>
          </a:effectLst>
        </p:spPr>
      </p:sp>
      <p:sp>
        <p:nvSpPr>
          <p:cNvPr id="5" name="Text 3"/>
          <p:cNvSpPr/>
          <p:nvPr/>
        </p:nvSpPr>
        <p:spPr>
          <a:xfrm>
            <a:off x="731520" y="1645920"/>
            <a:ext cx="2743200" cy="365760"/>
          </a:xfrm>
          <a:prstGeom prst="rect">
            <a:avLst/>
          </a:prstGeom>
          <a:noFill/>
          <a:ln/>
        </p:spPr>
        <p:txBody>
          <a:bodyPr wrap="square" lIns="0" tIns="0" rIns="0" bIns="0" rtlCol="0" anchor="ctr"/>
          <a:lstStyle/>
          <a:p>
            <a:pPr indent="0" marL="0">
              <a:buNone/>
            </a:pPr>
            <a:r>
              <a:rPr lang="en-US" sz="2000" b="1" dirty="0">
                <a:solidFill>
                  <a:srgbClr val="10B981"/>
                </a:solidFill>
                <a:latin typeface="Calibri" pitchFamily="34" charset="0"/>
                <a:ea typeface="Calibri" pitchFamily="34" charset="-122"/>
                <a:cs typeface="Calibri" pitchFamily="34" charset="-120"/>
              </a:rPr>
              <a:t>OAuth</a:t>
            </a:r>
            <a:endParaRPr lang="en-US" sz="2000" dirty="0"/>
          </a:p>
        </p:txBody>
      </p:sp>
      <p:sp>
        <p:nvSpPr>
          <p:cNvPr id="6" name="Text 4"/>
          <p:cNvSpPr/>
          <p:nvPr/>
        </p:nvSpPr>
        <p:spPr>
          <a:xfrm>
            <a:off x="731520" y="1965960"/>
            <a:ext cx="32004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ADO · Notion · Yuki IA NL</a:t>
            </a:r>
            <a:endParaRPr lang="en-US" sz="1200" dirty="0"/>
          </a:p>
        </p:txBody>
      </p:sp>
      <p:sp>
        <p:nvSpPr>
          <p:cNvPr id="7" name="Text 5"/>
          <p:cNvSpPr/>
          <p:nvPr/>
        </p:nvSpPr>
        <p:spPr>
          <a:xfrm>
            <a:off x="731520" y="2377440"/>
            <a:ext cx="3474720" cy="1280160"/>
          </a:xfrm>
          <a:prstGeom prst="rect">
            <a:avLst/>
          </a:prstGeom>
          <a:noFill/>
          <a:ln/>
        </p:spPr>
        <p:txBody>
          <a:bodyPr wrap="square" lIns="0" tIns="0" rIns="0" bIns="0" rtlCol="0" anchor="ctr"/>
          <a:lstStyle/>
          <a:p>
            <a:pPr indent="0" marL="0">
              <a:spcAft>
                <a:spcPts val="600"/>
              </a:spcAft>
              <a:buNone/>
            </a:pPr>
            <a:r>
              <a:rPr lang="en-US" sz="1400" dirty="0">
                <a:solidFill>
                  <a:srgbClr val="F8FAFC"/>
                </a:solidFill>
                <a:latin typeface="Calibri" pitchFamily="34" charset="0"/>
                <a:ea typeface="Calibri" pitchFamily="34" charset="-122"/>
                <a:cs typeface="Calibri" pitchFamily="34" charset="-120"/>
              </a:rPr>
              <a:t>1. Click Connect</a:t>
            </a:r>
            <a:endParaRPr lang="en-US" sz="1400" dirty="0"/>
          </a:p>
          <a:p>
            <a:pPr indent="0" marL="0">
              <a:spcAft>
                <a:spcPts val="600"/>
              </a:spcAft>
              <a:buNone/>
            </a:pPr>
            <a:r>
              <a:rPr lang="en-US" sz="1400" dirty="0">
                <a:solidFill>
                  <a:srgbClr val="F8FAFC"/>
                </a:solidFill>
                <a:latin typeface="Calibri" pitchFamily="34" charset="0"/>
                <a:ea typeface="Calibri" pitchFamily="34" charset="-122"/>
                <a:cs typeface="Calibri" pitchFamily="34" charset="-120"/>
              </a:rPr>
              <a:t>2. Approve in the provider</a:t>
            </a:r>
            <a:endParaRPr lang="en-US" sz="1400" dirty="0"/>
          </a:p>
          <a:p>
            <a:pPr indent="0" marL="0">
              <a:spcAft>
                <a:spcPts val="600"/>
              </a:spcAft>
              <a:buNone/>
            </a:pPr>
            <a:r>
              <a:rPr lang="en-US" sz="1400" dirty="0">
                <a:solidFill>
                  <a:srgbClr val="F8FAFC"/>
                </a:solidFill>
                <a:latin typeface="Calibri" pitchFamily="34" charset="0"/>
                <a:ea typeface="Calibri" pitchFamily="34" charset="-122"/>
                <a:cs typeface="Calibri" pitchFamily="34" charset="-120"/>
              </a:rPr>
              <a:t>3. Done — token is sealed + stored</a:t>
            </a:r>
            <a:endParaRPr lang="en-US" sz="1400" dirty="0"/>
          </a:p>
          <a:p>
            <a:pPr indent="0" marL="0">
              <a:spcAft>
                <a:spcPts val="600"/>
              </a:spcAft>
              <a:buNone/>
            </a:pPr>
            <a:r>
              <a:rPr lang="en-US" sz="1400" dirty="0">
                <a:solidFill>
                  <a:srgbClr val="F8FAFC"/>
                </a:solidFill>
                <a:latin typeface="Calibri" pitchFamily="34" charset="0"/>
                <a:ea typeface="Calibri" pitchFamily="34" charset="-122"/>
                <a:cs typeface="Calibri" pitchFamily="34" charset="-120"/>
              </a:rPr>
              <a:t>4. Refresh is automatic</a:t>
            </a:r>
            <a:endParaRPr lang="en-US" sz="1400" dirty="0"/>
          </a:p>
        </p:txBody>
      </p:sp>
      <p:sp>
        <p:nvSpPr>
          <p:cNvPr id="8" name="Shape 6"/>
          <p:cNvSpPr/>
          <p:nvPr/>
        </p:nvSpPr>
        <p:spPr>
          <a:xfrm>
            <a:off x="4754880" y="1463040"/>
            <a:ext cx="3931920" cy="2377440"/>
          </a:xfrm>
          <a:prstGeom prst="roundRect">
            <a:avLst>
              <a:gd name="adj" fmla="val 4615"/>
            </a:avLst>
          </a:prstGeom>
          <a:solidFill>
            <a:srgbClr val="1E293B"/>
          </a:solidFill>
          <a:ln/>
          <a:effectLst>
            <a:outerShdw sx="100000" sy="100000" kx="0" ky="0" algn="bl" rotWithShape="0" blurRad="101600" dist="38100" dir="2700000">
              <a:srgbClr val="000000">
                <a:alpha val="25000"/>
              </a:srgbClr>
            </a:outerShdw>
          </a:effectLst>
        </p:spPr>
      </p:sp>
      <p:sp>
        <p:nvSpPr>
          <p:cNvPr id="9" name="Text 7"/>
          <p:cNvSpPr/>
          <p:nvPr/>
        </p:nvSpPr>
        <p:spPr>
          <a:xfrm>
            <a:off x="5029200" y="1645920"/>
            <a:ext cx="2743200" cy="365760"/>
          </a:xfrm>
          <a:prstGeom prst="rect">
            <a:avLst/>
          </a:prstGeom>
          <a:noFill/>
          <a:ln/>
        </p:spPr>
        <p:txBody>
          <a:bodyPr wrap="square" lIns="0" tIns="0" rIns="0" bIns="0" rtlCol="0" anchor="ctr"/>
          <a:lstStyle/>
          <a:p>
            <a:pPr indent="0" marL="0">
              <a:buNone/>
            </a:pPr>
            <a:r>
              <a:rPr lang="en-US" sz="2000" b="1" dirty="0">
                <a:solidFill>
                  <a:srgbClr val="F97316"/>
                </a:solidFill>
                <a:latin typeface="Calibri" pitchFamily="34" charset="0"/>
                <a:ea typeface="Calibri" pitchFamily="34" charset="-122"/>
                <a:cs typeface="Calibri" pitchFamily="34" charset="-120"/>
              </a:rPr>
              <a:t>Bearer token</a:t>
            </a:r>
            <a:endParaRPr lang="en-US" sz="2000" dirty="0"/>
          </a:p>
        </p:txBody>
      </p:sp>
      <p:sp>
        <p:nvSpPr>
          <p:cNvPr id="10" name="Text 8"/>
          <p:cNvSpPr/>
          <p:nvPr/>
        </p:nvSpPr>
        <p:spPr>
          <a:xfrm>
            <a:off x="5029200" y="1965960"/>
            <a:ext cx="32004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Driver</a:t>
            </a:r>
            <a:endParaRPr lang="en-US" sz="1200" dirty="0"/>
          </a:p>
        </p:txBody>
      </p:sp>
      <p:sp>
        <p:nvSpPr>
          <p:cNvPr id="11" name="Text 9"/>
          <p:cNvSpPr/>
          <p:nvPr/>
        </p:nvSpPr>
        <p:spPr>
          <a:xfrm>
            <a:off x="5029200" y="2377440"/>
            <a:ext cx="3474720" cy="1097280"/>
          </a:xfrm>
          <a:prstGeom prst="rect">
            <a:avLst/>
          </a:prstGeom>
          <a:noFill/>
          <a:ln/>
        </p:spPr>
        <p:txBody>
          <a:bodyPr wrap="square" lIns="0" tIns="0" rIns="0" bIns="0" rtlCol="0" anchor="ctr"/>
          <a:lstStyle/>
          <a:p>
            <a:pPr indent="0" marL="0">
              <a:spcAft>
                <a:spcPts val="600"/>
              </a:spcAft>
              <a:buNone/>
            </a:pPr>
            <a:r>
              <a:rPr lang="en-US" sz="1400" dirty="0">
                <a:solidFill>
                  <a:srgbClr val="F8FAFC"/>
                </a:solidFill>
                <a:latin typeface="Calibri" pitchFamily="34" charset="0"/>
                <a:ea typeface="Calibri" pitchFamily="34" charset="-122"/>
                <a:cs typeface="Calibri" pitchFamily="34" charset="-120"/>
              </a:rPr>
              <a:t>1. Paste your token once</a:t>
            </a:r>
            <a:endParaRPr lang="en-US" sz="1400" dirty="0"/>
          </a:p>
          <a:p>
            <a:pPr indent="0" marL="0">
              <a:spcAft>
                <a:spcPts val="600"/>
              </a:spcAft>
              <a:buNone/>
            </a:pPr>
            <a:r>
              <a:rPr lang="en-US" sz="1400" dirty="0">
                <a:solidFill>
                  <a:srgbClr val="F8FAFC"/>
                </a:solidFill>
                <a:latin typeface="Calibri" pitchFamily="34" charset="0"/>
                <a:ea typeface="Calibri" pitchFamily="34" charset="-122"/>
                <a:cs typeface="Calibri" pitchFamily="34" charset="-120"/>
              </a:rPr>
              <a:t>2. Stored encrypted (AES-GCM)</a:t>
            </a:r>
            <a:endParaRPr lang="en-US" sz="1400" dirty="0"/>
          </a:p>
          <a:p>
            <a:pPr indent="0" marL="0">
              <a:spcAft>
                <a:spcPts val="600"/>
              </a:spcAft>
              <a:buNone/>
            </a:pPr>
            <a:r>
              <a:rPr lang="en-US" sz="1400" dirty="0">
                <a:solidFill>
                  <a:srgbClr val="F8FAFC"/>
                </a:solidFill>
                <a:latin typeface="Calibri" pitchFamily="34" charset="0"/>
                <a:ea typeface="Calibri" pitchFamily="34" charset="-122"/>
                <a:cs typeface="Calibri" pitchFamily="34" charset="-120"/>
              </a:rPr>
              <a:t>3. Available in every session</a:t>
            </a:r>
            <a:endParaRPr lang="en-US" sz="1400" dirty="0"/>
          </a:p>
        </p:txBody>
      </p:sp>
      <p:sp>
        <p:nvSpPr>
          <p:cNvPr id="12" name="Shape 10"/>
          <p:cNvSpPr/>
          <p:nvPr/>
        </p:nvSpPr>
        <p:spPr>
          <a:xfrm>
            <a:off x="1371600" y="4114800"/>
            <a:ext cx="6400800" cy="640080"/>
          </a:xfrm>
          <a:prstGeom prst="roundRect">
            <a:avLst>
              <a:gd name="adj" fmla="val 11429"/>
            </a:avLst>
          </a:prstGeom>
          <a:solidFill>
            <a:srgbClr val="1E293B"/>
          </a:solidFill>
          <a:ln/>
        </p:spPr>
      </p:sp>
      <p:pic>
        <p:nvPicPr>
          <p:cNvPr id="13" name="Image 0" descr="preencoded.png">    </p:cNvPr>
          <p:cNvPicPr>
            <a:picLocks noChangeAspect="1"/>
          </p:cNvPicPr>
          <p:nvPr/>
        </p:nvPicPr>
        <p:blipFill>
          <a:blip r:embed="rId1"/>
          <a:stretch>
            <a:fillRect/>
          </a:stretch>
        </p:blipFill>
        <p:spPr>
          <a:xfrm>
            <a:off x="1554480" y="4206240"/>
            <a:ext cx="365760" cy="365760"/>
          </a:xfrm>
          <a:prstGeom prst="rect">
            <a:avLst/>
          </a:prstGeom>
        </p:spPr>
      </p:pic>
      <p:sp>
        <p:nvSpPr>
          <p:cNvPr id="14" name="Text 11"/>
          <p:cNvSpPr/>
          <p:nvPr/>
        </p:nvSpPr>
        <p:spPr>
          <a:xfrm>
            <a:off x="2011680" y="4114800"/>
            <a:ext cx="5577840" cy="640080"/>
          </a:xfrm>
          <a:prstGeom prst="rect">
            <a:avLst/>
          </a:prstGeom>
          <a:noFill/>
          <a:ln/>
        </p:spPr>
        <p:txBody>
          <a:bodyPr wrap="square" lIns="0" tIns="0" rIns="0" bIns="0" rtlCol="0" anchor="ctr"/>
          <a:lstStyle/>
          <a:p>
            <a:pPr indent="0" marL="0">
              <a:buNone/>
            </a:pPr>
            <a:r>
              <a:rPr lang="en-US" sz="1400" dirty="0">
                <a:solidFill>
                  <a:srgbClr val="10B981"/>
                </a:solidFill>
                <a:latin typeface="Calibri" pitchFamily="34" charset="0"/>
                <a:ea typeface="Calibri" pitchFamily="34" charset="-122"/>
                <a:cs typeface="Calibri" pitchFamily="34" charset="-120"/>
              </a:rPr>
              <a:t>After connecting: every Claude session on every machine has access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How a tool call flows</a:t>
            </a:r>
            <a:endParaRPr lang="en-US" sz="3600" dirty="0"/>
          </a:p>
        </p:txBody>
      </p:sp>
      <p:sp>
        <p:nvSpPr>
          <p:cNvPr id="3" name="Shape 1"/>
          <p:cNvSpPr/>
          <p:nvPr/>
        </p:nvSpPr>
        <p:spPr>
          <a:xfrm>
            <a:off x="457200" y="1097280"/>
            <a:ext cx="1463040" cy="457200"/>
          </a:xfrm>
          <a:prstGeom prst="roundRect">
            <a:avLst>
              <a:gd name="adj" fmla="val 12000"/>
            </a:avLst>
          </a:prstGeom>
          <a:solidFill>
            <a:srgbClr val="06B6D4"/>
          </a:solidFill>
          <a:ln/>
        </p:spPr>
      </p:sp>
      <p:sp>
        <p:nvSpPr>
          <p:cNvPr id="4" name="Text 2"/>
          <p:cNvSpPr/>
          <p:nvPr/>
        </p:nvSpPr>
        <p:spPr>
          <a:xfrm>
            <a:off x="457200" y="1097280"/>
            <a:ext cx="146304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Claude Agent</a:t>
            </a:r>
            <a:endParaRPr lang="en-US" sz="1200" dirty="0"/>
          </a:p>
        </p:txBody>
      </p:sp>
      <p:sp>
        <p:nvSpPr>
          <p:cNvPr id="5" name="Shape 3"/>
          <p:cNvSpPr/>
          <p:nvPr/>
        </p:nvSpPr>
        <p:spPr>
          <a:xfrm>
            <a:off x="1188720" y="1554480"/>
            <a:ext cx="0" cy="2926080"/>
          </a:xfrm>
          <a:prstGeom prst="line">
            <a:avLst/>
          </a:prstGeom>
          <a:noFill/>
          <a:ln w="19050">
            <a:solidFill>
              <a:srgbClr val="334155"/>
            </a:solidFill>
            <a:prstDash val="dash"/>
          </a:ln>
        </p:spPr>
      </p:sp>
      <p:sp>
        <p:nvSpPr>
          <p:cNvPr id="6" name="Shape 4"/>
          <p:cNvSpPr/>
          <p:nvPr/>
        </p:nvSpPr>
        <p:spPr>
          <a:xfrm>
            <a:off x="3474720" y="1097280"/>
            <a:ext cx="1463040" cy="457200"/>
          </a:xfrm>
          <a:prstGeom prst="roundRect">
            <a:avLst>
              <a:gd name="adj" fmla="val 12000"/>
            </a:avLst>
          </a:prstGeom>
          <a:solidFill>
            <a:srgbClr val="F97316"/>
          </a:solidFill>
          <a:ln/>
        </p:spPr>
      </p:sp>
      <p:sp>
        <p:nvSpPr>
          <p:cNvPr id="7" name="Text 5"/>
          <p:cNvSpPr/>
          <p:nvPr/>
        </p:nvSpPr>
        <p:spPr>
          <a:xfrm>
            <a:off x="3474720" y="1097280"/>
            <a:ext cx="146304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ctxlayer</a:t>
            </a:r>
            <a:endParaRPr lang="en-US" sz="1200" dirty="0"/>
          </a:p>
        </p:txBody>
      </p:sp>
      <p:sp>
        <p:nvSpPr>
          <p:cNvPr id="8" name="Shape 6"/>
          <p:cNvSpPr/>
          <p:nvPr/>
        </p:nvSpPr>
        <p:spPr>
          <a:xfrm>
            <a:off x="4206240" y="1554480"/>
            <a:ext cx="0" cy="2926080"/>
          </a:xfrm>
          <a:prstGeom prst="line">
            <a:avLst/>
          </a:prstGeom>
          <a:noFill/>
          <a:ln w="19050">
            <a:solidFill>
              <a:srgbClr val="334155"/>
            </a:solidFill>
            <a:prstDash val="dash"/>
          </a:ln>
        </p:spPr>
      </p:sp>
      <p:sp>
        <p:nvSpPr>
          <p:cNvPr id="9" name="Shape 7"/>
          <p:cNvSpPr/>
          <p:nvPr/>
        </p:nvSpPr>
        <p:spPr>
          <a:xfrm>
            <a:off x="6492240" y="1097280"/>
            <a:ext cx="1463040" cy="457200"/>
          </a:xfrm>
          <a:prstGeom prst="roundRect">
            <a:avLst>
              <a:gd name="adj" fmla="val 12000"/>
            </a:avLst>
          </a:prstGeom>
          <a:solidFill>
            <a:srgbClr val="8B5CF6"/>
          </a:solidFill>
          <a:ln/>
        </p:spPr>
      </p:sp>
      <p:sp>
        <p:nvSpPr>
          <p:cNvPr id="10" name="Text 8"/>
          <p:cNvSpPr/>
          <p:nvPr/>
        </p:nvSpPr>
        <p:spPr>
          <a:xfrm>
            <a:off x="6492240" y="1097280"/>
            <a:ext cx="146304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ADO MCP</a:t>
            </a:r>
            <a:endParaRPr lang="en-US" sz="1200" dirty="0"/>
          </a:p>
        </p:txBody>
      </p:sp>
      <p:sp>
        <p:nvSpPr>
          <p:cNvPr id="11" name="Shape 9"/>
          <p:cNvSpPr/>
          <p:nvPr/>
        </p:nvSpPr>
        <p:spPr>
          <a:xfrm>
            <a:off x="7223760" y="1554480"/>
            <a:ext cx="0" cy="2926080"/>
          </a:xfrm>
          <a:prstGeom prst="line">
            <a:avLst/>
          </a:prstGeom>
          <a:noFill/>
          <a:ln w="19050">
            <a:solidFill>
              <a:srgbClr val="334155"/>
            </a:solidFill>
            <a:prstDash val="dash"/>
          </a:ln>
        </p:spPr>
      </p:sp>
      <p:sp>
        <p:nvSpPr>
          <p:cNvPr id="12" name="Shape 10"/>
          <p:cNvSpPr/>
          <p:nvPr/>
        </p:nvSpPr>
        <p:spPr>
          <a:xfrm>
            <a:off x="1188720" y="2011680"/>
            <a:ext cx="3017520" cy="0"/>
          </a:xfrm>
          <a:prstGeom prst="line">
            <a:avLst/>
          </a:prstGeom>
          <a:noFill/>
          <a:ln w="25400">
            <a:solidFill>
              <a:srgbClr val="06B6D4"/>
            </a:solidFill>
            <a:prstDash val="solid"/>
          </a:ln>
        </p:spPr>
      </p:sp>
      <p:sp>
        <p:nvSpPr>
          <p:cNvPr id="13" name="Text 11"/>
          <p:cNvSpPr/>
          <p:nvPr/>
        </p:nvSpPr>
        <p:spPr>
          <a:xfrm>
            <a:off x="1280160" y="1737360"/>
            <a:ext cx="2834640" cy="274320"/>
          </a:xfrm>
          <a:prstGeom prst="rect">
            <a:avLst/>
          </a:prstGeom>
          <a:noFill/>
          <a:ln/>
        </p:spPr>
        <p:txBody>
          <a:bodyPr wrap="square" lIns="0" tIns="0" rIns="0" bIns="0" rtlCol="0" anchor="ctr"/>
          <a:lstStyle/>
          <a:p>
            <a:pPr algn="ctr" indent="0" marL="0">
              <a:buNone/>
            </a:pPr>
            <a:r>
              <a:rPr lang="en-US" sz="1000" dirty="0">
                <a:solidFill>
                  <a:srgbClr val="06B6D4"/>
                </a:solidFill>
                <a:latin typeface="Courier New" pitchFamily="34" charset="0"/>
                <a:ea typeface="Courier New" pitchFamily="34" charset="-122"/>
                <a:cs typeface="Courier New" pitchFamily="34" charset="-120"/>
              </a:rPr>
              <a:t>up-ado__wit_query(id: 123)</a:t>
            </a:r>
            <a:endParaRPr lang="en-US" sz="1000" dirty="0"/>
          </a:p>
        </p:txBody>
      </p:sp>
      <p:sp>
        <p:nvSpPr>
          <p:cNvPr id="14" name="Shape 12"/>
          <p:cNvSpPr/>
          <p:nvPr/>
        </p:nvSpPr>
        <p:spPr>
          <a:xfrm>
            <a:off x="4343400" y="2331720"/>
            <a:ext cx="2377440" cy="320040"/>
          </a:xfrm>
          <a:prstGeom prst="roundRect">
            <a:avLst>
              <a:gd name="adj" fmla="val 14286"/>
            </a:avLst>
          </a:prstGeom>
          <a:solidFill>
            <a:srgbClr val="1E293B"/>
          </a:solidFill>
          <a:ln/>
        </p:spPr>
      </p:sp>
      <p:sp>
        <p:nvSpPr>
          <p:cNvPr id="15" name="Text 13"/>
          <p:cNvSpPr/>
          <p:nvPr/>
        </p:nvSpPr>
        <p:spPr>
          <a:xfrm>
            <a:off x="4389120" y="2377440"/>
            <a:ext cx="2286000" cy="22860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decrypt user's sealed creds</a:t>
            </a:r>
            <a:endParaRPr lang="en-US" sz="1000" dirty="0"/>
          </a:p>
        </p:txBody>
      </p:sp>
      <p:sp>
        <p:nvSpPr>
          <p:cNvPr id="16" name="Shape 14"/>
          <p:cNvSpPr/>
          <p:nvPr/>
        </p:nvSpPr>
        <p:spPr>
          <a:xfrm>
            <a:off x="4206240" y="2834640"/>
            <a:ext cx="3017520" cy="0"/>
          </a:xfrm>
          <a:prstGeom prst="line">
            <a:avLst/>
          </a:prstGeom>
          <a:noFill/>
          <a:ln w="25400">
            <a:solidFill>
              <a:srgbClr val="F97316"/>
            </a:solidFill>
            <a:prstDash val="solid"/>
          </a:ln>
        </p:spPr>
      </p:sp>
      <p:sp>
        <p:nvSpPr>
          <p:cNvPr id="17" name="Text 15"/>
          <p:cNvSpPr/>
          <p:nvPr/>
        </p:nvSpPr>
        <p:spPr>
          <a:xfrm>
            <a:off x="4297680" y="2560320"/>
            <a:ext cx="2834640" cy="274320"/>
          </a:xfrm>
          <a:prstGeom prst="rect">
            <a:avLst/>
          </a:prstGeom>
          <a:noFill/>
          <a:ln/>
        </p:spPr>
        <p:txBody>
          <a:bodyPr wrap="square" lIns="0" tIns="0" rIns="0" bIns="0" rtlCol="0" anchor="ctr"/>
          <a:lstStyle/>
          <a:p>
            <a:pPr algn="ctr" indent="0" marL="0">
              <a:buNone/>
            </a:pPr>
            <a:r>
              <a:rPr lang="en-US" sz="1000" dirty="0">
                <a:solidFill>
                  <a:srgbClr val="F97316"/>
                </a:solidFill>
                <a:latin typeface="Courier New" pitchFamily="34" charset="0"/>
                <a:ea typeface="Courier New" pitchFamily="34" charset="-122"/>
                <a:cs typeface="Courier New" pitchFamily="34" charset="-120"/>
              </a:rPr>
              <a:t>wit_query(id: 123)</a:t>
            </a:r>
            <a:endParaRPr lang="en-US" sz="1000" dirty="0"/>
          </a:p>
        </p:txBody>
      </p:sp>
      <p:sp>
        <p:nvSpPr>
          <p:cNvPr id="18" name="Shape 16"/>
          <p:cNvSpPr/>
          <p:nvPr/>
        </p:nvSpPr>
        <p:spPr>
          <a:xfrm>
            <a:off x="4206240" y="3200400"/>
            <a:ext cx="3017520" cy="0"/>
          </a:xfrm>
          <a:prstGeom prst="line">
            <a:avLst/>
          </a:prstGeom>
          <a:noFill/>
          <a:ln w="25400">
            <a:solidFill>
              <a:srgbClr val="8B5CF6"/>
            </a:solidFill>
            <a:prstDash val="solid"/>
          </a:ln>
        </p:spPr>
      </p:sp>
      <p:sp>
        <p:nvSpPr>
          <p:cNvPr id="19" name="Text 17"/>
          <p:cNvSpPr/>
          <p:nvPr/>
        </p:nvSpPr>
        <p:spPr>
          <a:xfrm>
            <a:off x="4297680" y="2926080"/>
            <a:ext cx="2834640" cy="274320"/>
          </a:xfrm>
          <a:prstGeom prst="rect">
            <a:avLst/>
          </a:prstGeom>
          <a:noFill/>
          <a:ln/>
        </p:spPr>
        <p:txBody>
          <a:bodyPr wrap="square" lIns="0" tIns="0" rIns="0" bIns="0" rtlCol="0" anchor="ctr"/>
          <a:lstStyle/>
          <a:p>
            <a:pPr algn="ctr" indent="0" marL="0">
              <a:buNone/>
            </a:pPr>
            <a:r>
              <a:rPr lang="en-US" sz="1000" dirty="0">
                <a:solidFill>
                  <a:srgbClr val="8B5CF6"/>
                </a:solidFill>
                <a:latin typeface="Courier New" pitchFamily="34" charset="0"/>
                <a:ea typeface="Courier New" pitchFamily="34" charset="-122"/>
                <a:cs typeface="Courier New" pitchFamily="34" charset="-120"/>
              </a:rPr>
              <a:t>result</a:t>
            </a:r>
            <a:endParaRPr lang="en-US" sz="1000" dirty="0"/>
          </a:p>
        </p:txBody>
      </p:sp>
      <p:sp>
        <p:nvSpPr>
          <p:cNvPr id="20" name="Shape 18"/>
          <p:cNvSpPr/>
          <p:nvPr/>
        </p:nvSpPr>
        <p:spPr>
          <a:xfrm>
            <a:off x="4343400" y="3429000"/>
            <a:ext cx="2377440" cy="320040"/>
          </a:xfrm>
          <a:prstGeom prst="roundRect">
            <a:avLst>
              <a:gd name="adj" fmla="val 14286"/>
            </a:avLst>
          </a:prstGeom>
          <a:solidFill>
            <a:srgbClr val="1E293B"/>
          </a:solidFill>
          <a:ln/>
        </p:spPr>
      </p:sp>
      <p:sp>
        <p:nvSpPr>
          <p:cNvPr id="21" name="Text 19"/>
          <p:cNvSpPr/>
          <p:nvPr/>
        </p:nvSpPr>
        <p:spPr>
          <a:xfrm>
            <a:off x="4389120" y="3474720"/>
            <a:ext cx="2286000" cy="22860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log usage (tool, tokens, latency)</a:t>
            </a:r>
            <a:endParaRPr lang="en-US" sz="1000" dirty="0"/>
          </a:p>
        </p:txBody>
      </p:sp>
      <p:sp>
        <p:nvSpPr>
          <p:cNvPr id="22" name="Shape 20"/>
          <p:cNvSpPr/>
          <p:nvPr/>
        </p:nvSpPr>
        <p:spPr>
          <a:xfrm>
            <a:off x="1188720" y="3931920"/>
            <a:ext cx="3017520" cy="0"/>
          </a:xfrm>
          <a:prstGeom prst="line">
            <a:avLst/>
          </a:prstGeom>
          <a:noFill/>
          <a:ln w="25400">
            <a:solidFill>
              <a:srgbClr val="10B981"/>
            </a:solidFill>
            <a:prstDash val="solid"/>
          </a:ln>
        </p:spPr>
      </p:sp>
      <p:sp>
        <p:nvSpPr>
          <p:cNvPr id="23" name="Text 21"/>
          <p:cNvSpPr/>
          <p:nvPr/>
        </p:nvSpPr>
        <p:spPr>
          <a:xfrm>
            <a:off x="1280160" y="3657600"/>
            <a:ext cx="2834640" cy="274320"/>
          </a:xfrm>
          <a:prstGeom prst="rect">
            <a:avLst/>
          </a:prstGeom>
          <a:noFill/>
          <a:ln/>
        </p:spPr>
        <p:txBody>
          <a:bodyPr wrap="square" lIns="0" tIns="0" rIns="0" bIns="0" rtlCol="0" anchor="ctr"/>
          <a:lstStyle/>
          <a:p>
            <a:pPr algn="ctr" indent="0" marL="0">
              <a:buNone/>
            </a:pPr>
            <a:r>
              <a:rPr lang="en-US" sz="1000" dirty="0">
                <a:solidFill>
                  <a:srgbClr val="10B981"/>
                </a:solidFill>
                <a:latin typeface="Courier New" pitchFamily="34" charset="0"/>
                <a:ea typeface="Courier New" pitchFamily="34" charset="-122"/>
                <a:cs typeface="Courier New" pitchFamily="34" charset="-120"/>
              </a:rPr>
              <a:t>result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931920" y="1371600"/>
            <a:ext cx="1280160" cy="1280160"/>
          </a:xfrm>
          <a:prstGeom prst="rect">
            <a:avLst/>
          </a:prstGeom>
        </p:spPr>
      </p:pic>
      <p:sp>
        <p:nvSpPr>
          <p:cNvPr id="3" name="Text 0"/>
          <p:cNvSpPr/>
          <p:nvPr/>
        </p:nvSpPr>
        <p:spPr>
          <a:xfrm>
            <a:off x="731520" y="2743200"/>
            <a:ext cx="7680960" cy="731520"/>
          </a:xfrm>
          <a:prstGeom prst="rect">
            <a:avLst/>
          </a:prstGeom>
          <a:noFill/>
          <a:ln/>
        </p:spPr>
        <p:txBody>
          <a:bodyPr wrap="square" lIns="0" tIns="0" rIns="0" bIns="0" rtlCol="0" anchor="ctr"/>
          <a:lstStyle/>
          <a:p>
            <a:pPr algn="ctr" indent="0" marL="0">
              <a:buNone/>
            </a:pPr>
            <a:r>
              <a:rPr lang="en-US" sz="4400" b="1" dirty="0">
                <a:solidFill>
                  <a:srgbClr val="F8FAFC"/>
                </a:solidFill>
                <a:latin typeface="Calibri" pitchFamily="34" charset="0"/>
                <a:ea typeface="Calibri" pitchFamily="34" charset="-122"/>
                <a:cs typeface="Calibri" pitchFamily="34" charset="-120"/>
              </a:rPr>
              <a:t>Skills</a:t>
            </a:r>
            <a:endParaRPr lang="en-US" sz="4400" dirty="0"/>
          </a:p>
        </p:txBody>
      </p:sp>
      <p:sp>
        <p:nvSpPr>
          <p:cNvPr id="4" name="Text 1"/>
          <p:cNvSpPr/>
          <p:nvPr/>
        </p:nvSpPr>
        <p:spPr>
          <a:xfrm>
            <a:off x="731520" y="3474720"/>
            <a:ext cx="7680960" cy="457200"/>
          </a:xfrm>
          <a:prstGeom prst="rect">
            <a:avLst/>
          </a:prstGeom>
          <a:noFill/>
          <a:ln/>
        </p:spPr>
        <p:txBody>
          <a:bodyPr wrap="square" lIns="0" tIns="0" rIns="0" bIns="0" rtlCol="0" anchor="ctr"/>
          <a:lstStyle/>
          <a:p>
            <a:pPr algn="ctr" indent="0" marL="0">
              <a:buNone/>
            </a:pPr>
            <a:r>
              <a:rPr lang="en-US" sz="1800" dirty="0">
                <a:solidFill>
                  <a:srgbClr val="8B5CF6"/>
                </a:solidFill>
                <a:latin typeface="Calibri" pitchFamily="34" charset="0"/>
                <a:ea typeface="Calibri" pitchFamily="34" charset="-122"/>
                <a:cs typeface="Calibri" pitchFamily="34" charset="-120"/>
              </a:rPr>
              <a:t>Procedural playbooks the agent reads before acting</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Without vs. with a skill</a:t>
            </a:r>
            <a:endParaRPr lang="en-US" sz="3600" dirty="0"/>
          </a:p>
        </p:txBody>
      </p:sp>
      <p:sp>
        <p:nvSpPr>
          <p:cNvPr id="3" name="Shape 1"/>
          <p:cNvSpPr/>
          <p:nvPr/>
        </p:nvSpPr>
        <p:spPr>
          <a:xfrm>
            <a:off x="457200" y="1188720"/>
            <a:ext cx="3931920" cy="3017520"/>
          </a:xfrm>
          <a:prstGeom prst="roundRect">
            <a:avLst>
              <a:gd name="adj" fmla="val 3636"/>
            </a:avLst>
          </a:prstGeom>
          <a:solidFill>
            <a:srgbClr val="1A1520"/>
          </a:solidFill>
          <a:ln/>
          <a:effectLst>
            <a:outerShdw sx="100000" sy="100000" kx="0" ky="0" algn="bl" rotWithShape="0" blurRad="101600" dist="38100" dir="2700000">
              <a:srgbClr val="000000">
                <a:alpha val="25000"/>
              </a:srgbClr>
            </a:outerShdw>
          </a:effectLst>
        </p:spPr>
      </p:sp>
      <p:pic>
        <p:nvPicPr>
          <p:cNvPr id="4" name="Image 0" descr="preencoded.png">    </p:cNvPr>
          <p:cNvPicPr>
            <a:picLocks noChangeAspect="1"/>
          </p:cNvPicPr>
          <p:nvPr/>
        </p:nvPicPr>
        <p:blipFill>
          <a:blip r:embed="rId1"/>
          <a:stretch>
            <a:fillRect/>
          </a:stretch>
        </p:blipFill>
        <p:spPr>
          <a:xfrm>
            <a:off x="731520" y="1417320"/>
            <a:ext cx="365760" cy="365760"/>
          </a:xfrm>
          <a:prstGeom prst="rect">
            <a:avLst/>
          </a:prstGeom>
        </p:spPr>
      </p:pic>
      <p:sp>
        <p:nvSpPr>
          <p:cNvPr id="5" name="Text 2"/>
          <p:cNvSpPr/>
          <p:nvPr/>
        </p:nvSpPr>
        <p:spPr>
          <a:xfrm>
            <a:off x="1234440" y="1417320"/>
            <a:ext cx="2743200" cy="365760"/>
          </a:xfrm>
          <a:prstGeom prst="rect">
            <a:avLst/>
          </a:prstGeom>
          <a:noFill/>
          <a:ln/>
        </p:spPr>
        <p:txBody>
          <a:bodyPr wrap="square" lIns="0" tIns="0" rIns="0" bIns="0" rtlCol="0" anchor="ctr"/>
          <a:lstStyle/>
          <a:p>
            <a:pPr indent="0" marL="0">
              <a:buNone/>
            </a:pPr>
            <a:r>
              <a:rPr lang="en-US" sz="1800" b="1" dirty="0">
                <a:solidFill>
                  <a:srgbClr val="EF4444"/>
                </a:solidFill>
                <a:latin typeface="Calibri" pitchFamily="34" charset="0"/>
                <a:ea typeface="Calibri" pitchFamily="34" charset="-122"/>
                <a:cs typeface="Calibri" pitchFamily="34" charset="-120"/>
              </a:rPr>
              <a:t>Without a skill</a:t>
            </a:r>
            <a:endParaRPr lang="en-US" sz="1800" dirty="0"/>
          </a:p>
        </p:txBody>
      </p:sp>
      <p:sp>
        <p:nvSpPr>
          <p:cNvPr id="6" name="Text 3"/>
          <p:cNvSpPr/>
          <p:nvPr/>
        </p:nvSpPr>
        <p:spPr>
          <a:xfrm>
            <a:off x="731520" y="2011680"/>
            <a:ext cx="3474720" cy="2011680"/>
          </a:xfrm>
          <a:prstGeom prst="rect">
            <a:avLst/>
          </a:prstGeom>
          <a:noFill/>
          <a:ln/>
        </p:spPr>
        <p:txBody>
          <a:bodyPr wrap="square" lIns="0" tIns="0" rIns="0" bIns="0" rtlCol="0" anchor="ctr"/>
          <a:lstStyle/>
          <a:p>
            <a:pPr indent="0" marL="0">
              <a:spcAft>
                <a:spcPts val="400"/>
              </a:spcAft>
              <a:buNone/>
            </a:pPr>
            <a:r>
              <a:rPr lang="en-US" sz="1400" dirty="0">
                <a:solidFill>
                  <a:srgbClr val="F8FAFC"/>
                </a:solidFill>
                <a:latin typeface="Calibri" pitchFamily="34" charset="0"/>
                <a:ea typeface="Calibri" pitchFamily="34" charset="-122"/>
                <a:cs typeface="Calibri" pitchFamily="34" charset="-120"/>
              </a:rPr>
              <a:t>Agent sees 37 ADO tools</a:t>
            </a:r>
            <a:endParaRPr lang="en-US" sz="1400" dirty="0"/>
          </a:p>
          <a:p>
            <a:pPr indent="0" marL="0">
              <a:spcAft>
                <a:spcPts val="400"/>
              </a:spcAft>
              <a:buNone/>
            </a:pPr>
            <a:endParaRPr lang="en-US" sz="1400" dirty="0"/>
          </a:p>
          <a:p>
            <a:pPr indent="0" marL="0">
              <a:spcAft>
                <a:spcPts val="400"/>
              </a:spcAft>
              <a:buNone/>
            </a:pPr>
            <a:r>
              <a:rPr lang="en-US" sz="1400" dirty="0">
                <a:solidFill>
                  <a:srgbClr val="94A3B8"/>
                </a:solidFill>
                <a:latin typeface="Calibri" pitchFamily="34" charset="0"/>
                <a:ea typeface="Calibri" pitchFamily="34" charset="-122"/>
                <a:cs typeface="Calibri" pitchFamily="34" charset="-120"/>
              </a:rPr>
              <a:t>Guesses which to call</a:t>
            </a:r>
            <a:endParaRPr lang="en-US" sz="1400" dirty="0"/>
          </a:p>
          <a:p>
            <a:pPr indent="0" marL="0">
              <a:spcAft>
                <a:spcPts val="400"/>
              </a:spcAft>
              <a:buNone/>
            </a:pPr>
            <a:r>
              <a:rPr lang="en-US" sz="1400" dirty="0">
                <a:solidFill>
                  <a:srgbClr val="94A3B8"/>
                </a:solidFill>
                <a:latin typeface="Calibri" pitchFamily="34" charset="0"/>
                <a:ea typeface="Calibri" pitchFamily="34" charset="-122"/>
                <a:cs typeface="Calibri" pitchFamily="34" charset="-120"/>
              </a:rPr>
              <a:t>Guesses the order</a:t>
            </a:r>
            <a:endParaRPr lang="en-US" sz="1400" dirty="0"/>
          </a:p>
          <a:p>
            <a:pPr indent="0" marL="0">
              <a:spcAft>
                <a:spcPts val="400"/>
              </a:spcAft>
              <a:buNone/>
            </a:pPr>
            <a:r>
              <a:rPr lang="en-US" sz="1400" dirty="0">
                <a:solidFill>
                  <a:srgbClr val="94A3B8"/>
                </a:solidFill>
                <a:latin typeface="Calibri" pitchFamily="34" charset="0"/>
                <a:ea typeface="Calibri" pitchFamily="34" charset="-122"/>
                <a:cs typeface="Calibri" pitchFamily="34" charset="-120"/>
              </a:rPr>
              <a:t>Doesn't know your team IDs</a:t>
            </a:r>
            <a:endParaRPr lang="en-US" sz="1400" dirty="0"/>
          </a:p>
          <a:p>
            <a:pPr indent="0" marL="0">
              <a:spcAft>
                <a:spcPts val="400"/>
              </a:spcAft>
              <a:buNone/>
            </a:pPr>
            <a:r>
              <a:rPr lang="en-US" sz="1400" dirty="0">
                <a:solidFill>
                  <a:srgbClr val="94A3B8"/>
                </a:solidFill>
                <a:latin typeface="Calibri" pitchFamily="34" charset="0"/>
                <a:ea typeface="Calibri" pitchFamily="34" charset="-122"/>
                <a:cs typeface="Calibri" pitchFamily="34" charset="-120"/>
              </a:rPr>
              <a:t>Doesn't know your status names</a:t>
            </a:r>
            <a:endParaRPr lang="en-US" sz="1400" dirty="0"/>
          </a:p>
          <a:p>
            <a:pPr indent="0" marL="0">
              <a:spcAft>
                <a:spcPts val="400"/>
              </a:spcAft>
              <a:buNone/>
            </a:pPr>
            <a:r>
              <a:rPr lang="en-US" sz="1400" dirty="0">
                <a:solidFill>
                  <a:srgbClr val="94A3B8"/>
                </a:solidFill>
                <a:latin typeface="Calibri" pitchFamily="34" charset="0"/>
                <a:ea typeface="Calibri" pitchFamily="34" charset="-122"/>
                <a:cs typeface="Calibri" pitchFamily="34" charset="-120"/>
              </a:rPr>
              <a:t>Doesn't know your label conventions</a:t>
            </a:r>
            <a:endParaRPr lang="en-US" sz="1400" dirty="0"/>
          </a:p>
        </p:txBody>
      </p:sp>
      <p:sp>
        <p:nvSpPr>
          <p:cNvPr id="7" name="Shape 4"/>
          <p:cNvSpPr/>
          <p:nvPr/>
        </p:nvSpPr>
        <p:spPr>
          <a:xfrm>
            <a:off x="4754880" y="1188720"/>
            <a:ext cx="3931920" cy="3017520"/>
          </a:xfrm>
          <a:prstGeom prst="roundRect">
            <a:avLst>
              <a:gd name="adj" fmla="val 3636"/>
            </a:avLst>
          </a:prstGeom>
          <a:solidFill>
            <a:srgbClr val="0F1A20"/>
          </a:solidFill>
          <a:ln/>
          <a:effectLst>
            <a:outerShdw sx="100000" sy="100000" kx="0" ky="0" algn="bl" rotWithShape="0" blurRad="101600" dist="38100" dir="2700000">
              <a:srgbClr val="000000">
                <a:alpha val="25000"/>
              </a:srgbClr>
            </a:outerShdw>
          </a:effectLst>
        </p:spPr>
      </p:sp>
      <p:pic>
        <p:nvPicPr>
          <p:cNvPr id="8" name="Image 1" descr="preencoded.png">    </p:cNvPr>
          <p:cNvPicPr>
            <a:picLocks noChangeAspect="1"/>
          </p:cNvPicPr>
          <p:nvPr/>
        </p:nvPicPr>
        <p:blipFill>
          <a:blip r:embed="rId2"/>
          <a:stretch>
            <a:fillRect/>
          </a:stretch>
        </p:blipFill>
        <p:spPr>
          <a:xfrm>
            <a:off x="5029200" y="1417320"/>
            <a:ext cx="365760" cy="365760"/>
          </a:xfrm>
          <a:prstGeom prst="rect">
            <a:avLst/>
          </a:prstGeom>
        </p:spPr>
      </p:pic>
      <p:sp>
        <p:nvSpPr>
          <p:cNvPr id="9" name="Text 5"/>
          <p:cNvSpPr/>
          <p:nvPr/>
        </p:nvSpPr>
        <p:spPr>
          <a:xfrm>
            <a:off x="5532120" y="1417320"/>
            <a:ext cx="2743200" cy="365760"/>
          </a:xfrm>
          <a:prstGeom prst="rect">
            <a:avLst/>
          </a:prstGeom>
          <a:noFill/>
          <a:ln/>
        </p:spPr>
        <p:txBody>
          <a:bodyPr wrap="square" lIns="0" tIns="0" rIns="0" bIns="0" rtlCol="0" anchor="ctr"/>
          <a:lstStyle/>
          <a:p>
            <a:pPr indent="0" marL="0">
              <a:buNone/>
            </a:pPr>
            <a:r>
              <a:rPr lang="en-US" sz="1800" b="1" dirty="0">
                <a:solidFill>
                  <a:srgbClr val="10B981"/>
                </a:solidFill>
                <a:latin typeface="Calibri" pitchFamily="34" charset="0"/>
                <a:ea typeface="Calibri" pitchFamily="34" charset="-122"/>
                <a:cs typeface="Calibri" pitchFamily="34" charset="-120"/>
              </a:rPr>
              <a:t>With a skill</a:t>
            </a:r>
            <a:endParaRPr lang="en-US" sz="1800" dirty="0"/>
          </a:p>
        </p:txBody>
      </p:sp>
      <p:sp>
        <p:nvSpPr>
          <p:cNvPr id="10" name="Text 6"/>
          <p:cNvSpPr/>
          <p:nvPr/>
        </p:nvSpPr>
        <p:spPr>
          <a:xfrm>
            <a:off x="5029200" y="2011680"/>
            <a:ext cx="3474720" cy="2011680"/>
          </a:xfrm>
          <a:prstGeom prst="rect">
            <a:avLst/>
          </a:prstGeom>
          <a:noFill/>
          <a:ln/>
        </p:spPr>
        <p:txBody>
          <a:bodyPr wrap="square" lIns="0" tIns="0" rIns="0" bIns="0" rtlCol="0" anchor="ctr"/>
          <a:lstStyle/>
          <a:p>
            <a:pPr indent="0" marL="0">
              <a:spcAft>
                <a:spcPts val="400"/>
              </a:spcAft>
              <a:buNone/>
            </a:pPr>
            <a:r>
              <a:rPr lang="en-US" sz="1400" dirty="0">
                <a:solidFill>
                  <a:srgbClr val="F8FAFC"/>
                </a:solidFill>
                <a:latin typeface="Calibri" pitchFamily="34" charset="0"/>
                <a:ea typeface="Calibri" pitchFamily="34" charset="-122"/>
                <a:cs typeface="Calibri" pitchFamily="34" charset="-120"/>
              </a:rPr>
              <a:t>Agent reads a step-by-step recipe</a:t>
            </a:r>
            <a:endParaRPr lang="en-US" sz="1400" dirty="0"/>
          </a:p>
          <a:p>
            <a:pPr indent="0" marL="0">
              <a:spcAft>
                <a:spcPts val="400"/>
              </a:spcAft>
              <a:buNone/>
            </a:pPr>
            <a:endParaRPr lang="en-US" sz="1400" dirty="0"/>
          </a:p>
          <a:p>
            <a:pPr indent="0" marL="0">
              <a:spcAft>
                <a:spcPts val="400"/>
              </a:spcAft>
              <a:buNone/>
            </a:pPr>
            <a:r>
              <a:rPr lang="en-US" sz="1400" dirty="0">
                <a:solidFill>
                  <a:srgbClr val="94A3B8"/>
                </a:solidFill>
                <a:latin typeface="Calibri" pitchFamily="34" charset="0"/>
                <a:ea typeface="Calibri" pitchFamily="34" charset="-122"/>
                <a:cs typeface="Calibri" pitchFamily="34" charset="-120"/>
              </a:rPr>
              <a:t>Knows which tools, in what order</a:t>
            </a:r>
            <a:endParaRPr lang="en-US" sz="1400" dirty="0"/>
          </a:p>
          <a:p>
            <a:pPr indent="0" marL="0">
              <a:spcAft>
                <a:spcPts val="400"/>
              </a:spcAft>
              <a:buNone/>
            </a:pPr>
            <a:r>
              <a:rPr lang="en-US" sz="1400" dirty="0">
                <a:solidFill>
                  <a:srgbClr val="94A3B8"/>
                </a:solidFill>
                <a:latin typeface="Calibri" pitchFamily="34" charset="0"/>
                <a:ea typeface="Calibri" pitchFamily="34" charset="-122"/>
                <a:cs typeface="Calibri" pitchFamily="34" charset="-120"/>
              </a:rPr>
              <a:t>Knows your team IDs</a:t>
            </a:r>
            <a:endParaRPr lang="en-US" sz="1400" dirty="0"/>
          </a:p>
          <a:p>
            <a:pPr indent="0" marL="0">
              <a:spcAft>
                <a:spcPts val="400"/>
              </a:spcAft>
              <a:buNone/>
            </a:pPr>
            <a:r>
              <a:rPr lang="en-US" sz="1400" dirty="0">
                <a:solidFill>
                  <a:srgbClr val="94A3B8"/>
                </a:solidFill>
                <a:latin typeface="Calibri" pitchFamily="34" charset="0"/>
                <a:ea typeface="Calibri" pitchFamily="34" charset="-122"/>
                <a:cs typeface="Calibri" pitchFamily="34" charset="-120"/>
              </a:rPr>
              <a:t>Knows your status names</a:t>
            </a:r>
            <a:endParaRPr lang="en-US" sz="1400" dirty="0"/>
          </a:p>
          <a:p>
            <a:pPr indent="0" marL="0">
              <a:spcAft>
                <a:spcPts val="400"/>
              </a:spcAft>
              <a:buNone/>
            </a:pPr>
            <a:r>
              <a:rPr lang="en-US" sz="1400" dirty="0">
                <a:solidFill>
                  <a:srgbClr val="94A3B8"/>
                </a:solidFill>
                <a:latin typeface="Calibri" pitchFamily="34" charset="0"/>
                <a:ea typeface="Calibri" pitchFamily="34" charset="-122"/>
                <a:cs typeface="Calibri" pitchFamily="34" charset="-120"/>
              </a:rPr>
              <a:t>Knows your label conventions</a:t>
            </a:r>
            <a:endParaRPr lang="en-US" sz="1400" dirty="0"/>
          </a:p>
          <a:p>
            <a:pPr indent="0" marL="0">
              <a:spcAft>
                <a:spcPts val="400"/>
              </a:spcAft>
              <a:buNone/>
            </a:pPr>
            <a:r>
              <a:rPr lang="en-US" sz="1400" dirty="0">
                <a:solidFill>
                  <a:srgbClr val="94A3B8"/>
                </a:solidFill>
                <a:latin typeface="Calibri" pitchFamily="34" charset="0"/>
                <a:ea typeface="Calibri" pitchFamily="34" charset="-122"/>
                <a:cs typeface="Calibri" pitchFamily="34" charset="-120"/>
              </a:rPr>
              <a:t>Follows org conventions</a:t>
            </a:r>
            <a:endParaRPr lang="en-US" sz="1400" dirty="0"/>
          </a:p>
        </p:txBody>
      </p:sp>
      <p:sp>
        <p:nvSpPr>
          <p:cNvPr id="11" name="Text 7"/>
          <p:cNvSpPr/>
          <p:nvPr/>
        </p:nvSpPr>
        <p:spPr>
          <a:xfrm>
            <a:off x="914400" y="4389120"/>
            <a:ext cx="7315200" cy="365760"/>
          </a:xfrm>
          <a:prstGeom prst="rect">
            <a:avLst/>
          </a:prstGeom>
          <a:noFill/>
          <a:ln/>
        </p:spPr>
        <p:txBody>
          <a:bodyPr wrap="square" lIns="0" tIns="0" rIns="0" bIns="0" rtlCol="0" anchor="ctr"/>
          <a:lstStyle/>
          <a:p>
            <a:pPr algn="ctr" indent="0" marL="0">
              <a:buNone/>
            </a:pPr>
            <a:r>
              <a:rPr lang="en-US" sz="1400" i="1" dirty="0">
                <a:solidFill>
                  <a:srgbClr val="8B5CF6"/>
                </a:solidFill>
                <a:latin typeface="Calibri" pitchFamily="34" charset="0"/>
                <a:ea typeface="Calibri" pitchFamily="34" charset="-122"/>
                <a:cs typeface="Calibri" pitchFamily="34" charset="-120"/>
              </a:rPr>
              <a:t>A skill encodes org conventions — the knowledge that isn't in the API schema</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Skills on yukitools.dev</a:t>
            </a:r>
            <a:endParaRPr lang="en-US" sz="3600" dirty="0"/>
          </a:p>
        </p:txBody>
      </p:sp>
      <p:sp>
        <p:nvSpPr>
          <p:cNvPr id="3" name="Shape 1"/>
          <p:cNvSpPr/>
          <p:nvPr/>
        </p:nvSpPr>
        <p:spPr>
          <a:xfrm>
            <a:off x="457200" y="1097280"/>
            <a:ext cx="8229600" cy="777240"/>
          </a:xfrm>
          <a:prstGeom prst="roundRect">
            <a:avLst>
              <a:gd name="adj" fmla="val 9412"/>
            </a:avLst>
          </a:prstGeom>
          <a:solidFill>
            <a:srgbClr val="1E293B"/>
          </a:solidFill>
          <a:ln/>
          <a:effectLst>
            <a:outerShdw sx="100000" sy="100000" kx="0" ky="0" algn="bl" rotWithShape="0" blurRad="101600" dist="38100" dir="2700000">
              <a:srgbClr val="000000">
                <a:alpha val="25000"/>
              </a:srgbClr>
            </a:outerShdw>
          </a:effectLst>
        </p:spPr>
      </p:sp>
      <p:sp>
        <p:nvSpPr>
          <p:cNvPr id="4" name="Shape 2"/>
          <p:cNvSpPr/>
          <p:nvPr/>
        </p:nvSpPr>
        <p:spPr>
          <a:xfrm>
            <a:off x="640080" y="1298448"/>
            <a:ext cx="822960" cy="365760"/>
          </a:xfrm>
          <a:prstGeom prst="roundRect">
            <a:avLst>
              <a:gd name="adj" fmla="val 15000"/>
            </a:avLst>
          </a:prstGeom>
          <a:solidFill>
            <a:srgbClr val="06B6D4">
              <a:alpha val="70000"/>
            </a:srgbClr>
          </a:solidFill>
          <a:ln/>
        </p:spPr>
      </p:sp>
      <p:sp>
        <p:nvSpPr>
          <p:cNvPr id="5" name="Text 3"/>
          <p:cNvSpPr/>
          <p:nvPr/>
        </p:nvSpPr>
        <p:spPr>
          <a:xfrm>
            <a:off x="640080" y="1298448"/>
            <a:ext cx="822960" cy="365760"/>
          </a:xfrm>
          <a:prstGeom prst="rect">
            <a:avLst/>
          </a:prstGeom>
          <a:noFill/>
          <a:ln/>
        </p:spPr>
        <p:txBody>
          <a:bodyPr wrap="square" lIns="0" tIns="0" rIns="0" bIns="0" rtlCol="0" anchor="ctr"/>
          <a:lstStyle/>
          <a:p>
            <a:pPr algn="ctr" indent="0" marL="0">
              <a:buNone/>
            </a:pPr>
            <a:r>
              <a:rPr lang="en-US" sz="1000" b="1" dirty="0">
                <a:solidFill>
                  <a:srgbClr val="06B6D4"/>
                </a:solidFill>
                <a:latin typeface="Calibri" pitchFamily="34" charset="0"/>
                <a:ea typeface="Calibri" pitchFamily="34" charset="-122"/>
                <a:cs typeface="Calibri" pitchFamily="34" charset="-120"/>
              </a:rPr>
              <a:t>ADO</a:t>
            </a:r>
            <a:endParaRPr lang="en-US" sz="1000" dirty="0"/>
          </a:p>
        </p:txBody>
      </p:sp>
      <p:sp>
        <p:nvSpPr>
          <p:cNvPr id="6" name="Text 4"/>
          <p:cNvSpPr/>
          <p:nvPr/>
        </p:nvSpPr>
        <p:spPr>
          <a:xfrm>
            <a:off x="1645920" y="1097280"/>
            <a:ext cx="4572000" cy="411480"/>
          </a:xfrm>
          <a:prstGeom prst="rect">
            <a:avLst/>
          </a:prstGeom>
          <a:noFill/>
          <a:ln/>
        </p:spPr>
        <p:txBody>
          <a:bodyPr wrap="square" lIns="0" tIns="0" rIns="0" bIns="0" rtlCol="0" anchor="b"/>
          <a:lstStyle/>
          <a:p>
            <a:pPr indent="0" marL="0">
              <a:buNone/>
            </a:pPr>
            <a:r>
              <a:rPr lang="en-US" sz="1400" b="1" dirty="0">
                <a:solidFill>
                  <a:srgbClr val="F8FAFC"/>
                </a:solidFill>
                <a:latin typeface="Calibri" pitchFamily="34" charset="0"/>
                <a:ea typeface="Calibri" pitchFamily="34" charset="-122"/>
                <a:cs typeface="Calibri" pitchFamily="34" charset="-120"/>
              </a:rPr>
              <a:t>Hunt a bug from work item to root cause</a:t>
            </a:r>
            <a:endParaRPr lang="en-US" sz="1400" dirty="0"/>
          </a:p>
        </p:txBody>
      </p:sp>
      <p:sp>
        <p:nvSpPr>
          <p:cNvPr id="7" name="Text 5"/>
          <p:cNvSpPr/>
          <p:nvPr/>
        </p:nvSpPr>
        <p:spPr>
          <a:xfrm>
            <a:off x="1645920" y="1481328"/>
            <a:ext cx="6400800" cy="32004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Trace: work item → linked PRs → commits → code → test results</a:t>
            </a:r>
            <a:endParaRPr lang="en-US" sz="1100" dirty="0"/>
          </a:p>
        </p:txBody>
      </p:sp>
      <p:sp>
        <p:nvSpPr>
          <p:cNvPr id="8" name="Shape 6"/>
          <p:cNvSpPr/>
          <p:nvPr/>
        </p:nvSpPr>
        <p:spPr>
          <a:xfrm>
            <a:off x="457200" y="2057400"/>
            <a:ext cx="8229600" cy="777240"/>
          </a:xfrm>
          <a:prstGeom prst="roundRect">
            <a:avLst>
              <a:gd name="adj" fmla="val 9412"/>
            </a:avLst>
          </a:prstGeom>
          <a:solidFill>
            <a:srgbClr val="1E293B"/>
          </a:solidFill>
          <a:ln/>
          <a:effectLst>
            <a:outerShdw sx="100000" sy="100000" kx="0" ky="0" algn="bl" rotWithShape="0" blurRad="101600" dist="38100" dir="2700000">
              <a:srgbClr val="000000">
                <a:alpha val="25000"/>
              </a:srgbClr>
            </a:outerShdw>
          </a:effectLst>
        </p:spPr>
      </p:sp>
      <p:sp>
        <p:nvSpPr>
          <p:cNvPr id="9" name="Shape 7"/>
          <p:cNvSpPr/>
          <p:nvPr/>
        </p:nvSpPr>
        <p:spPr>
          <a:xfrm>
            <a:off x="640080" y="2258568"/>
            <a:ext cx="822960" cy="365760"/>
          </a:xfrm>
          <a:prstGeom prst="roundRect">
            <a:avLst>
              <a:gd name="adj" fmla="val 15000"/>
            </a:avLst>
          </a:prstGeom>
          <a:solidFill>
            <a:srgbClr val="06B6D4">
              <a:alpha val="70000"/>
            </a:srgbClr>
          </a:solidFill>
          <a:ln/>
        </p:spPr>
      </p:sp>
      <p:sp>
        <p:nvSpPr>
          <p:cNvPr id="10" name="Text 8"/>
          <p:cNvSpPr/>
          <p:nvPr/>
        </p:nvSpPr>
        <p:spPr>
          <a:xfrm>
            <a:off x="640080" y="2258568"/>
            <a:ext cx="822960" cy="365760"/>
          </a:xfrm>
          <a:prstGeom prst="rect">
            <a:avLst/>
          </a:prstGeom>
          <a:noFill/>
          <a:ln/>
        </p:spPr>
        <p:txBody>
          <a:bodyPr wrap="square" lIns="0" tIns="0" rIns="0" bIns="0" rtlCol="0" anchor="ctr"/>
          <a:lstStyle/>
          <a:p>
            <a:pPr algn="ctr" indent="0" marL="0">
              <a:buNone/>
            </a:pPr>
            <a:r>
              <a:rPr lang="en-US" sz="1000" b="1" dirty="0">
                <a:solidFill>
                  <a:srgbClr val="06B6D4"/>
                </a:solidFill>
                <a:latin typeface="Calibri" pitchFamily="34" charset="0"/>
                <a:ea typeface="Calibri" pitchFamily="34" charset="-122"/>
                <a:cs typeface="Calibri" pitchFamily="34" charset="-120"/>
              </a:rPr>
              <a:t>ADO</a:t>
            </a:r>
            <a:endParaRPr lang="en-US" sz="1000" dirty="0"/>
          </a:p>
        </p:txBody>
      </p:sp>
      <p:sp>
        <p:nvSpPr>
          <p:cNvPr id="11" name="Text 9"/>
          <p:cNvSpPr/>
          <p:nvPr/>
        </p:nvSpPr>
        <p:spPr>
          <a:xfrm>
            <a:off x="1645920" y="2057400"/>
            <a:ext cx="4572000" cy="411480"/>
          </a:xfrm>
          <a:prstGeom prst="rect">
            <a:avLst/>
          </a:prstGeom>
          <a:noFill/>
          <a:ln/>
        </p:spPr>
        <p:txBody>
          <a:bodyPr wrap="square" lIns="0" tIns="0" rIns="0" bIns="0" rtlCol="0" anchor="b"/>
          <a:lstStyle/>
          <a:p>
            <a:pPr indent="0" marL="0">
              <a:buNone/>
            </a:pPr>
            <a:r>
              <a:rPr lang="en-US" sz="1400" b="1" dirty="0">
                <a:solidFill>
                  <a:srgbClr val="F8FAFC"/>
                </a:solidFill>
                <a:latin typeface="Calibri" pitchFamily="34" charset="0"/>
                <a:ea typeface="Calibri" pitchFamily="34" charset="-122"/>
                <a:cs typeface="Calibri" pitchFamily="34" charset="-120"/>
              </a:rPr>
              <a:t>Triage a failed Azure Pipelines build</a:t>
            </a:r>
            <a:endParaRPr lang="en-US" sz="1400" dirty="0"/>
          </a:p>
        </p:txBody>
      </p:sp>
      <p:sp>
        <p:nvSpPr>
          <p:cNvPr id="12" name="Text 10"/>
          <p:cNvSpPr/>
          <p:nvPr/>
        </p:nvSpPr>
        <p:spPr>
          <a:xfrm>
            <a:off x="1645920" y="2441448"/>
            <a:ext cx="6400800" cy="32004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Find: failing stage → error in logs → failed tests → what changed</a:t>
            </a:r>
            <a:endParaRPr lang="en-US" sz="1100" dirty="0"/>
          </a:p>
        </p:txBody>
      </p:sp>
      <p:sp>
        <p:nvSpPr>
          <p:cNvPr id="13" name="Shape 11"/>
          <p:cNvSpPr/>
          <p:nvPr/>
        </p:nvSpPr>
        <p:spPr>
          <a:xfrm>
            <a:off x="457200" y="3017520"/>
            <a:ext cx="8229600" cy="777240"/>
          </a:xfrm>
          <a:prstGeom prst="roundRect">
            <a:avLst>
              <a:gd name="adj" fmla="val 9412"/>
            </a:avLst>
          </a:prstGeom>
          <a:solidFill>
            <a:srgbClr val="1E293B"/>
          </a:solidFill>
          <a:ln/>
          <a:effectLst>
            <a:outerShdw sx="100000" sy="100000" kx="0" ky="0" algn="bl" rotWithShape="0" blurRad="101600" dist="38100" dir="2700000">
              <a:srgbClr val="000000">
                <a:alpha val="25000"/>
              </a:srgbClr>
            </a:outerShdw>
          </a:effectLst>
        </p:spPr>
      </p:sp>
      <p:sp>
        <p:nvSpPr>
          <p:cNvPr id="14" name="Shape 12"/>
          <p:cNvSpPr/>
          <p:nvPr/>
        </p:nvSpPr>
        <p:spPr>
          <a:xfrm>
            <a:off x="640080" y="3218688"/>
            <a:ext cx="822960" cy="365760"/>
          </a:xfrm>
          <a:prstGeom prst="roundRect">
            <a:avLst>
              <a:gd name="adj" fmla="val 15000"/>
            </a:avLst>
          </a:prstGeom>
          <a:solidFill>
            <a:srgbClr val="8B5CF6">
              <a:alpha val="70000"/>
            </a:srgbClr>
          </a:solidFill>
          <a:ln/>
        </p:spPr>
      </p:sp>
      <p:sp>
        <p:nvSpPr>
          <p:cNvPr id="15" name="Text 13"/>
          <p:cNvSpPr/>
          <p:nvPr/>
        </p:nvSpPr>
        <p:spPr>
          <a:xfrm>
            <a:off x="640080" y="3218688"/>
            <a:ext cx="822960" cy="365760"/>
          </a:xfrm>
          <a:prstGeom prst="rect">
            <a:avLst/>
          </a:prstGeom>
          <a:noFill/>
          <a:ln/>
        </p:spPr>
        <p:txBody>
          <a:bodyPr wrap="square" lIns="0" tIns="0" rIns="0" bIns="0" rtlCol="0" anchor="ctr"/>
          <a:lstStyle/>
          <a:p>
            <a:pPr algn="ctr" indent="0" marL="0">
              <a:buNone/>
            </a:pPr>
            <a:r>
              <a:rPr lang="en-US" sz="1000" b="1" dirty="0">
                <a:solidFill>
                  <a:srgbClr val="8B5CF6"/>
                </a:solidFill>
                <a:latin typeface="Calibri" pitchFamily="34" charset="0"/>
                <a:ea typeface="Calibri" pitchFamily="34" charset="-122"/>
                <a:cs typeface="Calibri" pitchFamily="34" charset="-120"/>
              </a:rPr>
              <a:t>Driver</a:t>
            </a:r>
            <a:endParaRPr lang="en-US" sz="1000" dirty="0"/>
          </a:p>
        </p:txBody>
      </p:sp>
      <p:sp>
        <p:nvSpPr>
          <p:cNvPr id="16" name="Text 14"/>
          <p:cNvSpPr/>
          <p:nvPr/>
        </p:nvSpPr>
        <p:spPr>
          <a:xfrm>
            <a:off x="1645920" y="3017520"/>
            <a:ext cx="4572000" cy="411480"/>
          </a:xfrm>
          <a:prstGeom prst="rect">
            <a:avLst/>
          </a:prstGeom>
          <a:noFill/>
          <a:ln/>
        </p:spPr>
        <p:txBody>
          <a:bodyPr wrap="square" lIns="0" tIns="0" rIns="0" bIns="0" rtlCol="0" anchor="b"/>
          <a:lstStyle/>
          <a:p>
            <a:pPr indent="0" marL="0">
              <a:buNone/>
            </a:pPr>
            <a:r>
              <a:rPr lang="en-US" sz="1400" b="1" dirty="0">
                <a:solidFill>
                  <a:srgbClr val="F8FAFC"/>
                </a:solidFill>
                <a:latin typeface="Calibri" pitchFamily="34" charset="0"/>
                <a:ea typeface="Calibri" pitchFamily="34" charset="-122"/>
                <a:cs typeface="Calibri" pitchFamily="34" charset="-120"/>
              </a:rPr>
              <a:t>Driver AI Planning</a:t>
            </a:r>
            <a:endParaRPr lang="en-US" sz="1400" dirty="0"/>
          </a:p>
        </p:txBody>
      </p:sp>
      <p:sp>
        <p:nvSpPr>
          <p:cNvPr id="17" name="Text 15"/>
          <p:cNvSpPr/>
          <p:nvPr/>
        </p:nvSpPr>
        <p:spPr>
          <a:xfrm>
            <a:off x="1645920" y="3401568"/>
            <a:ext cx="6400800" cy="32004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Create implementation plans using code analysis tools (progressive deepening)</a:t>
            </a:r>
            <a:endParaRPr lang="en-US" sz="1100" dirty="0"/>
          </a:p>
        </p:txBody>
      </p:sp>
      <p:sp>
        <p:nvSpPr>
          <p:cNvPr id="18" name="Shape 16"/>
          <p:cNvSpPr/>
          <p:nvPr/>
        </p:nvSpPr>
        <p:spPr>
          <a:xfrm>
            <a:off x="457200" y="3977640"/>
            <a:ext cx="8229600" cy="777240"/>
          </a:xfrm>
          <a:prstGeom prst="roundRect">
            <a:avLst>
              <a:gd name="adj" fmla="val 9412"/>
            </a:avLst>
          </a:prstGeom>
          <a:solidFill>
            <a:srgbClr val="1E293B"/>
          </a:solidFill>
          <a:ln/>
          <a:effectLst>
            <a:outerShdw sx="100000" sy="100000" kx="0" ky="0" algn="bl" rotWithShape="0" blurRad="101600" dist="38100" dir="2700000">
              <a:srgbClr val="000000">
                <a:alpha val="25000"/>
              </a:srgbClr>
            </a:outerShdw>
          </a:effectLst>
        </p:spPr>
      </p:sp>
      <p:sp>
        <p:nvSpPr>
          <p:cNvPr id="19" name="Shape 17"/>
          <p:cNvSpPr/>
          <p:nvPr/>
        </p:nvSpPr>
        <p:spPr>
          <a:xfrm>
            <a:off x="640080" y="4178808"/>
            <a:ext cx="822960" cy="365760"/>
          </a:xfrm>
          <a:prstGeom prst="roundRect">
            <a:avLst>
              <a:gd name="adj" fmla="val 15000"/>
            </a:avLst>
          </a:prstGeom>
          <a:solidFill>
            <a:srgbClr val="8B5CF6">
              <a:alpha val="70000"/>
            </a:srgbClr>
          </a:solidFill>
          <a:ln/>
        </p:spPr>
      </p:sp>
      <p:sp>
        <p:nvSpPr>
          <p:cNvPr id="20" name="Text 18"/>
          <p:cNvSpPr/>
          <p:nvPr/>
        </p:nvSpPr>
        <p:spPr>
          <a:xfrm>
            <a:off x="640080" y="4178808"/>
            <a:ext cx="822960" cy="365760"/>
          </a:xfrm>
          <a:prstGeom prst="rect">
            <a:avLst/>
          </a:prstGeom>
          <a:noFill/>
          <a:ln/>
        </p:spPr>
        <p:txBody>
          <a:bodyPr wrap="square" lIns="0" tIns="0" rIns="0" bIns="0" rtlCol="0" anchor="ctr"/>
          <a:lstStyle/>
          <a:p>
            <a:pPr algn="ctr" indent="0" marL="0">
              <a:buNone/>
            </a:pPr>
            <a:r>
              <a:rPr lang="en-US" sz="1000" b="1" dirty="0">
                <a:solidFill>
                  <a:srgbClr val="8B5CF6"/>
                </a:solidFill>
                <a:latin typeface="Calibri" pitchFamily="34" charset="0"/>
                <a:ea typeface="Calibri" pitchFamily="34" charset="-122"/>
                <a:cs typeface="Calibri" pitchFamily="34" charset="-120"/>
              </a:rPr>
              <a:t>Driver</a:t>
            </a:r>
            <a:endParaRPr lang="en-US" sz="1000" dirty="0"/>
          </a:p>
        </p:txBody>
      </p:sp>
      <p:sp>
        <p:nvSpPr>
          <p:cNvPr id="21" name="Text 19"/>
          <p:cNvSpPr/>
          <p:nvPr/>
        </p:nvSpPr>
        <p:spPr>
          <a:xfrm>
            <a:off x="1645920" y="3977640"/>
            <a:ext cx="4572000" cy="411480"/>
          </a:xfrm>
          <a:prstGeom prst="rect">
            <a:avLst/>
          </a:prstGeom>
          <a:noFill/>
          <a:ln/>
        </p:spPr>
        <p:txBody>
          <a:bodyPr wrap="square" lIns="0" tIns="0" rIns="0" bIns="0" rtlCol="0" anchor="b"/>
          <a:lstStyle/>
          <a:p>
            <a:pPr indent="0" marL="0">
              <a:buNone/>
            </a:pPr>
            <a:r>
              <a:rPr lang="en-US" sz="1400" b="1" dirty="0">
                <a:solidFill>
                  <a:srgbClr val="F8FAFC"/>
                </a:solidFill>
                <a:latin typeface="Calibri" pitchFamily="34" charset="0"/>
                <a:ea typeface="Calibri" pitchFamily="34" charset="-122"/>
                <a:cs typeface="Calibri" pitchFamily="34" charset="-120"/>
              </a:rPr>
              <a:t>Driver AI Research</a:t>
            </a:r>
            <a:endParaRPr lang="en-US" sz="1400" dirty="0"/>
          </a:p>
        </p:txBody>
      </p:sp>
      <p:sp>
        <p:nvSpPr>
          <p:cNvPr id="22" name="Text 20"/>
          <p:cNvSpPr/>
          <p:nvPr/>
        </p:nvSpPr>
        <p:spPr>
          <a:xfrm>
            <a:off x="1645920" y="4361688"/>
            <a:ext cx="6400800" cy="32004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Explore technical topics against codebases with structured output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How skills work in practice</a:t>
            </a:r>
            <a:endParaRPr lang="en-US" sz="3600" dirty="0"/>
          </a:p>
        </p:txBody>
      </p:sp>
      <p:sp>
        <p:nvSpPr>
          <p:cNvPr id="3" name="Shape 1"/>
          <p:cNvSpPr/>
          <p:nvPr/>
        </p:nvSpPr>
        <p:spPr>
          <a:xfrm>
            <a:off x="457200" y="1188720"/>
            <a:ext cx="2606040" cy="1280160"/>
          </a:xfrm>
          <a:prstGeom prst="roundRect">
            <a:avLst>
              <a:gd name="adj" fmla="val 7143"/>
            </a:avLst>
          </a:prstGeom>
          <a:solidFill>
            <a:srgbClr val="1E293B"/>
          </a:solidFill>
          <a:ln/>
          <a:effectLst>
            <a:outerShdw sx="100000" sy="100000" kx="0" ky="0" algn="bl" rotWithShape="0" blurRad="101600" dist="38100" dir="2700000">
              <a:srgbClr val="000000">
                <a:alpha val="25000"/>
              </a:srgbClr>
            </a:outerShdw>
          </a:effectLst>
        </p:spPr>
      </p:sp>
      <p:sp>
        <p:nvSpPr>
          <p:cNvPr id="4" name="Shape 2"/>
          <p:cNvSpPr/>
          <p:nvPr/>
        </p:nvSpPr>
        <p:spPr>
          <a:xfrm>
            <a:off x="594360" y="1325880"/>
            <a:ext cx="411480" cy="411480"/>
          </a:xfrm>
          <a:prstGeom prst="ellipse">
            <a:avLst/>
          </a:prstGeom>
          <a:solidFill>
            <a:srgbClr val="06B6D4"/>
          </a:solidFill>
          <a:ln/>
        </p:spPr>
      </p:sp>
      <p:sp>
        <p:nvSpPr>
          <p:cNvPr id="5" name="Text 3"/>
          <p:cNvSpPr/>
          <p:nvPr/>
        </p:nvSpPr>
        <p:spPr>
          <a:xfrm>
            <a:off x="594360" y="1325880"/>
            <a:ext cx="411480" cy="41148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097280" y="1325880"/>
            <a:ext cx="1828800" cy="411480"/>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Agent starts a session</a:t>
            </a:r>
            <a:endParaRPr lang="en-US" sz="1300" dirty="0"/>
          </a:p>
        </p:txBody>
      </p:sp>
      <p:sp>
        <p:nvSpPr>
          <p:cNvPr id="7" name="Text 5"/>
          <p:cNvSpPr/>
          <p:nvPr/>
        </p:nvSpPr>
        <p:spPr>
          <a:xfrm>
            <a:off x="594360" y="1828800"/>
            <a:ext cx="2331720" cy="5029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calls list_upstreams</a:t>
            </a:r>
            <a:endParaRPr lang="en-US" sz="1100" dirty="0"/>
          </a:p>
        </p:txBody>
      </p:sp>
      <p:sp>
        <p:nvSpPr>
          <p:cNvPr id="8" name="Shape 6"/>
          <p:cNvSpPr/>
          <p:nvPr/>
        </p:nvSpPr>
        <p:spPr>
          <a:xfrm>
            <a:off x="3337560" y="1188720"/>
            <a:ext cx="2606040" cy="1280160"/>
          </a:xfrm>
          <a:prstGeom prst="roundRect">
            <a:avLst>
              <a:gd name="adj" fmla="val 7143"/>
            </a:avLst>
          </a:prstGeom>
          <a:solidFill>
            <a:srgbClr val="1E293B"/>
          </a:solidFill>
          <a:ln/>
          <a:effectLst>
            <a:outerShdw sx="100000" sy="100000" kx="0" ky="0" algn="bl" rotWithShape="0" blurRad="101600" dist="38100" dir="2700000">
              <a:srgbClr val="000000">
                <a:alpha val="25000"/>
              </a:srgbClr>
            </a:outerShdw>
          </a:effectLst>
        </p:spPr>
      </p:sp>
      <p:sp>
        <p:nvSpPr>
          <p:cNvPr id="9" name="Shape 7"/>
          <p:cNvSpPr/>
          <p:nvPr/>
        </p:nvSpPr>
        <p:spPr>
          <a:xfrm>
            <a:off x="3474720" y="1325880"/>
            <a:ext cx="411480" cy="411480"/>
          </a:xfrm>
          <a:prstGeom prst="ellipse">
            <a:avLst/>
          </a:prstGeom>
          <a:solidFill>
            <a:srgbClr val="F97316"/>
          </a:solidFill>
          <a:ln/>
        </p:spPr>
      </p:sp>
      <p:sp>
        <p:nvSpPr>
          <p:cNvPr id="10" name="Text 8"/>
          <p:cNvSpPr/>
          <p:nvPr/>
        </p:nvSpPr>
        <p:spPr>
          <a:xfrm>
            <a:off x="3474720" y="1325880"/>
            <a:ext cx="411480" cy="41148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3977640" y="1325880"/>
            <a:ext cx="1828800" cy="411480"/>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Sees ADO has 2 skills</a:t>
            </a:r>
            <a:endParaRPr lang="en-US" sz="1300" dirty="0"/>
          </a:p>
        </p:txBody>
      </p:sp>
      <p:sp>
        <p:nvSpPr>
          <p:cNvPr id="12" name="Text 10"/>
          <p:cNvSpPr/>
          <p:nvPr/>
        </p:nvSpPr>
        <p:spPr>
          <a:xfrm>
            <a:off x="3474720" y="1828800"/>
            <a:ext cx="2331720" cy="5029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attached_skills in response</a:t>
            </a:r>
            <a:endParaRPr lang="en-US" sz="1100" dirty="0"/>
          </a:p>
        </p:txBody>
      </p:sp>
      <p:sp>
        <p:nvSpPr>
          <p:cNvPr id="13" name="Shape 11"/>
          <p:cNvSpPr/>
          <p:nvPr/>
        </p:nvSpPr>
        <p:spPr>
          <a:xfrm>
            <a:off x="6217920" y="1188720"/>
            <a:ext cx="2606040" cy="1280160"/>
          </a:xfrm>
          <a:prstGeom prst="roundRect">
            <a:avLst>
              <a:gd name="adj" fmla="val 7143"/>
            </a:avLst>
          </a:prstGeom>
          <a:solidFill>
            <a:srgbClr val="1E293B"/>
          </a:solidFill>
          <a:ln/>
          <a:effectLst>
            <a:outerShdw sx="100000" sy="100000" kx="0" ky="0" algn="bl" rotWithShape="0" blurRad="101600" dist="38100" dir="2700000">
              <a:srgbClr val="000000">
                <a:alpha val="25000"/>
              </a:srgbClr>
            </a:outerShdw>
          </a:effectLst>
        </p:spPr>
      </p:sp>
      <p:sp>
        <p:nvSpPr>
          <p:cNvPr id="14" name="Shape 12"/>
          <p:cNvSpPr/>
          <p:nvPr/>
        </p:nvSpPr>
        <p:spPr>
          <a:xfrm>
            <a:off x="6355080" y="1325880"/>
            <a:ext cx="411480" cy="411480"/>
          </a:xfrm>
          <a:prstGeom prst="ellipse">
            <a:avLst/>
          </a:prstGeom>
          <a:solidFill>
            <a:srgbClr val="94A3B8"/>
          </a:solidFill>
          <a:ln/>
        </p:spPr>
      </p:sp>
      <p:sp>
        <p:nvSpPr>
          <p:cNvPr id="15" name="Text 13"/>
          <p:cNvSpPr/>
          <p:nvPr/>
        </p:nvSpPr>
        <p:spPr>
          <a:xfrm>
            <a:off x="6355080" y="1325880"/>
            <a:ext cx="411480" cy="41148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6858000" y="1325880"/>
            <a:ext cx="1828800" cy="411480"/>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User asks a question</a:t>
            </a:r>
            <a:endParaRPr lang="en-US" sz="1300" dirty="0"/>
          </a:p>
        </p:txBody>
      </p:sp>
      <p:sp>
        <p:nvSpPr>
          <p:cNvPr id="17" name="Text 15"/>
          <p:cNvSpPr/>
          <p:nvPr/>
        </p:nvSpPr>
        <p:spPr>
          <a:xfrm>
            <a:off x="6355080" y="1828800"/>
            <a:ext cx="2331720" cy="5029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"Why is build 12345 failing?"</a:t>
            </a:r>
            <a:endParaRPr lang="en-US" sz="1100" dirty="0"/>
          </a:p>
        </p:txBody>
      </p:sp>
      <p:sp>
        <p:nvSpPr>
          <p:cNvPr id="18" name="Shape 16"/>
          <p:cNvSpPr/>
          <p:nvPr/>
        </p:nvSpPr>
        <p:spPr>
          <a:xfrm>
            <a:off x="457200" y="2926080"/>
            <a:ext cx="2606040" cy="1280160"/>
          </a:xfrm>
          <a:prstGeom prst="roundRect">
            <a:avLst>
              <a:gd name="adj" fmla="val 7143"/>
            </a:avLst>
          </a:prstGeom>
          <a:solidFill>
            <a:srgbClr val="1E293B"/>
          </a:solidFill>
          <a:ln/>
          <a:effectLst>
            <a:outerShdw sx="100000" sy="100000" kx="0" ky="0" algn="bl" rotWithShape="0" blurRad="101600" dist="38100" dir="2700000">
              <a:srgbClr val="000000">
                <a:alpha val="25000"/>
              </a:srgbClr>
            </a:outerShdw>
          </a:effectLst>
        </p:spPr>
      </p:sp>
      <p:sp>
        <p:nvSpPr>
          <p:cNvPr id="19" name="Shape 17"/>
          <p:cNvSpPr/>
          <p:nvPr/>
        </p:nvSpPr>
        <p:spPr>
          <a:xfrm>
            <a:off x="594360" y="3063240"/>
            <a:ext cx="411480" cy="411480"/>
          </a:xfrm>
          <a:prstGeom prst="ellipse">
            <a:avLst/>
          </a:prstGeom>
          <a:solidFill>
            <a:srgbClr val="8B5CF6"/>
          </a:solidFill>
          <a:ln/>
        </p:spPr>
      </p:sp>
      <p:sp>
        <p:nvSpPr>
          <p:cNvPr id="20" name="Text 18"/>
          <p:cNvSpPr/>
          <p:nvPr/>
        </p:nvSpPr>
        <p:spPr>
          <a:xfrm>
            <a:off x="594360" y="3063240"/>
            <a:ext cx="411480" cy="41148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097280" y="3063240"/>
            <a:ext cx="1828800" cy="411480"/>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Agent loads the skill</a:t>
            </a:r>
            <a:endParaRPr lang="en-US" sz="1300" dirty="0"/>
          </a:p>
        </p:txBody>
      </p:sp>
      <p:sp>
        <p:nvSpPr>
          <p:cNvPr id="22" name="Text 20"/>
          <p:cNvSpPr/>
          <p:nvPr/>
        </p:nvSpPr>
        <p:spPr>
          <a:xfrm>
            <a:off x="594360" y="3566160"/>
            <a:ext cx="2331720" cy="5029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get_skill("sk-ado-triage...")</a:t>
            </a:r>
            <a:endParaRPr lang="en-US" sz="1100" dirty="0"/>
          </a:p>
        </p:txBody>
      </p:sp>
      <p:sp>
        <p:nvSpPr>
          <p:cNvPr id="23" name="Shape 21"/>
          <p:cNvSpPr/>
          <p:nvPr/>
        </p:nvSpPr>
        <p:spPr>
          <a:xfrm>
            <a:off x="3337560" y="2926080"/>
            <a:ext cx="2606040" cy="1280160"/>
          </a:xfrm>
          <a:prstGeom prst="roundRect">
            <a:avLst>
              <a:gd name="adj" fmla="val 7143"/>
            </a:avLst>
          </a:prstGeom>
          <a:solidFill>
            <a:srgbClr val="1E293B"/>
          </a:solidFill>
          <a:ln/>
          <a:effectLst>
            <a:outerShdw sx="100000" sy="100000" kx="0" ky="0" algn="bl" rotWithShape="0" blurRad="101600" dist="38100" dir="2700000">
              <a:srgbClr val="000000">
                <a:alpha val="25000"/>
              </a:srgbClr>
            </a:outerShdw>
          </a:effectLst>
        </p:spPr>
      </p:sp>
      <p:sp>
        <p:nvSpPr>
          <p:cNvPr id="24" name="Shape 22"/>
          <p:cNvSpPr/>
          <p:nvPr/>
        </p:nvSpPr>
        <p:spPr>
          <a:xfrm>
            <a:off x="3474720" y="3063240"/>
            <a:ext cx="411480" cy="411480"/>
          </a:xfrm>
          <a:prstGeom prst="ellipse">
            <a:avLst/>
          </a:prstGeom>
          <a:solidFill>
            <a:srgbClr val="8B5CF6"/>
          </a:solidFill>
          <a:ln/>
        </p:spPr>
      </p:sp>
      <p:sp>
        <p:nvSpPr>
          <p:cNvPr id="25" name="Text 23"/>
          <p:cNvSpPr/>
          <p:nvPr/>
        </p:nvSpPr>
        <p:spPr>
          <a:xfrm>
            <a:off x="3474720" y="3063240"/>
            <a:ext cx="411480" cy="41148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3977640" y="3063240"/>
            <a:ext cx="1828800" cy="411480"/>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Reads the playbook</a:t>
            </a:r>
            <a:endParaRPr lang="en-US" sz="1300" dirty="0"/>
          </a:p>
        </p:txBody>
      </p:sp>
      <p:sp>
        <p:nvSpPr>
          <p:cNvPr id="27" name="Text 25"/>
          <p:cNvSpPr/>
          <p:nvPr/>
        </p:nvSpPr>
        <p:spPr>
          <a:xfrm>
            <a:off x="3474720" y="3566160"/>
            <a:ext cx="2331720" cy="5029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Step-by-step ADO recipe</a:t>
            </a:r>
            <a:endParaRPr lang="en-US" sz="1100" dirty="0"/>
          </a:p>
        </p:txBody>
      </p:sp>
      <p:sp>
        <p:nvSpPr>
          <p:cNvPr id="28" name="Shape 26"/>
          <p:cNvSpPr/>
          <p:nvPr/>
        </p:nvSpPr>
        <p:spPr>
          <a:xfrm>
            <a:off x="6217920" y="2926080"/>
            <a:ext cx="2606040" cy="1280160"/>
          </a:xfrm>
          <a:prstGeom prst="roundRect">
            <a:avLst>
              <a:gd name="adj" fmla="val 7143"/>
            </a:avLst>
          </a:prstGeom>
          <a:solidFill>
            <a:srgbClr val="1E293B"/>
          </a:solidFill>
          <a:ln/>
          <a:effectLst>
            <a:outerShdw sx="100000" sy="100000" kx="0" ky="0" algn="bl" rotWithShape="0" blurRad="101600" dist="38100" dir="2700000">
              <a:srgbClr val="000000">
                <a:alpha val="25000"/>
              </a:srgbClr>
            </a:outerShdw>
          </a:effectLst>
        </p:spPr>
      </p:sp>
      <p:sp>
        <p:nvSpPr>
          <p:cNvPr id="29" name="Shape 27"/>
          <p:cNvSpPr/>
          <p:nvPr/>
        </p:nvSpPr>
        <p:spPr>
          <a:xfrm>
            <a:off x="6355080" y="3063240"/>
            <a:ext cx="411480" cy="411480"/>
          </a:xfrm>
          <a:prstGeom prst="ellipse">
            <a:avLst/>
          </a:prstGeom>
          <a:solidFill>
            <a:srgbClr val="10B981"/>
          </a:solidFill>
          <a:ln/>
        </p:spPr>
      </p:sp>
      <p:sp>
        <p:nvSpPr>
          <p:cNvPr id="30" name="Text 28"/>
          <p:cNvSpPr/>
          <p:nvPr/>
        </p:nvSpPr>
        <p:spPr>
          <a:xfrm>
            <a:off x="6355080" y="3063240"/>
            <a:ext cx="411480" cy="41148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6</a:t>
            </a:r>
            <a:endParaRPr lang="en-US" sz="1600" dirty="0"/>
          </a:p>
        </p:txBody>
      </p:sp>
      <p:sp>
        <p:nvSpPr>
          <p:cNvPr id="31" name="Text 29"/>
          <p:cNvSpPr/>
          <p:nvPr/>
        </p:nvSpPr>
        <p:spPr>
          <a:xfrm>
            <a:off x="6858000" y="3063240"/>
            <a:ext cx="1828800" cy="411480"/>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Follows the recipe</a:t>
            </a:r>
            <a:endParaRPr lang="en-US" sz="1300" dirty="0"/>
          </a:p>
        </p:txBody>
      </p:sp>
      <p:sp>
        <p:nvSpPr>
          <p:cNvPr id="32" name="Text 30"/>
          <p:cNvSpPr/>
          <p:nvPr/>
        </p:nvSpPr>
        <p:spPr>
          <a:xfrm>
            <a:off x="6355080" y="3566160"/>
            <a:ext cx="2331720" cy="5029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Right tools, right order</a:t>
            </a:r>
            <a:endParaRPr lang="en-US" sz="1100" dirty="0"/>
          </a:p>
        </p:txBody>
      </p:sp>
      <p:sp>
        <p:nvSpPr>
          <p:cNvPr id="33" name="Text 31"/>
          <p:cNvSpPr/>
          <p:nvPr/>
        </p:nvSpPr>
        <p:spPr>
          <a:xfrm>
            <a:off x="914400" y="4389120"/>
            <a:ext cx="7315200" cy="365760"/>
          </a:xfrm>
          <a:prstGeom prst="rect">
            <a:avLst/>
          </a:prstGeom>
          <a:noFill/>
          <a:ln/>
        </p:spPr>
        <p:txBody>
          <a:bodyPr wrap="square" lIns="0" tIns="0" rIns="0" bIns="0" rtlCol="0" anchor="ctr"/>
          <a:lstStyle/>
          <a:p>
            <a:pPr algn="ctr" indent="0" marL="0">
              <a:buNone/>
            </a:pPr>
            <a:r>
              <a:rPr lang="en-US" sz="1300" i="1" dirty="0">
                <a:solidFill>
                  <a:srgbClr val="8B5CF6"/>
                </a:solidFill>
                <a:latin typeface="Calibri" pitchFamily="34" charset="0"/>
                <a:ea typeface="Calibri" pitchFamily="34" charset="-122"/>
                <a:cs typeface="Calibri" pitchFamily="34" charset="-120"/>
              </a:rPr>
              <a:t>Skills are advisory — the agent chooses to read them. MCP server instructions nudge it to check.</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Skills vs. Docs</a:t>
            </a:r>
            <a:endParaRPr lang="en-US" sz="3600" dirty="0"/>
          </a:p>
        </p:txBody>
      </p:sp>
      <p:sp>
        <p:nvSpPr>
          <p:cNvPr id="3" name="Text 1"/>
          <p:cNvSpPr/>
          <p:nvPr/>
        </p:nvSpPr>
        <p:spPr>
          <a:xfrm>
            <a:off x="731520" y="868680"/>
            <a:ext cx="7680960" cy="365760"/>
          </a:xfrm>
          <a:prstGeom prst="rect">
            <a:avLst/>
          </a:prstGeom>
          <a:noFill/>
          <a:ln/>
        </p:spPr>
        <p:txBody>
          <a:bodyPr wrap="square" lIns="0" tIns="0" rIns="0" bIns="0" rtlCol="0" anchor="ctr"/>
          <a:lstStyle/>
          <a:p>
            <a:pPr indent="0" marL="0">
              <a:buNone/>
            </a:pPr>
            <a:r>
              <a:rPr lang="en-US" sz="1600" dirty="0">
                <a:solidFill>
                  <a:srgbClr val="8B5CF6"/>
                </a:solidFill>
                <a:latin typeface="Calibri" pitchFamily="34" charset="0"/>
                <a:ea typeface="Calibri" pitchFamily="34" charset="-122"/>
                <a:cs typeface="Calibri" pitchFamily="34" charset="-120"/>
              </a:rPr>
              <a:t>Two kinds of knowledge, different purposes</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2926080"/>
        </p:xfrm>
        <a:graphic>
          <a:graphicData uri="http://schemas.openxmlformats.org/drawingml/2006/table">
            <a:tbl>
              <a:tblPr/>
              <a:tblGrid>
                <a:gridCol w="1371600"/>
                <a:gridCol w="3429000"/>
                <a:gridCol w="3429000"/>
              </a:tblGrid>
              <a:tr h="365760">
                <a:tc>
                  <a:txBody>
                    <a:bodyPr/>
                    <a:lstStyle/>
                    <a:p>
                      <a:pP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Context Docs</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6B6D4"/>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Skills</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8B5CF6"/>
                    </a:solidFill>
                  </a:tcPr>
                </a:tc>
              </a:tr>
              <a:tr h="502920">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What</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Reference material</a:t>
                      </a:r>
                      <a:endParaRPr lang="en-US" sz="1200" dirty="0">
                        <a:latin typeface="Calibri" charset="0"/>
                        <a:ea typeface="Calibri" charset="0"/>
                        <a:cs typeface="Calibri" charset="0"/>
                      </a:endParaRPr>
                    </a:p>
                    <a:p>
                      <a:pPr indent="0" marL="0">
                        <a:buNone/>
                      </a:pPr>
                      <a:r>
                        <a:rPr lang="en-US" sz="1200" dirty="0">
                          <a:solidFill>
                            <a:srgbClr val="F8FAFC"/>
                          </a:solidFill>
                          <a:latin typeface="Calibri" pitchFamily="34" charset="0"/>
                          <a:ea typeface="Calibri" pitchFamily="34" charset="-122"/>
                          <a:cs typeface="Calibri" pitchFamily="34" charset="-120"/>
                        </a:rPr>
                        <a:t>(specs, guides, architecture)</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Procedural recipes</a:t>
                      </a:r>
                      <a:endParaRPr lang="en-US" sz="1200" dirty="0">
                        <a:latin typeface="Calibri" charset="0"/>
                        <a:ea typeface="Calibri" charset="0"/>
                        <a:cs typeface="Calibri" charset="0"/>
                      </a:endParaRPr>
                    </a:p>
                    <a:p>
                      <a:pPr indent="0" marL="0">
                        <a:buNone/>
                      </a:pPr>
                      <a:r>
                        <a:rPr lang="en-US" sz="1200" dirty="0">
                          <a:solidFill>
                            <a:srgbClr val="F8FAFC"/>
                          </a:solidFill>
                          <a:latin typeface="Calibri" pitchFamily="34" charset="0"/>
                          <a:ea typeface="Calibri" pitchFamily="34" charset="-122"/>
                          <a:cs typeface="Calibri" pitchFamily="34" charset="-120"/>
                        </a:rPr>
                        <a:t>(do X, then Y, then Z)</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502920">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When read</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Agent searches when</a:t>
                      </a:r>
                      <a:endParaRPr lang="en-US" sz="1200" dirty="0">
                        <a:latin typeface="Calibri" charset="0"/>
                        <a:ea typeface="Calibri" charset="0"/>
                        <a:cs typeface="Calibri" charset="0"/>
                      </a:endParaRPr>
                    </a:p>
                    <a:p>
                      <a:pPr indent="0" marL="0">
                        <a:buNone/>
                      </a:pPr>
                      <a:r>
                        <a:rPr lang="en-US" sz="1200" dirty="0">
                          <a:solidFill>
                            <a:srgbClr val="F8FAFC"/>
                          </a:solidFill>
                          <a:latin typeface="Calibri" pitchFamily="34" charset="0"/>
                          <a:ea typeface="Calibri" pitchFamily="34" charset="-122"/>
                          <a:cs typeface="Calibri" pitchFamily="34" charset="-120"/>
                        </a:rPr>
                        <a:t>it needs background</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Agent reads before</a:t>
                      </a:r>
                      <a:endParaRPr lang="en-US" sz="1200" dirty="0">
                        <a:latin typeface="Calibri" charset="0"/>
                        <a:ea typeface="Calibri" charset="0"/>
                        <a:cs typeface="Calibri" charset="0"/>
                      </a:endParaRPr>
                    </a:p>
                    <a:p>
                      <a:pPr indent="0" marL="0">
                        <a:buNone/>
                      </a:pPr>
                      <a:r>
                        <a:rPr lang="en-US" sz="1200" dirty="0">
                          <a:solidFill>
                            <a:srgbClr val="F8FAFC"/>
                          </a:solidFill>
                          <a:latin typeface="Calibri" pitchFamily="34" charset="0"/>
                          <a:ea typeface="Calibri" pitchFamily="34" charset="-122"/>
                          <a:cs typeface="Calibri" pitchFamily="34" charset="-120"/>
                        </a:rPr>
                        <a:t>calling upstream tools</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r>
              <a:tr h="502920">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Who writes</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Anyone</a:t>
                      </a:r>
                      <a:endParaRPr lang="en-US" sz="1200" dirty="0">
                        <a:latin typeface="Calibri" charset="0"/>
                        <a:ea typeface="Calibri" charset="0"/>
                        <a:cs typeface="Calibri" charset="0"/>
                      </a:endParaRPr>
                    </a:p>
                    <a:p>
                      <a:pPr indent="0" marL="0">
                        <a:buNone/>
                      </a:pPr>
                      <a:r>
                        <a:rPr lang="en-US" sz="1200" dirty="0">
                          <a:solidFill>
                            <a:srgbClr val="F8FAFC"/>
                          </a:solidFill>
                          <a:latin typeface="Calibri" pitchFamily="34" charset="0"/>
                          <a:ea typeface="Calibri" pitchFamily="34" charset="-122"/>
                          <a:cs typeface="Calibri" pitchFamily="34" charset="-120"/>
                        </a:rPr>
                        <a:t>(editor or git sync)</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Admins</a:t>
                      </a:r>
                      <a:endParaRPr lang="en-US" sz="1200" dirty="0">
                        <a:latin typeface="Calibri" charset="0"/>
                        <a:ea typeface="Calibri" charset="0"/>
                        <a:cs typeface="Calibri" charset="0"/>
                      </a:endParaRPr>
                    </a:p>
                    <a:p>
                      <a:pPr indent="0" marL="0">
                        <a:buNone/>
                      </a:pPr>
                      <a:r>
                        <a:rPr lang="en-US" sz="1200" dirty="0">
                          <a:solidFill>
                            <a:srgbClr val="F8FAFC"/>
                          </a:solidFill>
                          <a:latin typeface="Calibri" pitchFamily="34" charset="0"/>
                          <a:ea typeface="Calibri" pitchFamily="34" charset="-122"/>
                          <a:cs typeface="Calibri" pitchFamily="34" charset="-120"/>
                        </a:rPr>
                        <a:t>(curated, published)</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502920">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Attached to</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Nothing</a:t>
                      </a:r>
                      <a:endParaRPr lang="en-US" sz="1200" dirty="0">
                        <a:latin typeface="Calibri" charset="0"/>
                        <a:ea typeface="Calibri" charset="0"/>
                        <a:cs typeface="Calibri" charset="0"/>
                      </a:endParaRPr>
                    </a:p>
                    <a:p>
                      <a:pPr indent="0" marL="0">
                        <a:buNone/>
                      </a:pPr>
                      <a:r>
                        <a:rPr lang="en-US" sz="1200" dirty="0">
                          <a:solidFill>
                            <a:srgbClr val="F8FAFC"/>
                          </a:solidFill>
                          <a:latin typeface="Calibri" pitchFamily="34" charset="0"/>
                          <a:ea typeface="Calibri" pitchFamily="34" charset="-122"/>
                          <a:cs typeface="Calibri" pitchFamily="34" charset="-120"/>
                        </a:rPr>
                        <a:t>(searchable by content)</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Specific upstreams</a:t>
                      </a:r>
                      <a:endParaRPr lang="en-US" sz="1200" dirty="0">
                        <a:latin typeface="Calibri" charset="0"/>
                        <a:ea typeface="Calibri" charset="0"/>
                        <a:cs typeface="Calibri" charset="0"/>
                      </a:endParaRPr>
                    </a:p>
                    <a:p>
                      <a:pPr indent="0" marL="0">
                        <a:buNone/>
                      </a:pPr>
                      <a:r>
                        <a:rPr lang="en-US" sz="1200" dirty="0">
                          <a:solidFill>
                            <a:srgbClr val="F8FAFC"/>
                          </a:solidFill>
                          <a:latin typeface="Calibri" pitchFamily="34" charset="0"/>
                          <a:ea typeface="Calibri" pitchFamily="34" charset="-122"/>
                          <a:cs typeface="Calibri" pitchFamily="34" charset="-120"/>
                        </a:rPr>
                        <a:t>or tools</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r>
              <a:tr h="502920">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"Our Peppol</a:t>
                      </a:r>
                      <a:endParaRPr lang="en-US" sz="1200" dirty="0">
                        <a:latin typeface="Calibri" charset="0"/>
                        <a:ea typeface="Calibri" charset="0"/>
                        <a:cs typeface="Calibri" charset="0"/>
                      </a:endParaRPr>
                    </a:p>
                    <a:p>
                      <a:pPr indent="0" marL="0">
                        <a:buNone/>
                      </a:pPr>
                      <a:r>
                        <a:rPr lang="en-US" sz="1200" dirty="0">
                          <a:solidFill>
                            <a:srgbClr val="F8FAFC"/>
                          </a:solidFill>
                          <a:latin typeface="Calibri" pitchFamily="34" charset="0"/>
                          <a:ea typeface="Calibri" pitchFamily="34" charset="-122"/>
                          <a:cs typeface="Calibri" pitchFamily="34" charset="-120"/>
                        </a:rPr>
                        <a:t>e-invoicing spec"</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F8FAFC"/>
                          </a:solidFill>
                          <a:latin typeface="Calibri" pitchFamily="34" charset="0"/>
                          <a:ea typeface="Calibri" pitchFamily="34" charset="-122"/>
                          <a:cs typeface="Calibri" pitchFamily="34" charset="-120"/>
                        </a:rPr>
                        <a:t>"How to triage a</a:t>
                      </a:r>
                      <a:endParaRPr lang="en-US" sz="1200" dirty="0">
                        <a:latin typeface="Calibri" charset="0"/>
                        <a:ea typeface="Calibri" charset="0"/>
                        <a:cs typeface="Calibri" charset="0"/>
                      </a:endParaRPr>
                    </a:p>
                    <a:p>
                      <a:pPr indent="0" marL="0">
                        <a:buNone/>
                      </a:pPr>
                      <a:r>
                        <a:rPr lang="en-US" sz="1200" dirty="0">
                          <a:solidFill>
                            <a:srgbClr val="F8FAFC"/>
                          </a:solidFill>
                          <a:latin typeface="Calibri" pitchFamily="34" charset="0"/>
                          <a:ea typeface="Calibri" pitchFamily="34" charset="-122"/>
                          <a:cs typeface="Calibri" pitchFamily="34" charset="-120"/>
                        </a:rPr>
                        <a:t>failed ADO build"</a:t>
                      </a:r>
                      <a:endParaRPr lang="en-US" sz="12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200" b="1" dirty="0">
                <a:solidFill>
                  <a:srgbClr val="F8FAFC"/>
                </a:solidFill>
                <a:latin typeface="Calibri" pitchFamily="34" charset="0"/>
                <a:ea typeface="Calibri" pitchFamily="34" charset="-122"/>
                <a:cs typeface="Calibri" pitchFamily="34" charset="-120"/>
              </a:rPr>
              <a:t>Individual connections vs. ctxlayer</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3840480"/>
        </p:xfrm>
        <a:graphic>
          <a:graphicData uri="http://schemas.openxmlformats.org/drawingml/2006/table">
            <a:tbl>
              <a:tblPr/>
              <a:tblGrid>
                <a:gridCol w="1554480"/>
                <a:gridCol w="3520440"/>
                <a:gridCol w="3520440"/>
              </a:tblGrid>
              <a:tr h="320040">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algn="ctr" indent="0" marL="0">
                        <a:buNone/>
                      </a:pPr>
                      <a:r>
                        <a:rPr lang="en-US" sz="1100" b="1" dirty="0">
                          <a:solidFill>
                            <a:srgbClr val="F8FAFC"/>
                          </a:solidFill>
                          <a:latin typeface="Calibri" pitchFamily="34" charset="0"/>
                          <a:ea typeface="Calibri" pitchFamily="34" charset="-122"/>
                          <a:cs typeface="Calibri" pitchFamily="34" charset="-120"/>
                        </a:rPr>
                        <a:t>Individual MCP</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EF4444">
                        <a:alpha val="70000"/>
                      </a:srgbClr>
                    </a:solidFill>
                  </a:tcPr>
                </a:tc>
                <a:tc>
                  <a:txBody>
                    <a:bodyPr/>
                    <a:lstStyle/>
                    <a:p>
                      <a:pPr algn="ctr" indent="0" marL="0">
                        <a:buNone/>
                      </a:pPr>
                      <a:r>
                        <a:rPr lang="en-US" sz="1100" b="1" dirty="0">
                          <a:solidFill>
                            <a:srgbClr val="F8FAFC"/>
                          </a:solidFill>
                          <a:latin typeface="Calibri" pitchFamily="34" charset="0"/>
                          <a:ea typeface="Calibri" pitchFamily="34" charset="-122"/>
                          <a:cs typeface="Calibri" pitchFamily="34" charset="-120"/>
                        </a:rPr>
                        <a:t>ctxlayer</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0B981">
                        <a:alpha val="70000"/>
                      </a:srgbClr>
                    </a:solidFill>
                  </a:tcPr>
                </a:tc>
              </a:tr>
              <a:tr h="411480">
                <a:tc>
                  <a:txBody>
                    <a:bodyPr/>
                    <a:lstStyle/>
                    <a:p>
                      <a:pPr indent="0" marL="0">
                        <a:buNone/>
                      </a:pPr>
                      <a:r>
                        <a:rPr lang="en-US" sz="1100" b="1" dirty="0">
                          <a:solidFill>
                            <a:srgbClr val="F8FAFC"/>
                          </a:solidFill>
                          <a:latin typeface="Calibri" pitchFamily="34" charset="0"/>
                          <a:ea typeface="Calibri" pitchFamily="34" charset="-122"/>
                          <a:cs typeface="Calibri" pitchFamily="34" charset="-120"/>
                        </a:rPr>
                        <a:t>Credentials</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Local config files, per machine</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Sealed at rest, one-time connect</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411480">
                <a:tc>
                  <a:txBody>
                    <a:bodyPr/>
                    <a:lstStyle/>
                    <a:p>
                      <a:pPr indent="0" marL="0">
                        <a:buNone/>
                      </a:pPr>
                      <a:r>
                        <a:rPr lang="en-US" sz="1100" b="1" dirty="0">
                          <a:solidFill>
                            <a:srgbClr val="F8FAFC"/>
                          </a:solidFill>
                          <a:latin typeface="Calibri" pitchFamily="34" charset="0"/>
                          <a:ea typeface="Calibri" pitchFamily="34" charset="-122"/>
                          <a:cs typeface="Calibri" pitchFamily="34" charset="-120"/>
                        </a:rPr>
                        <a:t>New member</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"Copy my config + change tokens"</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Sign in, click Connect, done</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r>
              <a:tr h="411480">
                <a:tc>
                  <a:txBody>
                    <a:bodyPr/>
                    <a:lstStyle/>
                    <a:p>
                      <a:pPr indent="0" marL="0">
                        <a:buNone/>
                      </a:pPr>
                      <a:r>
                        <a:rPr lang="en-US" sz="1100" b="1" dirty="0">
                          <a:solidFill>
                            <a:srgbClr val="F8FAFC"/>
                          </a:solidFill>
                          <a:latin typeface="Calibri" pitchFamily="34" charset="0"/>
                          <a:ea typeface="Calibri" pitchFamily="34" charset="-122"/>
                          <a:cs typeface="Calibri" pitchFamily="34" charset="-120"/>
                        </a:rPr>
                        <a:t>Shared knowledge</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None — agent starts blank</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RAG-searchable doc library</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411480">
                <a:tc>
                  <a:txBody>
                    <a:bodyPr/>
                    <a:lstStyle/>
                    <a:p>
                      <a:pPr indent="0" marL="0">
                        <a:buNone/>
                      </a:pPr>
                      <a:r>
                        <a:rPr lang="en-US" sz="1100" b="1" dirty="0">
                          <a:solidFill>
                            <a:srgbClr val="F8FAFC"/>
                          </a:solidFill>
                          <a:latin typeface="Calibri" pitchFamily="34" charset="0"/>
                          <a:ea typeface="Calibri" pitchFamily="34" charset="-122"/>
                          <a:cs typeface="Calibri" pitchFamily="34" charset="-120"/>
                        </a:rPr>
                        <a:t>Conventions</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Hope the agent guesses right</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Skills encode "how we do X"</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r>
              <a:tr h="411480">
                <a:tc>
                  <a:txBody>
                    <a:bodyPr/>
                    <a:lstStyle/>
                    <a:p>
                      <a:pPr indent="0" marL="0">
                        <a:buNone/>
                      </a:pPr>
                      <a:r>
                        <a:rPr lang="en-US" sz="1100" b="1" dirty="0">
                          <a:solidFill>
                            <a:srgbClr val="F8FAFC"/>
                          </a:solidFill>
                          <a:latin typeface="Calibri" pitchFamily="34" charset="0"/>
                          <a:ea typeface="Calibri" pitchFamily="34" charset="-122"/>
                          <a:cs typeface="Calibri" pitchFamily="34" charset="-120"/>
                        </a:rPr>
                        <a:t>Tool governance</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All or nothing</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Per-tool lock by role/team/product</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411480">
                <a:tc>
                  <a:txBody>
                    <a:bodyPr/>
                    <a:lstStyle/>
                    <a:p>
                      <a:pPr indent="0" marL="0">
                        <a:buNone/>
                      </a:pPr>
                      <a:r>
                        <a:rPr lang="en-US" sz="1100" b="1" dirty="0">
                          <a:solidFill>
                            <a:srgbClr val="F8FAFC"/>
                          </a:solidFill>
                          <a:latin typeface="Calibri" pitchFamily="34" charset="0"/>
                          <a:ea typeface="Calibri" pitchFamily="34" charset="-122"/>
                          <a:cs typeface="Calibri" pitchFamily="34" charset="-120"/>
                        </a:rPr>
                        <a:t>Usage insight</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Zero visibility</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Per-user, per-tool analytics</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r>
              <a:tr h="411480">
                <a:tc>
                  <a:txBody>
                    <a:bodyPr/>
                    <a:lstStyle/>
                    <a:p>
                      <a:pPr indent="0" marL="0">
                        <a:buNone/>
                      </a:pPr>
                      <a:r>
                        <a:rPr lang="en-US" sz="1100" b="1" dirty="0">
                          <a:solidFill>
                            <a:srgbClr val="F8FAFC"/>
                          </a:solidFill>
                          <a:latin typeface="Calibri" pitchFamily="34" charset="0"/>
                          <a:ea typeface="Calibri" pitchFamily="34" charset="-122"/>
                          <a:cs typeface="Calibri" pitchFamily="34" charset="-120"/>
                        </a:rPr>
                        <a:t>Token rotation</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Everyone updates locally</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Admin rotates once, centrally</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411480">
                <a:tc>
                  <a:txBody>
                    <a:bodyPr/>
                    <a:lstStyle/>
                    <a:p>
                      <a:pPr indent="0" marL="0">
                        <a:buNone/>
                      </a:pPr>
                      <a:r>
                        <a:rPr lang="en-US" sz="1100" b="1" dirty="0">
                          <a:solidFill>
                            <a:srgbClr val="F8FAFC"/>
                          </a:solidFill>
                          <a:latin typeface="Calibri" pitchFamily="34" charset="0"/>
                          <a:ea typeface="Calibri" pitchFamily="34" charset="-122"/>
                          <a:cs typeface="Calibri" pitchFamily="34" charset="-120"/>
                        </a:rPr>
                        <a:t>New upstream</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Slack "here's the setup"</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Admin adds it, everyone gets it</a:t>
                      </a:r>
                      <a:endParaRPr lang="en-US" sz="1100" dirty="0">
                        <a:latin typeface="Calibri" charset="0"/>
                        <a:ea typeface="Calibri" charset="0"/>
                        <a:cs typeface="Calibri" charset="0"/>
                      </a:endParaRPr>
                    </a:p>
                  </a:txBody>
                  <a:tcPr marL="91440" marR="91440" marT="45720" marB="45720"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The practitioner's daily experience</a:t>
            </a:r>
            <a:endParaRPr lang="en-US" sz="3600" dirty="0"/>
          </a:p>
        </p:txBody>
      </p:sp>
      <p:sp>
        <p:nvSpPr>
          <p:cNvPr id="3" name="Shape 1"/>
          <p:cNvSpPr/>
          <p:nvPr/>
        </p:nvSpPr>
        <p:spPr>
          <a:xfrm>
            <a:off x="914400" y="1188720"/>
            <a:ext cx="7315200" cy="914400"/>
          </a:xfrm>
          <a:prstGeom prst="roundRect">
            <a:avLst>
              <a:gd name="adj" fmla="val 10000"/>
            </a:avLst>
          </a:prstGeom>
          <a:solidFill>
            <a:srgbClr val="1E293B"/>
          </a:solidFill>
          <a:ln/>
          <a:effectLst>
            <a:outerShdw sx="100000" sy="100000" kx="0" ky="0" algn="bl" rotWithShape="0" blurRad="101600" dist="38100" dir="2700000">
              <a:srgbClr val="000000">
                <a:alpha val="25000"/>
              </a:srgbClr>
            </a:outerShdw>
          </a:effectLst>
        </p:spPr>
      </p:sp>
      <p:sp>
        <p:nvSpPr>
          <p:cNvPr id="4" name="Shape 2"/>
          <p:cNvSpPr/>
          <p:nvPr/>
        </p:nvSpPr>
        <p:spPr>
          <a:xfrm>
            <a:off x="1188720" y="1371600"/>
            <a:ext cx="548640" cy="548640"/>
          </a:xfrm>
          <a:prstGeom prst="ellipse">
            <a:avLst/>
          </a:prstGeom>
          <a:solidFill>
            <a:srgbClr val="06B6D4"/>
          </a:solidFill>
          <a:ln/>
        </p:spPr>
      </p:sp>
      <p:sp>
        <p:nvSpPr>
          <p:cNvPr id="5" name="Text 3"/>
          <p:cNvSpPr/>
          <p:nvPr/>
        </p:nvSpPr>
        <p:spPr>
          <a:xfrm>
            <a:off x="1188720" y="1371600"/>
            <a:ext cx="548640" cy="548640"/>
          </a:xfrm>
          <a:prstGeom prst="rect">
            <a:avLst/>
          </a:prstGeom>
          <a:noFill/>
          <a:ln/>
        </p:spPr>
        <p:txBody>
          <a:bodyPr wrap="square" lIns="0" tIns="0" rIns="0" bIns="0" rtlCol="0" anchor="ctr"/>
          <a:lstStyle/>
          <a:p>
            <a:pPr algn="ctr" indent="0" marL="0">
              <a:buNone/>
            </a:pPr>
            <a:r>
              <a:rPr lang="en-US" sz="2200" b="1" dirty="0">
                <a:solidFill>
                  <a:srgbClr val="0F172A"/>
                </a:solidFill>
                <a:latin typeface="Calibri" pitchFamily="34" charset="0"/>
                <a:ea typeface="Calibri" pitchFamily="34" charset="-122"/>
                <a:cs typeface="Calibri" pitchFamily="34" charset="-120"/>
              </a:rPr>
              <a:t>1</a:t>
            </a:r>
            <a:endParaRPr lang="en-US" sz="2200" dirty="0"/>
          </a:p>
        </p:txBody>
      </p:sp>
      <p:pic>
        <p:nvPicPr>
          <p:cNvPr id="6" name="Image 0" descr="preencoded.png">    </p:cNvPr>
          <p:cNvPicPr>
            <a:picLocks noChangeAspect="1"/>
          </p:cNvPicPr>
          <p:nvPr/>
        </p:nvPicPr>
        <p:blipFill>
          <a:blip r:embed="rId1"/>
          <a:stretch>
            <a:fillRect/>
          </a:stretch>
        </p:blipFill>
        <p:spPr>
          <a:xfrm>
            <a:off x="2011680" y="1389888"/>
            <a:ext cx="457200" cy="457200"/>
          </a:xfrm>
          <a:prstGeom prst="rect">
            <a:avLst/>
          </a:prstGeom>
        </p:spPr>
      </p:pic>
      <p:sp>
        <p:nvSpPr>
          <p:cNvPr id="7" name="Text 4"/>
          <p:cNvSpPr/>
          <p:nvPr/>
        </p:nvSpPr>
        <p:spPr>
          <a:xfrm>
            <a:off x="2651760" y="1188720"/>
            <a:ext cx="3200400" cy="914400"/>
          </a:xfrm>
          <a:prstGeom prst="rect">
            <a:avLst/>
          </a:prstGeom>
          <a:noFill/>
          <a:ln/>
        </p:spPr>
        <p:txBody>
          <a:bodyPr wrap="square" lIns="0" tIns="0" rIns="0" bIns="0" rtlCol="0" anchor="ctr"/>
          <a:lstStyle/>
          <a:p>
            <a:pPr indent="0" marL="0">
              <a:buNone/>
            </a:pPr>
            <a:r>
              <a:rPr lang="en-US" sz="1800" b="1" dirty="0">
                <a:solidFill>
                  <a:srgbClr val="F8FAFC"/>
                </a:solidFill>
                <a:latin typeface="Calibri" pitchFamily="34" charset="0"/>
                <a:ea typeface="Calibri" pitchFamily="34" charset="-122"/>
                <a:cs typeface="Calibri" pitchFamily="34" charset="-120"/>
              </a:rPr>
              <a:t>You connected once</a:t>
            </a:r>
            <a:endParaRPr lang="en-US" sz="1800" dirty="0"/>
          </a:p>
        </p:txBody>
      </p:sp>
      <p:sp>
        <p:nvSpPr>
          <p:cNvPr id="8" name="Text 5"/>
          <p:cNvSpPr/>
          <p:nvPr/>
        </p:nvSpPr>
        <p:spPr>
          <a:xfrm>
            <a:off x="5669280" y="1188720"/>
            <a:ext cx="2286000" cy="9144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OAuth or token, stored centrally</a:t>
            </a:r>
            <a:endParaRPr lang="en-US" sz="1300" dirty="0"/>
          </a:p>
        </p:txBody>
      </p:sp>
      <p:sp>
        <p:nvSpPr>
          <p:cNvPr id="9" name="Shape 6"/>
          <p:cNvSpPr/>
          <p:nvPr/>
        </p:nvSpPr>
        <p:spPr>
          <a:xfrm>
            <a:off x="914400" y="2377440"/>
            <a:ext cx="7315200" cy="914400"/>
          </a:xfrm>
          <a:prstGeom prst="roundRect">
            <a:avLst>
              <a:gd name="adj" fmla="val 10000"/>
            </a:avLst>
          </a:prstGeom>
          <a:solidFill>
            <a:srgbClr val="1E293B"/>
          </a:solidFill>
          <a:ln/>
          <a:effectLst>
            <a:outerShdw sx="100000" sy="100000" kx="0" ky="0" algn="bl" rotWithShape="0" blurRad="101600" dist="38100" dir="2700000">
              <a:srgbClr val="000000">
                <a:alpha val="25000"/>
              </a:srgbClr>
            </a:outerShdw>
          </a:effectLst>
        </p:spPr>
      </p:sp>
      <p:sp>
        <p:nvSpPr>
          <p:cNvPr id="10" name="Shape 7"/>
          <p:cNvSpPr/>
          <p:nvPr/>
        </p:nvSpPr>
        <p:spPr>
          <a:xfrm>
            <a:off x="1188720" y="2560320"/>
            <a:ext cx="548640" cy="548640"/>
          </a:xfrm>
          <a:prstGeom prst="ellipse">
            <a:avLst/>
          </a:prstGeom>
          <a:solidFill>
            <a:srgbClr val="F97316"/>
          </a:solidFill>
          <a:ln/>
        </p:spPr>
      </p:sp>
      <p:sp>
        <p:nvSpPr>
          <p:cNvPr id="11" name="Text 8"/>
          <p:cNvSpPr/>
          <p:nvPr/>
        </p:nvSpPr>
        <p:spPr>
          <a:xfrm>
            <a:off x="1188720" y="2560320"/>
            <a:ext cx="548640" cy="548640"/>
          </a:xfrm>
          <a:prstGeom prst="rect">
            <a:avLst/>
          </a:prstGeom>
          <a:noFill/>
          <a:ln/>
        </p:spPr>
        <p:txBody>
          <a:bodyPr wrap="square" lIns="0" tIns="0" rIns="0" bIns="0" rtlCol="0" anchor="ctr"/>
          <a:lstStyle/>
          <a:p>
            <a:pPr algn="ctr" indent="0" marL="0">
              <a:buNone/>
            </a:pPr>
            <a:r>
              <a:rPr lang="en-US" sz="2200" b="1" dirty="0">
                <a:solidFill>
                  <a:srgbClr val="0F172A"/>
                </a:solidFill>
                <a:latin typeface="Calibri" pitchFamily="34" charset="0"/>
                <a:ea typeface="Calibri" pitchFamily="34" charset="-122"/>
                <a:cs typeface="Calibri" pitchFamily="34" charset="-120"/>
              </a:rPr>
              <a:t>2</a:t>
            </a:r>
            <a:endParaRPr lang="en-US" sz="2200" dirty="0"/>
          </a:p>
        </p:txBody>
      </p:sp>
      <p:pic>
        <p:nvPicPr>
          <p:cNvPr id="12" name="Image 1" descr="preencoded.png">    </p:cNvPr>
          <p:cNvPicPr>
            <a:picLocks noChangeAspect="1"/>
          </p:cNvPicPr>
          <p:nvPr/>
        </p:nvPicPr>
        <p:blipFill>
          <a:blip r:embed="rId2"/>
          <a:stretch>
            <a:fillRect/>
          </a:stretch>
        </p:blipFill>
        <p:spPr>
          <a:xfrm>
            <a:off x="2011680" y="2578608"/>
            <a:ext cx="457200" cy="457200"/>
          </a:xfrm>
          <a:prstGeom prst="rect">
            <a:avLst/>
          </a:prstGeom>
        </p:spPr>
      </p:pic>
      <p:sp>
        <p:nvSpPr>
          <p:cNvPr id="13" name="Text 9"/>
          <p:cNvSpPr/>
          <p:nvPr/>
        </p:nvSpPr>
        <p:spPr>
          <a:xfrm>
            <a:off x="2651760" y="2377440"/>
            <a:ext cx="3200400" cy="914400"/>
          </a:xfrm>
          <a:prstGeom prst="rect">
            <a:avLst/>
          </a:prstGeom>
          <a:noFill/>
          <a:ln/>
        </p:spPr>
        <p:txBody>
          <a:bodyPr wrap="square" lIns="0" tIns="0" rIns="0" bIns="0" rtlCol="0" anchor="ctr"/>
          <a:lstStyle/>
          <a:p>
            <a:pPr indent="0" marL="0">
              <a:buNone/>
            </a:pPr>
            <a:r>
              <a:rPr lang="en-US" sz="1800" b="1" dirty="0">
                <a:solidFill>
                  <a:srgbClr val="F8FAFC"/>
                </a:solidFill>
                <a:latin typeface="Calibri" pitchFamily="34" charset="0"/>
                <a:ea typeface="Calibri" pitchFamily="34" charset="-122"/>
                <a:cs typeface="Calibri" pitchFamily="34" charset="-120"/>
              </a:rPr>
              <a:t>Every session has everything</a:t>
            </a:r>
            <a:endParaRPr lang="en-US" sz="1800" dirty="0"/>
          </a:p>
        </p:txBody>
      </p:sp>
      <p:sp>
        <p:nvSpPr>
          <p:cNvPr id="14" name="Text 10"/>
          <p:cNvSpPr/>
          <p:nvPr/>
        </p:nvSpPr>
        <p:spPr>
          <a:xfrm>
            <a:off x="5669280" y="2377440"/>
            <a:ext cx="2286000" cy="9144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81 tools, all org docs, curated playbooks</a:t>
            </a:r>
            <a:endParaRPr lang="en-US" sz="1300" dirty="0"/>
          </a:p>
        </p:txBody>
      </p:sp>
      <p:sp>
        <p:nvSpPr>
          <p:cNvPr id="15" name="Shape 11"/>
          <p:cNvSpPr/>
          <p:nvPr/>
        </p:nvSpPr>
        <p:spPr>
          <a:xfrm>
            <a:off x="914400" y="3566160"/>
            <a:ext cx="7315200" cy="914400"/>
          </a:xfrm>
          <a:prstGeom prst="roundRect">
            <a:avLst>
              <a:gd name="adj" fmla="val 10000"/>
            </a:avLst>
          </a:prstGeom>
          <a:solidFill>
            <a:srgbClr val="1E293B"/>
          </a:solidFill>
          <a:ln/>
          <a:effectLst>
            <a:outerShdw sx="100000" sy="100000" kx="0" ky="0" algn="bl" rotWithShape="0" blurRad="101600" dist="38100" dir="2700000">
              <a:srgbClr val="000000">
                <a:alpha val="25000"/>
              </a:srgbClr>
            </a:outerShdw>
          </a:effectLst>
        </p:spPr>
      </p:sp>
      <p:sp>
        <p:nvSpPr>
          <p:cNvPr id="16" name="Shape 12"/>
          <p:cNvSpPr/>
          <p:nvPr/>
        </p:nvSpPr>
        <p:spPr>
          <a:xfrm>
            <a:off x="1188720" y="3749040"/>
            <a:ext cx="548640" cy="548640"/>
          </a:xfrm>
          <a:prstGeom prst="ellipse">
            <a:avLst/>
          </a:prstGeom>
          <a:solidFill>
            <a:srgbClr val="10B981"/>
          </a:solidFill>
          <a:ln/>
        </p:spPr>
      </p:sp>
      <p:sp>
        <p:nvSpPr>
          <p:cNvPr id="17" name="Text 13"/>
          <p:cNvSpPr/>
          <p:nvPr/>
        </p:nvSpPr>
        <p:spPr>
          <a:xfrm>
            <a:off x="1188720" y="3749040"/>
            <a:ext cx="548640" cy="548640"/>
          </a:xfrm>
          <a:prstGeom prst="rect">
            <a:avLst/>
          </a:prstGeom>
          <a:noFill/>
          <a:ln/>
        </p:spPr>
        <p:txBody>
          <a:bodyPr wrap="square" lIns="0" tIns="0" rIns="0" bIns="0" rtlCol="0" anchor="ctr"/>
          <a:lstStyle/>
          <a:p>
            <a:pPr algn="ctr" indent="0" marL="0">
              <a:buNone/>
            </a:pPr>
            <a:r>
              <a:rPr lang="en-US" sz="2200" b="1" dirty="0">
                <a:solidFill>
                  <a:srgbClr val="0F172A"/>
                </a:solidFill>
                <a:latin typeface="Calibri" pitchFamily="34" charset="0"/>
                <a:ea typeface="Calibri" pitchFamily="34" charset="-122"/>
                <a:cs typeface="Calibri" pitchFamily="34" charset="-120"/>
              </a:rPr>
              <a:t>3</a:t>
            </a:r>
            <a:endParaRPr lang="en-US" sz="2200" dirty="0"/>
          </a:p>
        </p:txBody>
      </p:sp>
      <p:pic>
        <p:nvPicPr>
          <p:cNvPr id="18" name="Image 2" descr="preencoded.png">    </p:cNvPr>
          <p:cNvPicPr>
            <a:picLocks noChangeAspect="1"/>
          </p:cNvPicPr>
          <p:nvPr/>
        </p:nvPicPr>
        <p:blipFill>
          <a:blip r:embed="rId3"/>
          <a:stretch>
            <a:fillRect/>
          </a:stretch>
        </p:blipFill>
        <p:spPr>
          <a:xfrm>
            <a:off x="2011680" y="3767328"/>
            <a:ext cx="457200" cy="457200"/>
          </a:xfrm>
          <a:prstGeom prst="rect">
            <a:avLst/>
          </a:prstGeom>
        </p:spPr>
      </p:pic>
      <p:sp>
        <p:nvSpPr>
          <p:cNvPr id="19" name="Text 14"/>
          <p:cNvSpPr/>
          <p:nvPr/>
        </p:nvSpPr>
        <p:spPr>
          <a:xfrm>
            <a:off x="2651760" y="3566160"/>
            <a:ext cx="3200400" cy="914400"/>
          </a:xfrm>
          <a:prstGeom prst="rect">
            <a:avLst/>
          </a:prstGeom>
          <a:noFill/>
          <a:ln/>
        </p:spPr>
        <p:txBody>
          <a:bodyPr wrap="square" lIns="0" tIns="0" rIns="0" bIns="0" rtlCol="0" anchor="ctr"/>
          <a:lstStyle/>
          <a:p>
            <a:pPr indent="0" marL="0">
              <a:buNone/>
            </a:pPr>
            <a:r>
              <a:rPr lang="en-US" sz="1800" b="1" dirty="0">
                <a:solidFill>
                  <a:srgbClr val="F8FAFC"/>
                </a:solidFill>
                <a:latin typeface="Calibri" pitchFamily="34" charset="0"/>
                <a:ea typeface="Calibri" pitchFamily="34" charset="-122"/>
                <a:cs typeface="Calibri" pitchFamily="34" charset="-120"/>
              </a:rPr>
              <a:t>You just work</a:t>
            </a:r>
            <a:endParaRPr lang="en-US" sz="1800" dirty="0"/>
          </a:p>
        </p:txBody>
      </p:sp>
      <p:sp>
        <p:nvSpPr>
          <p:cNvPr id="20" name="Text 15"/>
          <p:cNvSpPr/>
          <p:nvPr/>
        </p:nvSpPr>
        <p:spPr>
          <a:xfrm>
            <a:off x="5669280" y="3566160"/>
            <a:ext cx="2286000" cy="9144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Query ADO, search docs, check Notion — it knows how</a:t>
            </a:r>
            <a:endParaRPr lang="en-US" sz="1300" dirty="0"/>
          </a:p>
        </p:txBody>
      </p:sp>
      <p:sp>
        <p:nvSpPr>
          <p:cNvPr id="21" name="Text 16"/>
          <p:cNvSpPr/>
          <p:nvPr/>
        </p:nvSpPr>
        <p:spPr>
          <a:xfrm>
            <a:off x="1371600" y="4389120"/>
            <a:ext cx="6400800" cy="365760"/>
          </a:xfrm>
          <a:prstGeom prst="rect">
            <a:avLst/>
          </a:prstGeom>
          <a:noFill/>
          <a:ln/>
        </p:spPr>
        <p:txBody>
          <a:bodyPr wrap="square" lIns="0" tIns="0" rIns="0" bIns="0" rtlCol="0" anchor="ctr"/>
          <a:lstStyle/>
          <a:p>
            <a:pPr algn="ctr" indent="0" marL="0">
              <a:buNone/>
            </a:pPr>
            <a:r>
              <a:rPr lang="en-US" sz="1500" b="1" dirty="0">
                <a:solidFill>
                  <a:srgbClr val="F97316"/>
                </a:solidFill>
                <a:latin typeface="Calibri" pitchFamily="34" charset="0"/>
                <a:ea typeface="Calibri" pitchFamily="34" charset="-122"/>
                <a:cs typeface="Calibri" pitchFamily="34" charset="-120"/>
              </a:rPr>
              <a:t>No config files. No token juggling. No setup per machine.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lIns="0" tIns="0" rIns="0" bIns="0" rtlCol="0" anchor="ctr"/>
          <a:lstStyle/>
          <a:p>
            <a:pPr indent="0" marL="0">
              <a:buNone/>
            </a:pPr>
            <a:r>
              <a:rPr lang="en-US" sz="3600" b="1" dirty="0">
                <a:solidFill>
                  <a:srgbClr val="F8FAFC"/>
                </a:solidFill>
                <a:latin typeface="Calibri" pitchFamily="34" charset="0"/>
                <a:ea typeface="Calibri" pitchFamily="34" charset="-122"/>
                <a:cs typeface="Calibri" pitchFamily="34" charset="-120"/>
              </a:rPr>
              <a:t>Getting started</a:t>
            </a:r>
            <a:endParaRPr lang="en-US" sz="3600" dirty="0"/>
          </a:p>
        </p:txBody>
      </p:sp>
      <p:sp>
        <p:nvSpPr>
          <p:cNvPr id="3" name="Shape 1"/>
          <p:cNvSpPr/>
          <p:nvPr/>
        </p:nvSpPr>
        <p:spPr>
          <a:xfrm>
            <a:off x="457200" y="1097280"/>
            <a:ext cx="3931920" cy="3291840"/>
          </a:xfrm>
          <a:prstGeom prst="roundRect">
            <a:avLst>
              <a:gd name="adj" fmla="val 3333"/>
            </a:avLst>
          </a:prstGeom>
          <a:solidFill>
            <a:srgbClr val="1E293B"/>
          </a:solidFill>
          <a:ln/>
          <a:effectLst>
            <a:outerShdw sx="100000" sy="100000" kx="0" ky="0" algn="bl" rotWithShape="0" blurRad="101600" dist="38100" dir="2700000">
              <a:srgbClr val="000000">
                <a:alpha val="25000"/>
              </a:srgbClr>
            </a:outerShdw>
          </a:effectLst>
        </p:spPr>
      </p:sp>
      <p:pic>
        <p:nvPicPr>
          <p:cNvPr id="4" name="Image 0" descr="preencoded.png">    </p:cNvPr>
          <p:cNvPicPr>
            <a:picLocks noChangeAspect="1"/>
          </p:cNvPicPr>
          <p:nvPr/>
        </p:nvPicPr>
        <p:blipFill>
          <a:blip r:embed="rId1"/>
          <a:stretch>
            <a:fillRect/>
          </a:stretch>
        </p:blipFill>
        <p:spPr>
          <a:xfrm>
            <a:off x="731520" y="1280160"/>
            <a:ext cx="365760" cy="365760"/>
          </a:xfrm>
          <a:prstGeom prst="rect">
            <a:avLst/>
          </a:prstGeom>
        </p:spPr>
      </p:pic>
      <p:sp>
        <p:nvSpPr>
          <p:cNvPr id="5" name="Text 2"/>
          <p:cNvSpPr/>
          <p:nvPr/>
        </p:nvSpPr>
        <p:spPr>
          <a:xfrm>
            <a:off x="1234440" y="1280160"/>
            <a:ext cx="2926080" cy="365760"/>
          </a:xfrm>
          <a:prstGeom prst="rect">
            <a:avLst/>
          </a:prstGeom>
          <a:noFill/>
          <a:ln/>
        </p:spPr>
        <p:txBody>
          <a:bodyPr wrap="square" lIns="0" tIns="0" rIns="0" bIns="0" rtlCol="0" anchor="ctr"/>
          <a:lstStyle/>
          <a:p>
            <a:pPr indent="0" marL="0">
              <a:buNone/>
            </a:pPr>
            <a:r>
              <a:rPr lang="en-US" sz="1800" b="1" dirty="0">
                <a:solidFill>
                  <a:srgbClr val="F97316"/>
                </a:solidFill>
                <a:latin typeface="Calibri" pitchFamily="34" charset="0"/>
                <a:ea typeface="Calibri" pitchFamily="34" charset="-122"/>
                <a:cs typeface="Calibri" pitchFamily="34" charset="-120"/>
              </a:rPr>
              <a:t>As a practitioner</a:t>
            </a:r>
            <a:endParaRPr lang="en-US" sz="1800" dirty="0"/>
          </a:p>
        </p:txBody>
      </p:sp>
      <p:sp>
        <p:nvSpPr>
          <p:cNvPr id="6" name="Text 3"/>
          <p:cNvSpPr/>
          <p:nvPr/>
        </p:nvSpPr>
        <p:spPr>
          <a:xfrm>
            <a:off x="731520" y="1828800"/>
            <a:ext cx="3474720" cy="201168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300" dirty="0">
                <a:solidFill>
                  <a:srgbClr val="F8FAFC"/>
                </a:solidFill>
                <a:latin typeface="Calibri" pitchFamily="34" charset="0"/>
                <a:ea typeface="Calibri" pitchFamily="34" charset="-122"/>
                <a:cs typeface="Calibri" pitchFamily="34" charset="-120"/>
              </a:rPr>
              <a:t>Go to yukitools.dev → sign in</a:t>
            </a:r>
            <a:endParaRPr lang="en-US" sz="1300" dirty="0"/>
          </a:p>
          <a:p>
            <a:pPr marL="342900" indent="-342900">
              <a:spcAft>
                <a:spcPts val="800"/>
              </a:spcAft>
              <a:buSzPct val="100000"/>
              <a:buFont typeface="+mj-lt"/>
              <a:buAutoNum type="arabicPeriod" startAt="1"/>
            </a:pPr>
            <a:r>
              <a:rPr lang="en-US" sz="1300" dirty="0">
                <a:solidFill>
                  <a:srgbClr val="F8FAFC"/>
                </a:solidFill>
                <a:latin typeface="Calibri" pitchFamily="34" charset="0"/>
                <a:ea typeface="Calibri" pitchFamily="34" charset="-122"/>
                <a:cs typeface="Calibri" pitchFamily="34" charset="-120"/>
              </a:rPr>
              <a:t>/app/upstreams → connect services</a:t>
            </a:r>
            <a:endParaRPr lang="en-US" sz="1300" dirty="0"/>
          </a:p>
          <a:p>
            <a:pPr marL="342900" indent="-342900">
              <a:spcAft>
                <a:spcPts val="800"/>
              </a:spcAft>
              <a:buSzPct val="100000"/>
              <a:buFont typeface="+mj-lt"/>
              <a:buAutoNum type="arabicPeriod" startAt="1"/>
            </a:pPr>
            <a:r>
              <a:rPr lang="en-US" sz="1300" dirty="0">
                <a:solidFill>
                  <a:srgbClr val="F8FAFC"/>
                </a:solidFill>
                <a:latin typeface="Calibri" pitchFamily="34" charset="0"/>
                <a:ea typeface="Calibri" pitchFamily="34" charset="-122"/>
                <a:cs typeface="Calibri" pitchFamily="34" charset="-120"/>
              </a:rPr>
              <a:t>/app/mcp-setup → copy config</a:t>
            </a:r>
            <a:endParaRPr lang="en-US" sz="1300" dirty="0"/>
          </a:p>
          <a:p>
            <a:pPr marL="342900" indent="-342900">
              <a:spcAft>
                <a:spcPts val="800"/>
              </a:spcAft>
              <a:buSzPct val="100000"/>
              <a:buFont typeface="+mj-lt"/>
              <a:buAutoNum type="arabicPeriod" startAt="1"/>
            </a:pPr>
            <a:r>
              <a:rPr lang="en-US" sz="1300" dirty="0">
                <a:solidFill>
                  <a:srgbClr val="F8FAFC"/>
                </a:solidFill>
                <a:latin typeface="Calibri" pitchFamily="34" charset="0"/>
                <a:ea typeface="Calibri" pitchFamily="34" charset="-122"/>
                <a:cs typeface="Calibri" pitchFamily="34" charset="-120"/>
              </a:rPr>
              <a:t>Start working — full context</a:t>
            </a:r>
            <a:endParaRPr lang="en-US" sz="1300" dirty="0"/>
          </a:p>
        </p:txBody>
      </p:sp>
      <p:sp>
        <p:nvSpPr>
          <p:cNvPr id="7" name="Shape 4"/>
          <p:cNvSpPr/>
          <p:nvPr/>
        </p:nvSpPr>
        <p:spPr>
          <a:xfrm>
            <a:off x="4754880" y="1097280"/>
            <a:ext cx="3931920" cy="3291840"/>
          </a:xfrm>
          <a:prstGeom prst="roundRect">
            <a:avLst>
              <a:gd name="adj" fmla="val 3333"/>
            </a:avLst>
          </a:prstGeom>
          <a:solidFill>
            <a:srgbClr val="1E293B"/>
          </a:solidFill>
          <a:ln/>
          <a:effectLst>
            <a:outerShdw sx="100000" sy="100000" kx="0" ky="0" algn="bl" rotWithShape="0" blurRad="101600" dist="38100" dir="2700000">
              <a:srgbClr val="000000">
                <a:alpha val="25000"/>
              </a:srgbClr>
            </a:outerShdw>
          </a:effectLst>
        </p:spPr>
      </p:sp>
      <p:pic>
        <p:nvPicPr>
          <p:cNvPr id="8" name="Image 1" descr="preencoded.png">    </p:cNvPr>
          <p:cNvPicPr>
            <a:picLocks noChangeAspect="1"/>
          </p:cNvPicPr>
          <p:nvPr/>
        </p:nvPicPr>
        <p:blipFill>
          <a:blip r:embed="rId2"/>
          <a:stretch>
            <a:fillRect/>
          </a:stretch>
        </p:blipFill>
        <p:spPr>
          <a:xfrm>
            <a:off x="5029200" y="1280160"/>
            <a:ext cx="365760" cy="365760"/>
          </a:xfrm>
          <a:prstGeom prst="rect">
            <a:avLst/>
          </a:prstGeom>
        </p:spPr>
      </p:pic>
      <p:sp>
        <p:nvSpPr>
          <p:cNvPr id="9" name="Text 5"/>
          <p:cNvSpPr/>
          <p:nvPr/>
        </p:nvSpPr>
        <p:spPr>
          <a:xfrm>
            <a:off x="5532120" y="1280160"/>
            <a:ext cx="2926080" cy="365760"/>
          </a:xfrm>
          <a:prstGeom prst="rect">
            <a:avLst/>
          </a:prstGeom>
          <a:noFill/>
          <a:ln/>
        </p:spPr>
        <p:txBody>
          <a:bodyPr wrap="square" lIns="0" tIns="0" rIns="0" bIns="0" rtlCol="0" anchor="ctr"/>
          <a:lstStyle/>
          <a:p>
            <a:pPr indent="0" marL="0">
              <a:buNone/>
            </a:pPr>
            <a:r>
              <a:rPr lang="en-US" sz="1800" b="1" dirty="0">
                <a:solidFill>
                  <a:srgbClr val="06B6D4"/>
                </a:solidFill>
                <a:latin typeface="Calibri" pitchFamily="34" charset="0"/>
                <a:ea typeface="Calibri" pitchFamily="34" charset="-122"/>
                <a:cs typeface="Calibri" pitchFamily="34" charset="-120"/>
              </a:rPr>
              <a:t>As an admin</a:t>
            </a:r>
            <a:endParaRPr lang="en-US" sz="1800" dirty="0"/>
          </a:p>
        </p:txBody>
      </p:sp>
      <p:sp>
        <p:nvSpPr>
          <p:cNvPr id="10" name="Text 6"/>
          <p:cNvSpPr/>
          <p:nvPr/>
        </p:nvSpPr>
        <p:spPr>
          <a:xfrm>
            <a:off x="5029200" y="1828800"/>
            <a:ext cx="3474720" cy="23774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300" dirty="0">
                <a:solidFill>
                  <a:srgbClr val="F8FAFC"/>
                </a:solidFill>
                <a:latin typeface="Calibri" pitchFamily="34" charset="0"/>
                <a:ea typeface="Calibri" pitchFamily="34" charset="-122"/>
                <a:cs typeface="Calibri" pitchFamily="34" charset="-120"/>
              </a:rPr>
              <a:t>Register upstream MCP servers</a:t>
            </a:r>
            <a:endParaRPr lang="en-US" sz="1300" dirty="0"/>
          </a:p>
          <a:p>
            <a:pPr marL="342900" indent="-342900">
              <a:spcAft>
                <a:spcPts val="800"/>
              </a:spcAft>
              <a:buSzPct val="100000"/>
              <a:buFont typeface="+mj-lt"/>
              <a:buAutoNum type="arabicPeriod" startAt="1"/>
            </a:pPr>
            <a:r>
              <a:rPr lang="en-US" sz="1300" dirty="0">
                <a:solidFill>
                  <a:srgbClr val="F8FAFC"/>
                </a:solidFill>
                <a:latin typeface="Calibri" pitchFamily="34" charset="0"/>
                <a:ea typeface="Calibri" pitchFamily="34" charset="-122"/>
                <a:cs typeface="Calibri" pitchFamily="34" charset="-120"/>
              </a:rPr>
              <a:t>Write + publish skill playbooks</a:t>
            </a:r>
            <a:endParaRPr lang="en-US" sz="1300" dirty="0"/>
          </a:p>
          <a:p>
            <a:pPr marL="342900" indent="-342900">
              <a:spcAft>
                <a:spcPts val="800"/>
              </a:spcAft>
              <a:buSzPct val="100000"/>
              <a:buFont typeface="+mj-lt"/>
              <a:buAutoNum type="arabicPeriod" startAt="1"/>
            </a:pPr>
            <a:r>
              <a:rPr lang="en-US" sz="1300" dirty="0">
                <a:solidFill>
                  <a:srgbClr val="F8FAFC"/>
                </a:solidFill>
                <a:latin typeface="Calibri" pitchFamily="34" charset="0"/>
                <a:ea typeface="Calibri" pitchFamily="34" charset="-122"/>
                <a:cs typeface="Calibri" pitchFamily="34" charset="-120"/>
              </a:rPr>
              <a:t>Connect git repos for doc sync</a:t>
            </a:r>
            <a:endParaRPr lang="en-US" sz="1300" dirty="0"/>
          </a:p>
          <a:p>
            <a:pPr marL="342900" indent="-342900">
              <a:spcAft>
                <a:spcPts val="800"/>
              </a:spcAft>
              <a:buSzPct val="100000"/>
              <a:buFont typeface="+mj-lt"/>
              <a:buAutoNum type="arabicPeriod" startAt="1"/>
            </a:pPr>
            <a:r>
              <a:rPr lang="en-US" sz="1300" dirty="0">
                <a:solidFill>
                  <a:srgbClr val="F8FAFC"/>
                </a:solidFill>
                <a:latin typeface="Calibri" pitchFamily="34" charset="0"/>
                <a:ea typeface="Calibri" pitchFamily="34" charset="-122"/>
                <a:cs typeface="Calibri" pitchFamily="34" charset="-120"/>
              </a:rPr>
              <a:t>Set visibility rules</a:t>
            </a:r>
            <a:endParaRPr lang="en-US" sz="1300" dirty="0"/>
          </a:p>
          <a:p>
            <a:pPr marL="342900" indent="-342900">
              <a:spcAft>
                <a:spcPts val="800"/>
              </a:spcAft>
              <a:buSzPct val="100000"/>
              <a:buFont typeface="+mj-lt"/>
              <a:buAutoNum type="arabicPeriod" startAt="1"/>
            </a:pPr>
            <a:r>
              <a:rPr lang="en-US" sz="1300" dirty="0">
                <a:solidFill>
                  <a:srgbClr val="F8FAFC"/>
                </a:solidFill>
                <a:latin typeface="Calibri" pitchFamily="34" charset="0"/>
                <a:ea typeface="Calibri" pitchFamily="34" charset="-122"/>
                <a:cs typeface="Calibri" pitchFamily="34" charset="-120"/>
              </a:rPr>
              <a:t>Monitor usage dashboard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931920" y="1188720"/>
            <a:ext cx="1280160" cy="1280160"/>
          </a:xfrm>
          <a:prstGeom prst="rect">
            <a:avLst/>
          </a:prstGeom>
        </p:spPr>
      </p:pic>
      <p:sp>
        <p:nvSpPr>
          <p:cNvPr id="3" name="Text 0"/>
          <p:cNvSpPr/>
          <p:nvPr/>
        </p:nvSpPr>
        <p:spPr>
          <a:xfrm>
            <a:off x="731520" y="2743200"/>
            <a:ext cx="7680960" cy="731520"/>
          </a:xfrm>
          <a:prstGeom prst="rect">
            <a:avLst/>
          </a:prstGeom>
          <a:noFill/>
          <a:ln/>
        </p:spPr>
        <p:txBody>
          <a:bodyPr wrap="square" lIns="0" tIns="0" rIns="0" bIns="0" rtlCol="0" anchor="ctr"/>
          <a:lstStyle/>
          <a:p>
            <a:pPr algn="ctr" indent="0" marL="0">
              <a:buNone/>
            </a:pPr>
            <a:r>
              <a:rPr lang="en-US" sz="4400" b="1" dirty="0">
                <a:solidFill>
                  <a:srgbClr val="F8FAFC"/>
                </a:solidFill>
                <a:latin typeface="Calibri" pitchFamily="34" charset="0"/>
                <a:ea typeface="Calibri" pitchFamily="34" charset="-122"/>
                <a:cs typeface="Calibri" pitchFamily="34" charset="-120"/>
              </a:rPr>
              <a:t>Questions?</a:t>
            </a:r>
            <a:endParaRPr lang="en-US" sz="4400" dirty="0"/>
          </a:p>
        </p:txBody>
      </p:sp>
      <p:sp>
        <p:nvSpPr>
          <p:cNvPr id="4" name="Text 1"/>
          <p:cNvSpPr/>
          <p:nvPr/>
        </p:nvSpPr>
        <p:spPr>
          <a:xfrm>
            <a:off x="731520" y="3566160"/>
            <a:ext cx="7680960" cy="457200"/>
          </a:xfrm>
          <a:prstGeom prst="rect">
            <a:avLst/>
          </a:prstGeom>
          <a:noFill/>
          <a:ln/>
        </p:spPr>
        <p:txBody>
          <a:bodyPr wrap="square" lIns="0" tIns="0" rIns="0" bIns="0" rtlCol="0" anchor="ctr"/>
          <a:lstStyle/>
          <a:p>
            <a:pPr algn="ctr" indent="0" marL="0">
              <a:buNone/>
            </a:pPr>
            <a:r>
              <a:rPr lang="en-US" sz="1800" dirty="0">
                <a:solidFill>
                  <a:srgbClr val="F97316"/>
                </a:solidFill>
                <a:latin typeface="Calibri" pitchFamily="34" charset="0"/>
                <a:ea typeface="Calibri" pitchFamily="34" charset="-122"/>
                <a:cs typeface="Calibri" pitchFamily="34" charset="-120"/>
              </a:rPr>
              <a:t>yukitools.dev</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ctxlayer — Workshop</dc:title>
  <dc:subject>PptxGenJS Presentation</dc:subject>
  <dc:creator>Steven Noels</dc:creator>
  <cp:lastModifiedBy>Steven Noels</cp:lastModifiedBy>
  <cp:revision>1</cp:revision>
  <dcterms:created xsi:type="dcterms:W3CDTF">2026-06-29T12:36:35Z</dcterms:created>
  <dcterms:modified xsi:type="dcterms:W3CDTF">2026-06-29T12:36:35Z</dcterms:modified>
</cp:coreProperties>
</file>